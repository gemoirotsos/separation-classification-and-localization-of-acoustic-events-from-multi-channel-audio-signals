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73" r:id="rId3"/>
    <p:sldId id="259" r:id="rId4"/>
    <p:sldId id="274" r:id="rId5"/>
    <p:sldId id="258" r:id="rId6"/>
    <p:sldId id="275" r:id="rId7"/>
    <p:sldId id="276" r:id="rId8"/>
    <p:sldId id="277" r:id="rId9"/>
    <p:sldId id="283" r:id="rId10"/>
    <p:sldId id="284" r:id="rId11"/>
    <p:sldId id="282" r:id="rId12"/>
    <p:sldId id="281" r:id="rId13"/>
    <p:sldId id="279" r:id="rId14"/>
    <p:sldId id="272" r:id="rId15"/>
    <p:sldId id="285" r:id="rId16"/>
    <p:sldId id="286" r:id="rId17"/>
    <p:sldId id="280" r:id="rId18"/>
    <p:sldId id="291" r:id="rId19"/>
    <p:sldId id="289" r:id="rId20"/>
    <p:sldId id="288" r:id="rId21"/>
  </p:sldIdLst>
  <p:sldSz cx="12192000" cy="6858000"/>
  <p:notesSz cx="6858000" cy="9144000"/>
  <p:defaultText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330F90-A968-4B56-BC52-BEB7B0104259}" v="787" dt="2026-09-23T19:37:34.84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6" d="100"/>
          <a:sy n="106" d="100"/>
        </p:scale>
        <p:origin x="79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IROTSOS GEORGIOS" userId="48cdc77d-c954-411c-b9c2-f15b3da222ea" providerId="ADAL" clId="{72B84225-57BE-472B-982F-BC45E45EE9DB}"/>
    <pc:docChg chg="addSld modSld sldOrd">
      <pc:chgData name="MOIROTSOS GEORGIOS" userId="48cdc77d-c954-411c-b9c2-f15b3da222ea" providerId="ADAL" clId="{72B84225-57BE-472B-982F-BC45E45EE9DB}" dt="2026-09-23T19:37:34.838" v="762"/>
      <pc:docMkLst>
        <pc:docMk/>
      </pc:docMkLst>
      <pc:sldChg chg="modSp add ord">
        <pc:chgData name="MOIROTSOS GEORGIOS" userId="48cdc77d-c954-411c-b9c2-f15b3da222ea" providerId="ADAL" clId="{72B84225-57BE-472B-982F-BC45E45EE9DB}" dt="2026-09-23T10:04:48.749" v="2"/>
        <pc:sldMkLst>
          <pc:docMk/>
          <pc:sldMk cId="1452280315" sldId="257"/>
        </pc:sldMkLst>
        <pc:spChg chg="mod">
          <ac:chgData name="MOIROTSOS GEORGIOS" userId="48cdc77d-c954-411c-b9c2-f15b3da222ea" providerId="ADAL" clId="{72B84225-57BE-472B-982F-BC45E45EE9DB}" dt="2026-09-23T10:04:48.749" v="2"/>
          <ac:spMkLst>
            <pc:docMk/>
            <pc:sldMk cId="1452280315" sldId="257"/>
            <ac:spMk id="6" creationId="{178D26EE-AF29-473B-8AF3-D20B1F8C3C63}"/>
          </ac:spMkLst>
        </pc:spChg>
      </pc:sldChg>
      <pc:sldChg chg="addSp delSp modSp add ord">
        <pc:chgData name="MOIROTSOS GEORGIOS" userId="48cdc77d-c954-411c-b9c2-f15b3da222ea" providerId="ADAL" clId="{72B84225-57BE-472B-982F-BC45E45EE9DB}" dt="2026-09-23T16:23:01.162" v="753"/>
        <pc:sldMkLst>
          <pc:docMk/>
          <pc:sldMk cId="1406213463" sldId="258"/>
        </pc:sldMkLst>
        <pc:spChg chg="mod">
          <ac:chgData name="MOIROTSOS GEORGIOS" userId="48cdc77d-c954-411c-b9c2-f15b3da222ea" providerId="ADAL" clId="{72B84225-57BE-472B-982F-BC45E45EE9DB}" dt="2026-09-23T16:23:01.162" v="753"/>
          <ac:spMkLst>
            <pc:docMk/>
            <pc:sldMk cId="1406213463" sldId="258"/>
            <ac:spMk id="7" creationId="{FF788F03-9B22-5BAE-622C-D9436A94AD6D}"/>
          </ac:spMkLst>
        </pc:spChg>
        <pc:spChg chg="del">
          <ac:chgData name="MOIROTSOS GEORGIOS" userId="48cdc77d-c954-411c-b9c2-f15b3da222ea" providerId="ADAL" clId="{72B84225-57BE-472B-982F-BC45E45EE9DB}" dt="2026-09-23T16:22:35.645" v="752"/>
          <ac:spMkLst>
            <pc:docMk/>
            <pc:sldMk cId="1406213463" sldId="258"/>
            <ac:spMk id="17" creationId="{43869EC1-5F97-770C-16C6-F061EFCBF6AF}"/>
          </ac:spMkLst>
        </pc:spChg>
        <pc:spChg chg="del">
          <ac:chgData name="MOIROTSOS GEORGIOS" userId="48cdc77d-c954-411c-b9c2-f15b3da222ea" providerId="ADAL" clId="{72B84225-57BE-472B-982F-BC45E45EE9DB}" dt="2026-09-23T14:03:03.806" v="348"/>
          <ac:spMkLst>
            <pc:docMk/>
            <pc:sldMk cId="1406213463" sldId="258"/>
            <ac:spMk id="18" creationId="{F5980FD2-831D-E08D-B264-319419BF60B5}"/>
          </ac:spMkLst>
        </pc:spChg>
        <pc:spChg chg="del">
          <ac:chgData name="MOIROTSOS GEORGIOS" userId="48cdc77d-c954-411c-b9c2-f15b3da222ea" providerId="ADAL" clId="{72B84225-57BE-472B-982F-BC45E45EE9DB}" dt="2026-09-23T14:02:35.554" v="346"/>
          <ac:spMkLst>
            <pc:docMk/>
            <pc:sldMk cId="1406213463" sldId="258"/>
            <ac:spMk id="21" creationId="{51AC6D07-7253-BCD5-A6B2-8DC7EE73BE7F}"/>
          </ac:spMkLst>
        </pc:spChg>
        <pc:spChg chg="del">
          <ac:chgData name="MOIROTSOS GEORGIOS" userId="48cdc77d-c954-411c-b9c2-f15b3da222ea" providerId="ADAL" clId="{72B84225-57BE-472B-982F-BC45E45EE9DB}" dt="2026-09-23T14:03:03.804" v="347"/>
          <ac:spMkLst>
            <pc:docMk/>
            <pc:sldMk cId="1406213463" sldId="258"/>
            <ac:spMk id="23" creationId="{BA7B87AB-CDE4-E5D8-69AE-7BB6AE5899D9}"/>
          </ac:spMkLst>
        </pc:spChg>
        <pc:spChg chg="del">
          <ac:chgData name="MOIROTSOS GEORGIOS" userId="48cdc77d-c954-411c-b9c2-f15b3da222ea" providerId="ADAL" clId="{72B84225-57BE-472B-982F-BC45E45EE9DB}" dt="2026-09-23T14:03:03.807" v="349"/>
          <ac:spMkLst>
            <pc:docMk/>
            <pc:sldMk cId="1406213463" sldId="258"/>
            <ac:spMk id="26" creationId="{CD338F95-4E8D-D879-E299-5EF3A8F264F3}"/>
          </ac:spMkLst>
        </pc:spChg>
        <pc:spChg chg="mod">
          <ac:chgData name="MOIROTSOS GEORGIOS" userId="48cdc77d-c954-411c-b9c2-f15b3da222ea" providerId="ADAL" clId="{72B84225-57BE-472B-982F-BC45E45EE9DB}" dt="2026-09-23T16:21:26.674" v="751"/>
          <ac:spMkLst>
            <pc:docMk/>
            <pc:sldMk cId="1406213463" sldId="258"/>
            <ac:spMk id="28" creationId="{B1FA5454-4EFA-0F97-1CFC-41E5B030E332}"/>
          </ac:spMkLst>
        </pc:spChg>
        <pc:spChg chg="del">
          <ac:chgData name="MOIROTSOS GEORGIOS" userId="48cdc77d-c954-411c-b9c2-f15b3da222ea" providerId="ADAL" clId="{72B84225-57BE-472B-982F-BC45E45EE9DB}" dt="2026-09-23T14:02:35.554" v="345"/>
          <ac:spMkLst>
            <pc:docMk/>
            <pc:sldMk cId="1406213463" sldId="258"/>
            <ac:spMk id="29" creationId="{676F3071-539F-A5F1-3011-EA70E122CEFF}"/>
          </ac:spMkLst>
        </pc:spChg>
        <pc:cxnChg chg="add mod">
          <ac:chgData name="MOIROTSOS GEORGIOS" userId="48cdc77d-c954-411c-b9c2-f15b3da222ea" providerId="ADAL" clId="{72B84225-57BE-472B-982F-BC45E45EE9DB}" dt="2026-09-23T14:00:21.477" v="344"/>
          <ac:cxnSpMkLst>
            <pc:docMk/>
            <pc:sldMk cId="1406213463" sldId="258"/>
            <ac:cxnSpMk id="2" creationId="{49A13BF9-C065-7E1C-267C-E54DA324B946}"/>
          </ac:cxnSpMkLst>
        </pc:cxnChg>
      </pc:sldChg>
      <pc:sldChg chg="addSp delSp modSp add ord">
        <pc:chgData name="MOIROTSOS GEORGIOS" userId="48cdc77d-c954-411c-b9c2-f15b3da222ea" providerId="ADAL" clId="{72B84225-57BE-472B-982F-BC45E45EE9DB}" dt="2026-09-23T13:53:48.862" v="340"/>
        <pc:sldMkLst>
          <pc:docMk/>
          <pc:sldMk cId="382021522" sldId="259"/>
        </pc:sldMkLst>
        <pc:spChg chg="add del mod">
          <ac:chgData name="MOIROTSOS GEORGIOS" userId="48cdc77d-c954-411c-b9c2-f15b3da222ea" providerId="ADAL" clId="{72B84225-57BE-472B-982F-BC45E45EE9DB}" dt="2026-09-23T10:09:33.850" v="7"/>
          <ac:spMkLst>
            <pc:docMk/>
            <pc:sldMk cId="382021522" sldId="259"/>
            <ac:spMk id="3" creationId="{CC9D8E64-537E-01C3-2C67-D9703A7E47CD}"/>
          </ac:spMkLst>
        </pc:spChg>
        <pc:spChg chg="mod">
          <ac:chgData name="MOIROTSOS GEORGIOS" userId="48cdc77d-c954-411c-b9c2-f15b3da222ea" providerId="ADAL" clId="{72B84225-57BE-472B-982F-BC45E45EE9DB}" dt="2026-09-23T13:53:48.862" v="340"/>
          <ac:spMkLst>
            <pc:docMk/>
            <pc:sldMk cId="382021522" sldId="259"/>
            <ac:spMk id="11" creationId="{42F8807C-C0FE-DDB3-533B-F711AA5F5402}"/>
          </ac:spMkLst>
        </pc:spChg>
        <pc:cxnChg chg="add mod">
          <ac:chgData name="MOIROTSOS GEORGIOS" userId="48cdc77d-c954-411c-b9c2-f15b3da222ea" providerId="ADAL" clId="{72B84225-57BE-472B-982F-BC45E45EE9DB}" dt="2026-09-23T10:09:02.257" v="5"/>
          <ac:cxnSpMkLst>
            <pc:docMk/>
            <pc:sldMk cId="382021522" sldId="259"/>
            <ac:cxnSpMk id="2" creationId="{E16BC3FD-9633-60CF-A128-B553A8ED44BF}"/>
          </ac:cxnSpMkLst>
        </pc:cxnChg>
      </pc:sldChg>
      <pc:sldChg chg="addSp delSp modSp add ord">
        <pc:chgData name="MOIROTSOS GEORGIOS" userId="48cdc77d-c954-411c-b9c2-f15b3da222ea" providerId="ADAL" clId="{72B84225-57BE-472B-982F-BC45E45EE9DB}" dt="2026-09-23T10:47:51.059" v="325" actId="20577"/>
        <pc:sldMkLst>
          <pc:docMk/>
          <pc:sldMk cId="4271318659" sldId="272"/>
        </pc:sldMkLst>
        <pc:spChg chg="del">
          <ac:chgData name="MOIROTSOS GEORGIOS" userId="48cdc77d-c954-411c-b9c2-f15b3da222ea" providerId="ADAL" clId="{72B84225-57BE-472B-982F-BC45E45EE9DB}" dt="2026-09-23T10:19:53.683" v="14"/>
          <ac:spMkLst>
            <pc:docMk/>
            <pc:sldMk cId="4271318659" sldId="272"/>
            <ac:spMk id="4" creationId="{070F62BC-A375-FA92-123B-98CD00FD17F2}"/>
          </ac:spMkLst>
        </pc:spChg>
        <pc:spChg chg="del">
          <ac:chgData name="MOIROTSOS GEORGIOS" userId="48cdc77d-c954-411c-b9c2-f15b3da222ea" providerId="ADAL" clId="{72B84225-57BE-472B-982F-BC45E45EE9DB}" dt="2026-09-23T10:18:06.988" v="13"/>
          <ac:spMkLst>
            <pc:docMk/>
            <pc:sldMk cId="4271318659" sldId="272"/>
            <ac:spMk id="6" creationId="{3C496CE0-DDA9-DAA6-F2E4-6C40CB968383}"/>
          </ac:spMkLst>
        </pc:spChg>
        <pc:spChg chg="mod">
          <ac:chgData name="MOIROTSOS GEORGIOS" userId="48cdc77d-c954-411c-b9c2-f15b3da222ea" providerId="ADAL" clId="{72B84225-57BE-472B-982F-BC45E45EE9DB}" dt="2026-09-23T10:17:06.610" v="12"/>
          <ac:spMkLst>
            <pc:docMk/>
            <pc:sldMk cId="4271318659" sldId="272"/>
            <ac:spMk id="11" creationId="{E67AB5D6-39BC-BFE0-EC7C-8C7A88EEE29C}"/>
          </ac:spMkLst>
        </pc:spChg>
        <pc:spChg chg="mod">
          <ac:chgData name="MOIROTSOS GEORGIOS" userId="48cdc77d-c954-411c-b9c2-f15b3da222ea" providerId="ADAL" clId="{72B84225-57BE-472B-982F-BC45E45EE9DB}" dt="2026-09-23T10:22:09.886" v="32" actId="20577"/>
          <ac:spMkLst>
            <pc:docMk/>
            <pc:sldMk cId="4271318659" sldId="272"/>
            <ac:spMk id="16" creationId="{721551C9-25FB-BC0B-650E-576505F7141E}"/>
          </ac:spMkLst>
        </pc:spChg>
        <pc:spChg chg="mod">
          <ac:chgData name="MOIROTSOS GEORGIOS" userId="48cdc77d-c954-411c-b9c2-f15b3da222ea" providerId="ADAL" clId="{72B84225-57BE-472B-982F-BC45E45EE9DB}" dt="2026-09-23T10:47:51.059" v="325" actId="20577"/>
          <ac:spMkLst>
            <pc:docMk/>
            <pc:sldMk cId="4271318659" sldId="272"/>
            <ac:spMk id="24" creationId="{1920BA14-80D0-7EB7-4238-433EA8641649}"/>
          </ac:spMkLst>
        </pc:spChg>
        <pc:spChg chg="add mod">
          <ac:chgData name="MOIROTSOS GEORGIOS" userId="48cdc77d-c954-411c-b9c2-f15b3da222ea" providerId="ADAL" clId="{72B84225-57BE-472B-982F-BC45E45EE9DB}" dt="2026-09-23T10:27:28.837" v="34"/>
          <ac:spMkLst>
            <pc:docMk/>
            <pc:sldMk cId="4271318659" sldId="272"/>
            <ac:spMk id="25" creationId="{8ED32E9E-E7E0-F841-763D-789BB4A7C6C5}"/>
          </ac:spMkLst>
        </pc:spChg>
        <pc:spChg chg="add mod">
          <ac:chgData name="MOIROTSOS GEORGIOS" userId="48cdc77d-c954-411c-b9c2-f15b3da222ea" providerId="ADAL" clId="{72B84225-57BE-472B-982F-BC45E45EE9DB}" dt="2026-09-23T10:46:15.425" v="282" actId="767"/>
          <ac:spMkLst>
            <pc:docMk/>
            <pc:sldMk cId="4271318659" sldId="272"/>
            <ac:spMk id="30" creationId="{55274F9B-194F-5489-50A6-DA98DD81896E}"/>
          </ac:spMkLst>
        </pc:spChg>
        <pc:spChg chg="add mod">
          <ac:chgData name="MOIROTSOS GEORGIOS" userId="48cdc77d-c954-411c-b9c2-f15b3da222ea" providerId="ADAL" clId="{72B84225-57BE-472B-982F-BC45E45EE9DB}" dt="2026-09-23T10:47:14.325" v="312"/>
          <ac:spMkLst>
            <pc:docMk/>
            <pc:sldMk cId="4271318659" sldId="272"/>
            <ac:spMk id="31" creationId="{7FD5A39D-DC84-6D59-B46A-A7026AB5236D}"/>
          </ac:spMkLst>
        </pc:spChg>
        <pc:spChg chg="add mod">
          <ac:chgData name="MOIROTSOS GEORGIOS" userId="48cdc77d-c954-411c-b9c2-f15b3da222ea" providerId="ADAL" clId="{72B84225-57BE-472B-982F-BC45E45EE9DB}" dt="2026-09-23T10:47:13.903" v="311" actId="767"/>
          <ac:spMkLst>
            <pc:docMk/>
            <pc:sldMk cId="4271318659" sldId="272"/>
            <ac:spMk id="32" creationId="{D31E88B9-4088-B496-FBB9-579B4FBEED41}"/>
          </ac:spMkLst>
        </pc:spChg>
        <pc:cxnChg chg="add mod">
          <ac:chgData name="MOIROTSOS GEORGIOS" userId="48cdc77d-c954-411c-b9c2-f15b3da222ea" providerId="ADAL" clId="{72B84225-57BE-472B-982F-BC45E45EE9DB}" dt="2026-09-23T10:16:25.903" v="10"/>
          <ac:cxnSpMkLst>
            <pc:docMk/>
            <pc:sldMk cId="4271318659" sldId="272"/>
            <ac:cxnSpMk id="2" creationId="{B5B66112-E9EF-A7E6-26B4-D0E493446FC3}"/>
          </ac:cxnSpMkLst>
        </pc:cxnChg>
      </pc:sldChg>
      <pc:sldChg chg="addSp delSp modSp add ord">
        <pc:chgData name="MOIROTSOS GEORGIOS" userId="48cdc77d-c954-411c-b9c2-f15b3da222ea" providerId="ADAL" clId="{72B84225-57BE-472B-982F-BC45E45EE9DB}" dt="2026-09-23T12:03:11.528" v="338"/>
        <pc:sldMkLst>
          <pc:docMk/>
          <pc:sldMk cId="2859865096" sldId="273"/>
        </pc:sldMkLst>
        <pc:spChg chg="mod">
          <ac:chgData name="MOIROTSOS GEORGIOS" userId="48cdc77d-c954-411c-b9c2-f15b3da222ea" providerId="ADAL" clId="{72B84225-57BE-472B-982F-BC45E45EE9DB}" dt="2026-09-23T11:25:55.626" v="329"/>
          <ac:spMkLst>
            <pc:docMk/>
            <pc:sldMk cId="2859865096" sldId="273"/>
            <ac:spMk id="10" creationId="{5E12B06C-6B67-3282-C340-163CA82C96A0}"/>
          </ac:spMkLst>
        </pc:spChg>
        <pc:spChg chg="mod">
          <ac:chgData name="MOIROTSOS GEORGIOS" userId="48cdc77d-c954-411c-b9c2-f15b3da222ea" providerId="ADAL" clId="{72B84225-57BE-472B-982F-BC45E45EE9DB}" dt="2026-09-23T12:03:11.528" v="338"/>
          <ac:spMkLst>
            <pc:docMk/>
            <pc:sldMk cId="2859865096" sldId="273"/>
            <ac:spMk id="11" creationId="{077F2A65-008D-5F86-2F02-2A5CEDE1DEB5}"/>
          </ac:spMkLst>
        </pc:spChg>
        <pc:spChg chg="del">
          <ac:chgData name="MOIROTSOS GEORGIOS" userId="48cdc77d-c954-411c-b9c2-f15b3da222ea" providerId="ADAL" clId="{72B84225-57BE-472B-982F-BC45E45EE9DB}" dt="2026-09-23T11:53:13.746" v="337"/>
          <ac:spMkLst>
            <pc:docMk/>
            <pc:sldMk cId="2859865096" sldId="273"/>
            <ac:spMk id="12" creationId="{71C15C0B-E873-9CBB-056F-19731C06982B}"/>
          </ac:spMkLst>
        </pc:spChg>
        <pc:spChg chg="del">
          <ac:chgData name="MOIROTSOS GEORGIOS" userId="48cdc77d-c954-411c-b9c2-f15b3da222ea" providerId="ADAL" clId="{72B84225-57BE-472B-982F-BC45E45EE9DB}" dt="2026-09-23T11:53:13.744" v="335"/>
          <ac:spMkLst>
            <pc:docMk/>
            <pc:sldMk cId="2859865096" sldId="273"/>
            <ac:spMk id="13" creationId="{725AFE12-B176-98F8-EC30-A5FF3BF40BFC}"/>
          </ac:spMkLst>
        </pc:spChg>
        <pc:spChg chg="mod">
          <ac:chgData name="MOIROTSOS GEORGIOS" userId="48cdc77d-c954-411c-b9c2-f15b3da222ea" providerId="ADAL" clId="{72B84225-57BE-472B-982F-BC45E45EE9DB}" dt="2026-09-23T11:47:19.419" v="334"/>
          <ac:spMkLst>
            <pc:docMk/>
            <pc:sldMk cId="2859865096" sldId="273"/>
            <ac:spMk id="14" creationId="{B5DFD49E-0136-C1D2-8CEC-FDFAF5770B56}"/>
          </ac:spMkLst>
        </pc:spChg>
        <pc:spChg chg="del">
          <ac:chgData name="MOIROTSOS GEORGIOS" userId="48cdc77d-c954-411c-b9c2-f15b3da222ea" providerId="ADAL" clId="{72B84225-57BE-472B-982F-BC45E45EE9DB}" dt="2026-09-23T11:53:13.745" v="336"/>
          <ac:spMkLst>
            <pc:docMk/>
            <pc:sldMk cId="2859865096" sldId="273"/>
            <ac:spMk id="17" creationId="{4E082712-F41D-9DE7-AB34-D9E9B59A89A3}"/>
          </ac:spMkLst>
        </pc:spChg>
        <pc:spChg chg="del">
          <ac:chgData name="MOIROTSOS GEORGIOS" userId="48cdc77d-c954-411c-b9c2-f15b3da222ea" providerId="ADAL" clId="{72B84225-57BE-472B-982F-BC45E45EE9DB}" dt="2026-09-23T11:44:31.567" v="332"/>
          <ac:spMkLst>
            <pc:docMk/>
            <pc:sldMk cId="2859865096" sldId="273"/>
            <ac:spMk id="23" creationId="{C76A5F8E-9B1A-4700-A6DF-5B88C4526F1F}"/>
          </ac:spMkLst>
        </pc:spChg>
        <pc:spChg chg="del">
          <ac:chgData name="MOIROTSOS GEORGIOS" userId="48cdc77d-c954-411c-b9c2-f15b3da222ea" providerId="ADAL" clId="{72B84225-57BE-472B-982F-BC45E45EE9DB}" dt="2026-09-23T11:44:31.567" v="331"/>
          <ac:spMkLst>
            <pc:docMk/>
            <pc:sldMk cId="2859865096" sldId="273"/>
            <ac:spMk id="24" creationId="{5BA54801-6F25-E134-2F28-2DD30850E834}"/>
          </ac:spMkLst>
        </pc:spChg>
        <pc:cxnChg chg="add mod">
          <ac:chgData name="MOIROTSOS GEORGIOS" userId="48cdc77d-c954-411c-b9c2-f15b3da222ea" providerId="ADAL" clId="{72B84225-57BE-472B-982F-BC45E45EE9DB}" dt="2026-09-23T11:45:50.275" v="333"/>
          <ac:cxnSpMkLst>
            <pc:docMk/>
            <pc:sldMk cId="2859865096" sldId="273"/>
            <ac:cxnSpMk id="19" creationId="{AEFAADF8-ADCA-F38F-E5FE-608CCEFE6D76}"/>
          </ac:cxnSpMkLst>
        </pc:cxnChg>
      </pc:sldChg>
      <pc:sldChg chg="addSp modSp add ord">
        <pc:chgData name="MOIROTSOS GEORGIOS" userId="48cdc77d-c954-411c-b9c2-f15b3da222ea" providerId="ADAL" clId="{72B84225-57BE-472B-982F-BC45E45EE9DB}" dt="2026-09-23T15:42:17.577" v="750" actId="20577"/>
        <pc:sldMkLst>
          <pc:docMk/>
          <pc:sldMk cId="4039519469" sldId="274"/>
        </pc:sldMkLst>
        <pc:spChg chg="add mod">
          <ac:chgData name="MOIROTSOS GEORGIOS" userId="48cdc77d-c954-411c-b9c2-f15b3da222ea" providerId="ADAL" clId="{72B84225-57BE-472B-982F-BC45E45EE9DB}" dt="2026-09-23T15:30:39.418" v="465" actId="20577"/>
          <ac:spMkLst>
            <pc:docMk/>
            <pc:sldMk cId="4039519469" sldId="274"/>
            <ac:spMk id="2" creationId="{02B46971-C580-A5BE-8690-FF0F19ECA970}"/>
          </ac:spMkLst>
        </pc:spChg>
        <pc:spChg chg="add mod">
          <ac:chgData name="MOIROTSOS GEORGIOS" userId="48cdc77d-c954-411c-b9c2-f15b3da222ea" providerId="ADAL" clId="{72B84225-57BE-472B-982F-BC45E45EE9DB}" dt="2026-09-23T15:29:51.954" v="462" actId="20577"/>
          <ac:spMkLst>
            <pc:docMk/>
            <pc:sldMk cId="4039519469" sldId="274"/>
            <ac:spMk id="3" creationId="{D91D2AFD-734D-0166-5A49-B6F648ACD4EE}"/>
          </ac:spMkLst>
        </pc:spChg>
        <pc:spChg chg="mod">
          <ac:chgData name="MOIROTSOS GEORGIOS" userId="48cdc77d-c954-411c-b9c2-f15b3da222ea" providerId="ADAL" clId="{72B84225-57BE-472B-982F-BC45E45EE9DB}" dt="2026-09-23T15:42:17.577" v="750" actId="20577"/>
          <ac:spMkLst>
            <pc:docMk/>
            <pc:sldMk cId="4039519469" sldId="274"/>
            <ac:spMk id="5" creationId="{379143D7-3A17-8B9F-28DB-AFFFFCD1DAEB}"/>
          </ac:spMkLst>
        </pc:spChg>
        <pc:spChg chg="add mod">
          <ac:chgData name="MOIROTSOS GEORGIOS" userId="48cdc77d-c954-411c-b9c2-f15b3da222ea" providerId="ADAL" clId="{72B84225-57BE-472B-982F-BC45E45EE9DB}" dt="2026-09-23T15:38:21.609" v="744" actId="20577"/>
          <ac:spMkLst>
            <pc:docMk/>
            <pc:sldMk cId="4039519469" sldId="274"/>
            <ac:spMk id="7" creationId="{6F57E5E7-E57A-5290-4339-9A641393A002}"/>
          </ac:spMkLst>
        </pc:spChg>
        <pc:spChg chg="mod">
          <ac:chgData name="MOIROTSOS GEORGIOS" userId="48cdc77d-c954-411c-b9c2-f15b3da222ea" providerId="ADAL" clId="{72B84225-57BE-472B-982F-BC45E45EE9DB}" dt="2026-09-23T15:20:58.729" v="359"/>
          <ac:spMkLst>
            <pc:docMk/>
            <pc:sldMk cId="4039519469" sldId="274"/>
            <ac:spMk id="11" creationId="{93C3545E-9EEF-FE3F-A3F4-F5EFA5E9819F}"/>
          </ac:spMkLst>
        </pc:spChg>
      </pc:sldChg>
      <pc:sldChg chg="addSp modSp add ord">
        <pc:chgData name="MOIROTSOS GEORGIOS" userId="48cdc77d-c954-411c-b9c2-f15b3da222ea" providerId="ADAL" clId="{72B84225-57BE-472B-982F-BC45E45EE9DB}" dt="2026-09-23T19:37:34.838" v="762"/>
        <pc:sldMkLst>
          <pc:docMk/>
          <pc:sldMk cId="2200954799" sldId="275"/>
        </pc:sldMkLst>
        <pc:spChg chg="add mod">
          <ac:chgData name="MOIROTSOS GEORGIOS" userId="48cdc77d-c954-411c-b9c2-f15b3da222ea" providerId="ADAL" clId="{72B84225-57BE-472B-982F-BC45E45EE9DB}" dt="2026-09-23T19:27:40.105" v="757"/>
          <ac:spMkLst>
            <pc:docMk/>
            <pc:sldMk cId="2200954799" sldId="275"/>
            <ac:spMk id="2" creationId="{C0699190-B4E2-6B5D-1A7D-23F115FA874E}"/>
          </ac:spMkLst>
        </pc:spChg>
        <pc:spChg chg="mod">
          <ac:chgData name="MOIROTSOS GEORGIOS" userId="48cdc77d-c954-411c-b9c2-f15b3da222ea" providerId="ADAL" clId="{72B84225-57BE-472B-982F-BC45E45EE9DB}" dt="2026-09-23T19:37:34.838" v="762"/>
          <ac:spMkLst>
            <pc:docMk/>
            <pc:sldMk cId="2200954799" sldId="275"/>
            <ac:spMk id="6" creationId="{4C6967E9-DB13-D22E-A0F4-BAAB15D762D2}"/>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Διαφάνεια τίτλου">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1240595B-3C92-2BFE-29A5-720D4C9CB8BD}"/>
              </a:ext>
            </a:extLst>
          </p:cNvPr>
          <p:cNvSpPr>
            <a:spLocks noGrp="1"/>
          </p:cNvSpPr>
          <p:nvPr>
            <p:ph type="ctrTitle"/>
          </p:nvPr>
        </p:nvSpPr>
        <p:spPr>
          <a:xfrm>
            <a:off x="1524000" y="1122363"/>
            <a:ext cx="9144000" cy="2387600"/>
          </a:xfrm>
        </p:spPr>
        <p:txBody>
          <a:bodyPr anchor="b"/>
          <a:lstStyle>
            <a:lvl1pPr algn="ctr">
              <a:defRPr sz="6000"/>
            </a:lvl1pPr>
          </a:lstStyle>
          <a:p>
            <a:r>
              <a:rPr lang="el-GR"/>
              <a:t>Κάντε κλικ για να επεξεργαστείτε τον τίτλο υποδείγματος</a:t>
            </a:r>
          </a:p>
        </p:txBody>
      </p:sp>
      <p:sp>
        <p:nvSpPr>
          <p:cNvPr id="3" name="Υπότιτλος 2">
            <a:extLst>
              <a:ext uri="{FF2B5EF4-FFF2-40B4-BE49-F238E27FC236}">
                <a16:creationId xmlns:a16="http://schemas.microsoft.com/office/drawing/2014/main" id="{6FEB8A77-6760-EDB7-6481-3FD6D78D6D1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l-GR"/>
              <a:t>Κάντε κλικ για να επεξεργαστείτε τον υπότιτλο του υποδείγματος</a:t>
            </a:r>
          </a:p>
        </p:txBody>
      </p:sp>
      <p:sp>
        <p:nvSpPr>
          <p:cNvPr id="4" name="Θέση ημερομηνίας 3">
            <a:extLst>
              <a:ext uri="{FF2B5EF4-FFF2-40B4-BE49-F238E27FC236}">
                <a16:creationId xmlns:a16="http://schemas.microsoft.com/office/drawing/2014/main" id="{176C3961-0F1D-F8E6-DF06-615E251996BE}"/>
              </a:ext>
            </a:extLst>
          </p:cNvPr>
          <p:cNvSpPr>
            <a:spLocks noGrp="1"/>
          </p:cNvSpPr>
          <p:nvPr>
            <p:ph type="dt" sz="half" idx="10"/>
          </p:nvPr>
        </p:nvSpPr>
        <p:spPr/>
        <p:txBody>
          <a:bodyPr/>
          <a:lstStyle/>
          <a:p>
            <a:fld id="{AAAD10FB-434E-4F5B-AB4C-EE4E8030C338}" type="datetimeFigureOut">
              <a:rPr lang="el-GR" smtClean="0"/>
              <a:t>24/9/2026</a:t>
            </a:fld>
            <a:endParaRPr lang="el-GR"/>
          </a:p>
        </p:txBody>
      </p:sp>
      <p:sp>
        <p:nvSpPr>
          <p:cNvPr id="5" name="Θέση υποσέλιδου 4">
            <a:extLst>
              <a:ext uri="{FF2B5EF4-FFF2-40B4-BE49-F238E27FC236}">
                <a16:creationId xmlns:a16="http://schemas.microsoft.com/office/drawing/2014/main" id="{78E884C0-C8D8-E706-2A84-4841F7652AA6}"/>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77EF41B5-F959-0242-9E78-3A89D4C5FF96}"/>
              </a:ext>
            </a:extLst>
          </p:cNvPr>
          <p:cNvSpPr>
            <a:spLocks noGrp="1"/>
          </p:cNvSpPr>
          <p:nvPr>
            <p:ph type="sldNum" sz="quarter" idx="12"/>
          </p:nvPr>
        </p:nvSpPr>
        <p:spPr/>
        <p:txBody>
          <a:bodyPr/>
          <a:lstStyle/>
          <a:p>
            <a:fld id="{E9B27509-6D19-464C-969F-2F24F308EC35}" type="slidenum">
              <a:rPr lang="el-GR" smtClean="0"/>
              <a:t>‹#›</a:t>
            </a:fld>
            <a:endParaRPr lang="el-GR"/>
          </a:p>
        </p:txBody>
      </p:sp>
    </p:spTree>
    <p:extLst>
      <p:ext uri="{BB962C8B-B14F-4D97-AF65-F5344CB8AC3E}">
        <p14:creationId xmlns:p14="http://schemas.microsoft.com/office/powerpoint/2010/main" val="14433353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Τίτλος και περιεχόμενο">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95BF33E1-9FFF-399F-0F91-2E4772DE8F6F}"/>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περιεχομένου 2">
            <a:extLst>
              <a:ext uri="{FF2B5EF4-FFF2-40B4-BE49-F238E27FC236}">
                <a16:creationId xmlns:a16="http://schemas.microsoft.com/office/drawing/2014/main" id="{B10840B4-0D03-8C42-FE44-2D7B3881ED0F}"/>
              </a:ext>
            </a:extLst>
          </p:cNvPr>
          <p:cNvSpPr>
            <a:spLocks noGrp="1"/>
          </p:cNvSpPr>
          <p:nvPr>
            <p:ph idx="1"/>
          </p:nvPr>
        </p:nvSpPr>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4" name="Θέση ημερομηνίας 3">
            <a:extLst>
              <a:ext uri="{FF2B5EF4-FFF2-40B4-BE49-F238E27FC236}">
                <a16:creationId xmlns:a16="http://schemas.microsoft.com/office/drawing/2014/main" id="{71F8A8B2-FBE3-001D-D133-396AD9C5412F}"/>
              </a:ext>
            </a:extLst>
          </p:cNvPr>
          <p:cNvSpPr>
            <a:spLocks noGrp="1"/>
          </p:cNvSpPr>
          <p:nvPr>
            <p:ph type="dt" sz="half" idx="10"/>
          </p:nvPr>
        </p:nvSpPr>
        <p:spPr/>
        <p:txBody>
          <a:bodyPr/>
          <a:lstStyle/>
          <a:p>
            <a:fld id="{AAAD10FB-434E-4F5B-AB4C-EE4E8030C338}" type="datetimeFigureOut">
              <a:rPr lang="el-GR" smtClean="0"/>
              <a:t>24/9/2026</a:t>
            </a:fld>
            <a:endParaRPr lang="el-GR"/>
          </a:p>
        </p:txBody>
      </p:sp>
      <p:sp>
        <p:nvSpPr>
          <p:cNvPr id="5" name="Θέση υποσέλιδου 4">
            <a:extLst>
              <a:ext uri="{FF2B5EF4-FFF2-40B4-BE49-F238E27FC236}">
                <a16:creationId xmlns:a16="http://schemas.microsoft.com/office/drawing/2014/main" id="{95304B40-8CC0-2555-8F67-EA3D74BFD2E9}"/>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94036D9F-AAE9-D7AD-F73D-F58C324578FA}"/>
              </a:ext>
            </a:extLst>
          </p:cNvPr>
          <p:cNvSpPr>
            <a:spLocks noGrp="1"/>
          </p:cNvSpPr>
          <p:nvPr>
            <p:ph type="sldNum" sz="quarter" idx="12"/>
          </p:nvPr>
        </p:nvSpPr>
        <p:spPr/>
        <p:txBody>
          <a:bodyPr/>
          <a:lstStyle/>
          <a:p>
            <a:fld id="{E9B27509-6D19-464C-969F-2F24F308EC35}" type="slidenum">
              <a:rPr lang="el-GR" smtClean="0"/>
              <a:t>‹#›</a:t>
            </a:fld>
            <a:endParaRPr lang="el-GR"/>
          </a:p>
        </p:txBody>
      </p:sp>
    </p:spTree>
    <p:extLst>
      <p:ext uri="{BB962C8B-B14F-4D97-AF65-F5344CB8AC3E}">
        <p14:creationId xmlns:p14="http://schemas.microsoft.com/office/powerpoint/2010/main" val="28493520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Κεφαλίδα ενότητας">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2837ABB2-C19D-1E40-64E3-76428556F308}"/>
              </a:ext>
            </a:extLst>
          </p:cNvPr>
          <p:cNvSpPr>
            <a:spLocks noGrp="1"/>
          </p:cNvSpPr>
          <p:nvPr>
            <p:ph type="title"/>
          </p:nvPr>
        </p:nvSpPr>
        <p:spPr>
          <a:xfrm>
            <a:off x="831850" y="1709738"/>
            <a:ext cx="10515600" cy="2852737"/>
          </a:xfrm>
        </p:spPr>
        <p:txBody>
          <a:bodyPr anchor="b"/>
          <a:lstStyle>
            <a:lvl1pPr>
              <a:defRPr sz="6000"/>
            </a:lvl1pPr>
          </a:lstStyle>
          <a:p>
            <a:r>
              <a:rPr lang="el-GR"/>
              <a:t>Κάντε κλικ για να επεξεργαστείτε τον τίτλο υποδείγματος</a:t>
            </a:r>
          </a:p>
        </p:txBody>
      </p:sp>
      <p:sp>
        <p:nvSpPr>
          <p:cNvPr id="3" name="Θέση κειμένου 2">
            <a:extLst>
              <a:ext uri="{FF2B5EF4-FFF2-40B4-BE49-F238E27FC236}">
                <a16:creationId xmlns:a16="http://schemas.microsoft.com/office/drawing/2014/main" id="{FB6AD312-3231-B6D6-8FA9-DE9684242F2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l-GR"/>
              <a:t>Στυλ κειμένου υποδείγματος</a:t>
            </a:r>
          </a:p>
        </p:txBody>
      </p:sp>
      <p:sp>
        <p:nvSpPr>
          <p:cNvPr id="4" name="Θέση ημερομηνίας 3">
            <a:extLst>
              <a:ext uri="{FF2B5EF4-FFF2-40B4-BE49-F238E27FC236}">
                <a16:creationId xmlns:a16="http://schemas.microsoft.com/office/drawing/2014/main" id="{7947FD23-EF2A-6D75-1E56-804D34072474}"/>
              </a:ext>
            </a:extLst>
          </p:cNvPr>
          <p:cNvSpPr>
            <a:spLocks noGrp="1"/>
          </p:cNvSpPr>
          <p:nvPr>
            <p:ph type="dt" sz="half" idx="10"/>
          </p:nvPr>
        </p:nvSpPr>
        <p:spPr/>
        <p:txBody>
          <a:bodyPr/>
          <a:lstStyle/>
          <a:p>
            <a:fld id="{AAAD10FB-434E-4F5B-AB4C-EE4E8030C338}" type="datetimeFigureOut">
              <a:rPr lang="el-GR" smtClean="0"/>
              <a:t>24/9/2026</a:t>
            </a:fld>
            <a:endParaRPr lang="el-GR"/>
          </a:p>
        </p:txBody>
      </p:sp>
      <p:sp>
        <p:nvSpPr>
          <p:cNvPr id="5" name="Θέση υποσέλιδου 4">
            <a:extLst>
              <a:ext uri="{FF2B5EF4-FFF2-40B4-BE49-F238E27FC236}">
                <a16:creationId xmlns:a16="http://schemas.microsoft.com/office/drawing/2014/main" id="{955BFDA3-D0DC-AC39-7082-56112F2953B1}"/>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4B2AAD16-D9C4-B370-19C8-66A26ED3CF8A}"/>
              </a:ext>
            </a:extLst>
          </p:cNvPr>
          <p:cNvSpPr>
            <a:spLocks noGrp="1"/>
          </p:cNvSpPr>
          <p:nvPr>
            <p:ph type="sldNum" sz="quarter" idx="12"/>
          </p:nvPr>
        </p:nvSpPr>
        <p:spPr/>
        <p:txBody>
          <a:bodyPr/>
          <a:lstStyle/>
          <a:p>
            <a:fld id="{E9B27509-6D19-464C-969F-2F24F308EC35}" type="slidenum">
              <a:rPr lang="el-GR" smtClean="0"/>
              <a:t>‹#›</a:t>
            </a:fld>
            <a:endParaRPr lang="el-GR"/>
          </a:p>
        </p:txBody>
      </p:sp>
    </p:spTree>
    <p:extLst>
      <p:ext uri="{BB962C8B-B14F-4D97-AF65-F5344CB8AC3E}">
        <p14:creationId xmlns:p14="http://schemas.microsoft.com/office/powerpoint/2010/main" val="25826854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Δύο περιεχόμενα">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BDB3A4DB-6CB5-5B72-FFF0-DEE4986CAF59}"/>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περιεχομένου 2">
            <a:extLst>
              <a:ext uri="{FF2B5EF4-FFF2-40B4-BE49-F238E27FC236}">
                <a16:creationId xmlns:a16="http://schemas.microsoft.com/office/drawing/2014/main" id="{C4B8E9FA-E42E-3A5E-560A-1BF6824C7FEB}"/>
              </a:ext>
            </a:extLst>
          </p:cNvPr>
          <p:cNvSpPr>
            <a:spLocks noGrp="1"/>
          </p:cNvSpPr>
          <p:nvPr>
            <p:ph sz="half" idx="1"/>
          </p:nvPr>
        </p:nvSpPr>
        <p:spPr>
          <a:xfrm>
            <a:off x="838200" y="1825625"/>
            <a:ext cx="5181600" cy="4351338"/>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4" name="Θέση περιεχομένου 3">
            <a:extLst>
              <a:ext uri="{FF2B5EF4-FFF2-40B4-BE49-F238E27FC236}">
                <a16:creationId xmlns:a16="http://schemas.microsoft.com/office/drawing/2014/main" id="{D5424662-7023-D34C-D7DC-781A32B1A9BE}"/>
              </a:ext>
            </a:extLst>
          </p:cNvPr>
          <p:cNvSpPr>
            <a:spLocks noGrp="1"/>
          </p:cNvSpPr>
          <p:nvPr>
            <p:ph sz="half" idx="2"/>
          </p:nvPr>
        </p:nvSpPr>
        <p:spPr>
          <a:xfrm>
            <a:off x="6172200" y="1825625"/>
            <a:ext cx="5181600" cy="4351338"/>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5" name="Θέση ημερομηνίας 4">
            <a:extLst>
              <a:ext uri="{FF2B5EF4-FFF2-40B4-BE49-F238E27FC236}">
                <a16:creationId xmlns:a16="http://schemas.microsoft.com/office/drawing/2014/main" id="{4E710D2B-98E1-2AA4-C848-CE18901EEF9E}"/>
              </a:ext>
            </a:extLst>
          </p:cNvPr>
          <p:cNvSpPr>
            <a:spLocks noGrp="1"/>
          </p:cNvSpPr>
          <p:nvPr>
            <p:ph type="dt" sz="half" idx="10"/>
          </p:nvPr>
        </p:nvSpPr>
        <p:spPr/>
        <p:txBody>
          <a:bodyPr/>
          <a:lstStyle/>
          <a:p>
            <a:fld id="{AAAD10FB-434E-4F5B-AB4C-EE4E8030C338}" type="datetimeFigureOut">
              <a:rPr lang="el-GR" smtClean="0"/>
              <a:t>24/9/2026</a:t>
            </a:fld>
            <a:endParaRPr lang="el-GR"/>
          </a:p>
        </p:txBody>
      </p:sp>
      <p:sp>
        <p:nvSpPr>
          <p:cNvPr id="6" name="Θέση υποσέλιδου 5">
            <a:extLst>
              <a:ext uri="{FF2B5EF4-FFF2-40B4-BE49-F238E27FC236}">
                <a16:creationId xmlns:a16="http://schemas.microsoft.com/office/drawing/2014/main" id="{C5415758-F53F-D239-41B0-2E9BDDFE199E}"/>
              </a:ext>
            </a:extLst>
          </p:cNvPr>
          <p:cNvSpPr>
            <a:spLocks noGrp="1"/>
          </p:cNvSpPr>
          <p:nvPr>
            <p:ph type="ftr" sz="quarter" idx="11"/>
          </p:nvPr>
        </p:nvSpPr>
        <p:spPr/>
        <p:txBody>
          <a:bodyPr/>
          <a:lstStyle/>
          <a:p>
            <a:endParaRPr lang="el-GR"/>
          </a:p>
        </p:txBody>
      </p:sp>
      <p:sp>
        <p:nvSpPr>
          <p:cNvPr id="7" name="Θέση αριθμού διαφάνειας 6">
            <a:extLst>
              <a:ext uri="{FF2B5EF4-FFF2-40B4-BE49-F238E27FC236}">
                <a16:creationId xmlns:a16="http://schemas.microsoft.com/office/drawing/2014/main" id="{352361F5-78AE-A2F0-F536-EB8145E9E62C}"/>
              </a:ext>
            </a:extLst>
          </p:cNvPr>
          <p:cNvSpPr>
            <a:spLocks noGrp="1"/>
          </p:cNvSpPr>
          <p:nvPr>
            <p:ph type="sldNum" sz="quarter" idx="12"/>
          </p:nvPr>
        </p:nvSpPr>
        <p:spPr/>
        <p:txBody>
          <a:bodyPr/>
          <a:lstStyle/>
          <a:p>
            <a:fld id="{E9B27509-6D19-464C-969F-2F24F308EC35}" type="slidenum">
              <a:rPr lang="el-GR" smtClean="0"/>
              <a:t>‹#›</a:t>
            </a:fld>
            <a:endParaRPr lang="el-GR"/>
          </a:p>
        </p:txBody>
      </p:sp>
    </p:spTree>
    <p:extLst>
      <p:ext uri="{BB962C8B-B14F-4D97-AF65-F5344CB8AC3E}">
        <p14:creationId xmlns:p14="http://schemas.microsoft.com/office/powerpoint/2010/main" val="10098431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Σύγκριση">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09872643-5C02-DBE6-04AF-157A5B32C946}"/>
              </a:ext>
            </a:extLst>
          </p:cNvPr>
          <p:cNvSpPr>
            <a:spLocks noGrp="1"/>
          </p:cNvSpPr>
          <p:nvPr>
            <p:ph type="title"/>
          </p:nvPr>
        </p:nvSpPr>
        <p:spPr>
          <a:xfrm>
            <a:off x="839788" y="365125"/>
            <a:ext cx="10515600" cy="1325563"/>
          </a:xfrm>
        </p:spPr>
        <p:txBody>
          <a:bodyPr/>
          <a:lstStyle/>
          <a:p>
            <a:r>
              <a:rPr lang="el-GR"/>
              <a:t>Κάντε κλικ για να επεξεργαστείτε τον τίτλο υποδείγματος</a:t>
            </a:r>
          </a:p>
        </p:txBody>
      </p:sp>
      <p:sp>
        <p:nvSpPr>
          <p:cNvPr id="3" name="Θέση κειμένου 2">
            <a:extLst>
              <a:ext uri="{FF2B5EF4-FFF2-40B4-BE49-F238E27FC236}">
                <a16:creationId xmlns:a16="http://schemas.microsoft.com/office/drawing/2014/main" id="{9E81DB3A-3EB6-4E18-1E0C-32426DDDA90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Στυλ κειμένου υποδείγματος</a:t>
            </a:r>
          </a:p>
        </p:txBody>
      </p:sp>
      <p:sp>
        <p:nvSpPr>
          <p:cNvPr id="4" name="Θέση περιεχομένου 3">
            <a:extLst>
              <a:ext uri="{FF2B5EF4-FFF2-40B4-BE49-F238E27FC236}">
                <a16:creationId xmlns:a16="http://schemas.microsoft.com/office/drawing/2014/main" id="{955A0249-2447-1CA5-5321-36C936EE7390}"/>
              </a:ext>
            </a:extLst>
          </p:cNvPr>
          <p:cNvSpPr>
            <a:spLocks noGrp="1"/>
          </p:cNvSpPr>
          <p:nvPr>
            <p:ph sz="half" idx="2"/>
          </p:nvPr>
        </p:nvSpPr>
        <p:spPr>
          <a:xfrm>
            <a:off x="839788" y="2505075"/>
            <a:ext cx="5157787" cy="3684588"/>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5" name="Θέση κειμένου 4">
            <a:extLst>
              <a:ext uri="{FF2B5EF4-FFF2-40B4-BE49-F238E27FC236}">
                <a16:creationId xmlns:a16="http://schemas.microsoft.com/office/drawing/2014/main" id="{9C2AFF71-DE04-118C-21F5-E0DD8AA565E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l-GR"/>
              <a:t>Στυλ κειμένου υποδείγματος</a:t>
            </a:r>
          </a:p>
        </p:txBody>
      </p:sp>
      <p:sp>
        <p:nvSpPr>
          <p:cNvPr id="6" name="Θέση περιεχομένου 5">
            <a:extLst>
              <a:ext uri="{FF2B5EF4-FFF2-40B4-BE49-F238E27FC236}">
                <a16:creationId xmlns:a16="http://schemas.microsoft.com/office/drawing/2014/main" id="{DF705061-A0F5-E991-0EE3-7F7E75423FBD}"/>
              </a:ext>
            </a:extLst>
          </p:cNvPr>
          <p:cNvSpPr>
            <a:spLocks noGrp="1"/>
          </p:cNvSpPr>
          <p:nvPr>
            <p:ph sz="quarter" idx="4"/>
          </p:nvPr>
        </p:nvSpPr>
        <p:spPr>
          <a:xfrm>
            <a:off x="6172200" y="2505075"/>
            <a:ext cx="5183188" cy="3684588"/>
          </a:xfrm>
        </p:spPr>
        <p:txBody>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7" name="Θέση ημερομηνίας 6">
            <a:extLst>
              <a:ext uri="{FF2B5EF4-FFF2-40B4-BE49-F238E27FC236}">
                <a16:creationId xmlns:a16="http://schemas.microsoft.com/office/drawing/2014/main" id="{D59EFC6E-35D4-14B0-D261-94A0ACDE88C5}"/>
              </a:ext>
            </a:extLst>
          </p:cNvPr>
          <p:cNvSpPr>
            <a:spLocks noGrp="1"/>
          </p:cNvSpPr>
          <p:nvPr>
            <p:ph type="dt" sz="half" idx="10"/>
          </p:nvPr>
        </p:nvSpPr>
        <p:spPr/>
        <p:txBody>
          <a:bodyPr/>
          <a:lstStyle/>
          <a:p>
            <a:fld id="{AAAD10FB-434E-4F5B-AB4C-EE4E8030C338}" type="datetimeFigureOut">
              <a:rPr lang="el-GR" smtClean="0"/>
              <a:t>24/9/2026</a:t>
            </a:fld>
            <a:endParaRPr lang="el-GR"/>
          </a:p>
        </p:txBody>
      </p:sp>
      <p:sp>
        <p:nvSpPr>
          <p:cNvPr id="8" name="Θέση υποσέλιδου 7">
            <a:extLst>
              <a:ext uri="{FF2B5EF4-FFF2-40B4-BE49-F238E27FC236}">
                <a16:creationId xmlns:a16="http://schemas.microsoft.com/office/drawing/2014/main" id="{32AE7E1C-483F-BCD1-ECF5-E99D405787EF}"/>
              </a:ext>
            </a:extLst>
          </p:cNvPr>
          <p:cNvSpPr>
            <a:spLocks noGrp="1"/>
          </p:cNvSpPr>
          <p:nvPr>
            <p:ph type="ftr" sz="quarter" idx="11"/>
          </p:nvPr>
        </p:nvSpPr>
        <p:spPr/>
        <p:txBody>
          <a:bodyPr/>
          <a:lstStyle/>
          <a:p>
            <a:endParaRPr lang="el-GR"/>
          </a:p>
        </p:txBody>
      </p:sp>
      <p:sp>
        <p:nvSpPr>
          <p:cNvPr id="9" name="Θέση αριθμού διαφάνειας 8">
            <a:extLst>
              <a:ext uri="{FF2B5EF4-FFF2-40B4-BE49-F238E27FC236}">
                <a16:creationId xmlns:a16="http://schemas.microsoft.com/office/drawing/2014/main" id="{F302A403-416F-DC62-BE60-D05A52B7C372}"/>
              </a:ext>
            </a:extLst>
          </p:cNvPr>
          <p:cNvSpPr>
            <a:spLocks noGrp="1"/>
          </p:cNvSpPr>
          <p:nvPr>
            <p:ph type="sldNum" sz="quarter" idx="12"/>
          </p:nvPr>
        </p:nvSpPr>
        <p:spPr/>
        <p:txBody>
          <a:bodyPr/>
          <a:lstStyle/>
          <a:p>
            <a:fld id="{E9B27509-6D19-464C-969F-2F24F308EC35}" type="slidenum">
              <a:rPr lang="el-GR" smtClean="0"/>
              <a:t>‹#›</a:t>
            </a:fld>
            <a:endParaRPr lang="el-GR"/>
          </a:p>
        </p:txBody>
      </p:sp>
    </p:spTree>
    <p:extLst>
      <p:ext uri="{BB962C8B-B14F-4D97-AF65-F5344CB8AC3E}">
        <p14:creationId xmlns:p14="http://schemas.microsoft.com/office/powerpoint/2010/main" val="3205942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Μόνο τίτλος">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1D862766-3DBC-BFC2-A5CC-578517AC5382}"/>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ημερομηνίας 2">
            <a:extLst>
              <a:ext uri="{FF2B5EF4-FFF2-40B4-BE49-F238E27FC236}">
                <a16:creationId xmlns:a16="http://schemas.microsoft.com/office/drawing/2014/main" id="{3C84DAD6-976D-C1A5-54CA-0ED83C73762B}"/>
              </a:ext>
            </a:extLst>
          </p:cNvPr>
          <p:cNvSpPr>
            <a:spLocks noGrp="1"/>
          </p:cNvSpPr>
          <p:nvPr>
            <p:ph type="dt" sz="half" idx="10"/>
          </p:nvPr>
        </p:nvSpPr>
        <p:spPr/>
        <p:txBody>
          <a:bodyPr/>
          <a:lstStyle/>
          <a:p>
            <a:fld id="{AAAD10FB-434E-4F5B-AB4C-EE4E8030C338}" type="datetimeFigureOut">
              <a:rPr lang="el-GR" smtClean="0"/>
              <a:t>24/9/2026</a:t>
            </a:fld>
            <a:endParaRPr lang="el-GR"/>
          </a:p>
        </p:txBody>
      </p:sp>
      <p:sp>
        <p:nvSpPr>
          <p:cNvPr id="4" name="Θέση υποσέλιδου 3">
            <a:extLst>
              <a:ext uri="{FF2B5EF4-FFF2-40B4-BE49-F238E27FC236}">
                <a16:creationId xmlns:a16="http://schemas.microsoft.com/office/drawing/2014/main" id="{64E8B539-1DA7-00F1-EF6A-6B432577F704}"/>
              </a:ext>
            </a:extLst>
          </p:cNvPr>
          <p:cNvSpPr>
            <a:spLocks noGrp="1"/>
          </p:cNvSpPr>
          <p:nvPr>
            <p:ph type="ftr" sz="quarter" idx="11"/>
          </p:nvPr>
        </p:nvSpPr>
        <p:spPr/>
        <p:txBody>
          <a:bodyPr/>
          <a:lstStyle/>
          <a:p>
            <a:endParaRPr lang="el-GR"/>
          </a:p>
        </p:txBody>
      </p:sp>
      <p:sp>
        <p:nvSpPr>
          <p:cNvPr id="5" name="Θέση αριθμού διαφάνειας 4">
            <a:extLst>
              <a:ext uri="{FF2B5EF4-FFF2-40B4-BE49-F238E27FC236}">
                <a16:creationId xmlns:a16="http://schemas.microsoft.com/office/drawing/2014/main" id="{0C09243A-DB8F-B0CB-AFDD-748620F56404}"/>
              </a:ext>
            </a:extLst>
          </p:cNvPr>
          <p:cNvSpPr>
            <a:spLocks noGrp="1"/>
          </p:cNvSpPr>
          <p:nvPr>
            <p:ph type="sldNum" sz="quarter" idx="12"/>
          </p:nvPr>
        </p:nvSpPr>
        <p:spPr/>
        <p:txBody>
          <a:bodyPr/>
          <a:lstStyle/>
          <a:p>
            <a:fld id="{E9B27509-6D19-464C-969F-2F24F308EC35}" type="slidenum">
              <a:rPr lang="el-GR" smtClean="0"/>
              <a:t>‹#›</a:t>
            </a:fld>
            <a:endParaRPr lang="el-GR"/>
          </a:p>
        </p:txBody>
      </p:sp>
    </p:spTree>
    <p:extLst>
      <p:ext uri="{BB962C8B-B14F-4D97-AF65-F5344CB8AC3E}">
        <p14:creationId xmlns:p14="http://schemas.microsoft.com/office/powerpoint/2010/main" val="16348569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Κενό">
    <p:spTree>
      <p:nvGrpSpPr>
        <p:cNvPr id="1" name=""/>
        <p:cNvGrpSpPr/>
        <p:nvPr/>
      </p:nvGrpSpPr>
      <p:grpSpPr>
        <a:xfrm>
          <a:off x="0" y="0"/>
          <a:ext cx="0" cy="0"/>
          <a:chOff x="0" y="0"/>
          <a:chExt cx="0" cy="0"/>
        </a:xfrm>
      </p:grpSpPr>
      <p:sp>
        <p:nvSpPr>
          <p:cNvPr id="2" name="Θέση ημερομηνίας 1">
            <a:extLst>
              <a:ext uri="{FF2B5EF4-FFF2-40B4-BE49-F238E27FC236}">
                <a16:creationId xmlns:a16="http://schemas.microsoft.com/office/drawing/2014/main" id="{D5500D47-3763-9F5E-ECCC-EF7269FCB605}"/>
              </a:ext>
            </a:extLst>
          </p:cNvPr>
          <p:cNvSpPr>
            <a:spLocks noGrp="1"/>
          </p:cNvSpPr>
          <p:nvPr>
            <p:ph type="dt" sz="half" idx="10"/>
          </p:nvPr>
        </p:nvSpPr>
        <p:spPr/>
        <p:txBody>
          <a:bodyPr/>
          <a:lstStyle/>
          <a:p>
            <a:fld id="{AAAD10FB-434E-4F5B-AB4C-EE4E8030C338}" type="datetimeFigureOut">
              <a:rPr lang="el-GR" smtClean="0"/>
              <a:t>24/9/2026</a:t>
            </a:fld>
            <a:endParaRPr lang="el-GR"/>
          </a:p>
        </p:txBody>
      </p:sp>
      <p:sp>
        <p:nvSpPr>
          <p:cNvPr id="3" name="Θέση υποσέλιδου 2">
            <a:extLst>
              <a:ext uri="{FF2B5EF4-FFF2-40B4-BE49-F238E27FC236}">
                <a16:creationId xmlns:a16="http://schemas.microsoft.com/office/drawing/2014/main" id="{ECF44522-2274-7D5C-1A94-0A40A49EFFD8}"/>
              </a:ext>
            </a:extLst>
          </p:cNvPr>
          <p:cNvSpPr>
            <a:spLocks noGrp="1"/>
          </p:cNvSpPr>
          <p:nvPr>
            <p:ph type="ftr" sz="quarter" idx="11"/>
          </p:nvPr>
        </p:nvSpPr>
        <p:spPr/>
        <p:txBody>
          <a:bodyPr/>
          <a:lstStyle/>
          <a:p>
            <a:endParaRPr lang="el-GR"/>
          </a:p>
        </p:txBody>
      </p:sp>
      <p:sp>
        <p:nvSpPr>
          <p:cNvPr id="4" name="Θέση αριθμού διαφάνειας 3">
            <a:extLst>
              <a:ext uri="{FF2B5EF4-FFF2-40B4-BE49-F238E27FC236}">
                <a16:creationId xmlns:a16="http://schemas.microsoft.com/office/drawing/2014/main" id="{0A244AF2-29D3-81B0-E698-396F32AC3C91}"/>
              </a:ext>
            </a:extLst>
          </p:cNvPr>
          <p:cNvSpPr>
            <a:spLocks noGrp="1"/>
          </p:cNvSpPr>
          <p:nvPr>
            <p:ph type="sldNum" sz="quarter" idx="12"/>
          </p:nvPr>
        </p:nvSpPr>
        <p:spPr/>
        <p:txBody>
          <a:bodyPr/>
          <a:lstStyle/>
          <a:p>
            <a:fld id="{E9B27509-6D19-464C-969F-2F24F308EC35}" type="slidenum">
              <a:rPr lang="el-GR" smtClean="0"/>
              <a:t>‹#›</a:t>
            </a:fld>
            <a:endParaRPr lang="el-GR"/>
          </a:p>
        </p:txBody>
      </p:sp>
    </p:spTree>
    <p:extLst>
      <p:ext uri="{BB962C8B-B14F-4D97-AF65-F5344CB8AC3E}">
        <p14:creationId xmlns:p14="http://schemas.microsoft.com/office/powerpoint/2010/main" val="5380820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Περιεχόμενο με λεζάντα">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B0309E16-03A8-4431-5214-93F3E3DCBF49}"/>
              </a:ext>
            </a:extLst>
          </p:cNvPr>
          <p:cNvSpPr>
            <a:spLocks noGrp="1"/>
          </p:cNvSpPr>
          <p:nvPr>
            <p:ph type="title"/>
          </p:nvPr>
        </p:nvSpPr>
        <p:spPr>
          <a:xfrm>
            <a:off x="839788" y="457200"/>
            <a:ext cx="3932237" cy="1600200"/>
          </a:xfrm>
        </p:spPr>
        <p:txBody>
          <a:bodyPr anchor="b"/>
          <a:lstStyle>
            <a:lvl1pPr>
              <a:defRPr sz="3200"/>
            </a:lvl1pPr>
          </a:lstStyle>
          <a:p>
            <a:r>
              <a:rPr lang="el-GR"/>
              <a:t>Κάντε κλικ για να επεξεργαστείτε τον τίτλο υποδείγματος</a:t>
            </a:r>
          </a:p>
        </p:txBody>
      </p:sp>
      <p:sp>
        <p:nvSpPr>
          <p:cNvPr id="3" name="Θέση περιεχομένου 2">
            <a:extLst>
              <a:ext uri="{FF2B5EF4-FFF2-40B4-BE49-F238E27FC236}">
                <a16:creationId xmlns:a16="http://schemas.microsoft.com/office/drawing/2014/main" id="{33E08A35-AA51-55EE-3CCA-33B87BE392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4" name="Θέση κειμένου 3">
            <a:extLst>
              <a:ext uri="{FF2B5EF4-FFF2-40B4-BE49-F238E27FC236}">
                <a16:creationId xmlns:a16="http://schemas.microsoft.com/office/drawing/2014/main" id="{32B9353C-4EFA-7E38-1BB1-8AEEDC5FFA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l-GR"/>
              <a:t>Στυλ κειμένου υποδείγματος</a:t>
            </a:r>
          </a:p>
        </p:txBody>
      </p:sp>
      <p:sp>
        <p:nvSpPr>
          <p:cNvPr id="5" name="Θέση ημερομηνίας 4">
            <a:extLst>
              <a:ext uri="{FF2B5EF4-FFF2-40B4-BE49-F238E27FC236}">
                <a16:creationId xmlns:a16="http://schemas.microsoft.com/office/drawing/2014/main" id="{2BB189C4-9834-A269-0C80-54F72DCDC019}"/>
              </a:ext>
            </a:extLst>
          </p:cNvPr>
          <p:cNvSpPr>
            <a:spLocks noGrp="1"/>
          </p:cNvSpPr>
          <p:nvPr>
            <p:ph type="dt" sz="half" idx="10"/>
          </p:nvPr>
        </p:nvSpPr>
        <p:spPr/>
        <p:txBody>
          <a:bodyPr/>
          <a:lstStyle/>
          <a:p>
            <a:fld id="{AAAD10FB-434E-4F5B-AB4C-EE4E8030C338}" type="datetimeFigureOut">
              <a:rPr lang="el-GR" smtClean="0"/>
              <a:t>24/9/2026</a:t>
            </a:fld>
            <a:endParaRPr lang="el-GR"/>
          </a:p>
        </p:txBody>
      </p:sp>
      <p:sp>
        <p:nvSpPr>
          <p:cNvPr id="6" name="Θέση υποσέλιδου 5">
            <a:extLst>
              <a:ext uri="{FF2B5EF4-FFF2-40B4-BE49-F238E27FC236}">
                <a16:creationId xmlns:a16="http://schemas.microsoft.com/office/drawing/2014/main" id="{EC8F38B4-25E6-8C6F-C8F5-DC4D5282C087}"/>
              </a:ext>
            </a:extLst>
          </p:cNvPr>
          <p:cNvSpPr>
            <a:spLocks noGrp="1"/>
          </p:cNvSpPr>
          <p:nvPr>
            <p:ph type="ftr" sz="quarter" idx="11"/>
          </p:nvPr>
        </p:nvSpPr>
        <p:spPr/>
        <p:txBody>
          <a:bodyPr/>
          <a:lstStyle/>
          <a:p>
            <a:endParaRPr lang="el-GR"/>
          </a:p>
        </p:txBody>
      </p:sp>
      <p:sp>
        <p:nvSpPr>
          <p:cNvPr id="7" name="Θέση αριθμού διαφάνειας 6">
            <a:extLst>
              <a:ext uri="{FF2B5EF4-FFF2-40B4-BE49-F238E27FC236}">
                <a16:creationId xmlns:a16="http://schemas.microsoft.com/office/drawing/2014/main" id="{FF5E080F-7456-9914-7899-D3ABF2ABF14C}"/>
              </a:ext>
            </a:extLst>
          </p:cNvPr>
          <p:cNvSpPr>
            <a:spLocks noGrp="1"/>
          </p:cNvSpPr>
          <p:nvPr>
            <p:ph type="sldNum" sz="quarter" idx="12"/>
          </p:nvPr>
        </p:nvSpPr>
        <p:spPr/>
        <p:txBody>
          <a:bodyPr/>
          <a:lstStyle/>
          <a:p>
            <a:fld id="{E9B27509-6D19-464C-969F-2F24F308EC35}" type="slidenum">
              <a:rPr lang="el-GR" smtClean="0"/>
              <a:t>‹#›</a:t>
            </a:fld>
            <a:endParaRPr lang="el-GR"/>
          </a:p>
        </p:txBody>
      </p:sp>
    </p:spTree>
    <p:extLst>
      <p:ext uri="{BB962C8B-B14F-4D97-AF65-F5344CB8AC3E}">
        <p14:creationId xmlns:p14="http://schemas.microsoft.com/office/powerpoint/2010/main" val="17907710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Εικόνα με λεζάντα">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36B34410-B981-934C-F1A5-0147994B0101}"/>
              </a:ext>
            </a:extLst>
          </p:cNvPr>
          <p:cNvSpPr>
            <a:spLocks noGrp="1"/>
          </p:cNvSpPr>
          <p:nvPr>
            <p:ph type="title"/>
          </p:nvPr>
        </p:nvSpPr>
        <p:spPr>
          <a:xfrm>
            <a:off x="839788" y="457200"/>
            <a:ext cx="3932237" cy="1600200"/>
          </a:xfrm>
        </p:spPr>
        <p:txBody>
          <a:bodyPr anchor="b"/>
          <a:lstStyle>
            <a:lvl1pPr>
              <a:defRPr sz="3200"/>
            </a:lvl1pPr>
          </a:lstStyle>
          <a:p>
            <a:r>
              <a:rPr lang="el-GR"/>
              <a:t>Κάντε κλικ για να επεξεργαστείτε τον τίτλο υποδείγματος</a:t>
            </a:r>
          </a:p>
        </p:txBody>
      </p:sp>
      <p:sp>
        <p:nvSpPr>
          <p:cNvPr id="3" name="Θέση εικόνας 2">
            <a:extLst>
              <a:ext uri="{FF2B5EF4-FFF2-40B4-BE49-F238E27FC236}">
                <a16:creationId xmlns:a16="http://schemas.microsoft.com/office/drawing/2014/main" id="{71CBA0F0-C011-871C-D990-625778FDF55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l-GR"/>
          </a:p>
        </p:txBody>
      </p:sp>
      <p:sp>
        <p:nvSpPr>
          <p:cNvPr id="4" name="Θέση κειμένου 3">
            <a:extLst>
              <a:ext uri="{FF2B5EF4-FFF2-40B4-BE49-F238E27FC236}">
                <a16:creationId xmlns:a16="http://schemas.microsoft.com/office/drawing/2014/main" id="{3EDD223F-DA6C-9701-090B-D89781E012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l-GR"/>
              <a:t>Στυλ κειμένου υποδείγματος</a:t>
            </a:r>
          </a:p>
        </p:txBody>
      </p:sp>
      <p:sp>
        <p:nvSpPr>
          <p:cNvPr id="5" name="Θέση ημερομηνίας 4">
            <a:extLst>
              <a:ext uri="{FF2B5EF4-FFF2-40B4-BE49-F238E27FC236}">
                <a16:creationId xmlns:a16="http://schemas.microsoft.com/office/drawing/2014/main" id="{948D7B25-EFD4-6EAA-7B93-18EAA4F2A9D7}"/>
              </a:ext>
            </a:extLst>
          </p:cNvPr>
          <p:cNvSpPr>
            <a:spLocks noGrp="1"/>
          </p:cNvSpPr>
          <p:nvPr>
            <p:ph type="dt" sz="half" idx="10"/>
          </p:nvPr>
        </p:nvSpPr>
        <p:spPr/>
        <p:txBody>
          <a:bodyPr/>
          <a:lstStyle/>
          <a:p>
            <a:fld id="{AAAD10FB-434E-4F5B-AB4C-EE4E8030C338}" type="datetimeFigureOut">
              <a:rPr lang="el-GR" smtClean="0"/>
              <a:t>24/9/2026</a:t>
            </a:fld>
            <a:endParaRPr lang="el-GR"/>
          </a:p>
        </p:txBody>
      </p:sp>
      <p:sp>
        <p:nvSpPr>
          <p:cNvPr id="6" name="Θέση υποσέλιδου 5">
            <a:extLst>
              <a:ext uri="{FF2B5EF4-FFF2-40B4-BE49-F238E27FC236}">
                <a16:creationId xmlns:a16="http://schemas.microsoft.com/office/drawing/2014/main" id="{AA2A9BF5-55ED-3D68-7BEF-9F48CFCC0668}"/>
              </a:ext>
            </a:extLst>
          </p:cNvPr>
          <p:cNvSpPr>
            <a:spLocks noGrp="1"/>
          </p:cNvSpPr>
          <p:nvPr>
            <p:ph type="ftr" sz="quarter" idx="11"/>
          </p:nvPr>
        </p:nvSpPr>
        <p:spPr/>
        <p:txBody>
          <a:bodyPr/>
          <a:lstStyle/>
          <a:p>
            <a:endParaRPr lang="el-GR"/>
          </a:p>
        </p:txBody>
      </p:sp>
      <p:sp>
        <p:nvSpPr>
          <p:cNvPr id="7" name="Θέση αριθμού διαφάνειας 6">
            <a:extLst>
              <a:ext uri="{FF2B5EF4-FFF2-40B4-BE49-F238E27FC236}">
                <a16:creationId xmlns:a16="http://schemas.microsoft.com/office/drawing/2014/main" id="{9279F84E-20F1-F873-447F-665482BD4312}"/>
              </a:ext>
            </a:extLst>
          </p:cNvPr>
          <p:cNvSpPr>
            <a:spLocks noGrp="1"/>
          </p:cNvSpPr>
          <p:nvPr>
            <p:ph type="sldNum" sz="quarter" idx="12"/>
          </p:nvPr>
        </p:nvSpPr>
        <p:spPr/>
        <p:txBody>
          <a:bodyPr/>
          <a:lstStyle/>
          <a:p>
            <a:fld id="{E9B27509-6D19-464C-969F-2F24F308EC35}" type="slidenum">
              <a:rPr lang="el-GR" smtClean="0"/>
              <a:t>‹#›</a:t>
            </a:fld>
            <a:endParaRPr lang="el-GR"/>
          </a:p>
        </p:txBody>
      </p:sp>
    </p:spTree>
    <p:extLst>
      <p:ext uri="{BB962C8B-B14F-4D97-AF65-F5344CB8AC3E}">
        <p14:creationId xmlns:p14="http://schemas.microsoft.com/office/powerpoint/2010/main" val="15726397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Τίτλος και Κατακόρυφο κείμενο">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4223D2A1-BE17-E33E-0AE5-84CB7FE6AAA8}"/>
              </a:ext>
            </a:extLst>
          </p:cNvPr>
          <p:cNvSpPr>
            <a:spLocks noGrp="1"/>
          </p:cNvSpPr>
          <p:nvPr>
            <p:ph type="title"/>
          </p:nvPr>
        </p:nvSpPr>
        <p:spPr/>
        <p:txBody>
          <a:bodyPr/>
          <a:lstStyle/>
          <a:p>
            <a:r>
              <a:rPr lang="el-GR"/>
              <a:t>Κάντε κλικ για να επεξεργαστείτε τον τίτλο υποδείγματος</a:t>
            </a:r>
          </a:p>
        </p:txBody>
      </p:sp>
      <p:sp>
        <p:nvSpPr>
          <p:cNvPr id="3" name="Θέση κατακόρυφου κειμένου 2">
            <a:extLst>
              <a:ext uri="{FF2B5EF4-FFF2-40B4-BE49-F238E27FC236}">
                <a16:creationId xmlns:a16="http://schemas.microsoft.com/office/drawing/2014/main" id="{9E2BEF9E-6758-C72C-A7F8-1B60D6F2E707}"/>
              </a:ext>
            </a:extLst>
          </p:cNvPr>
          <p:cNvSpPr>
            <a:spLocks noGrp="1"/>
          </p:cNvSpPr>
          <p:nvPr>
            <p:ph type="body" orient="vert" idx="1"/>
          </p:nvPr>
        </p:nvSpPr>
        <p:spPr/>
        <p:txBody>
          <a:bodyPr vert="eaVert"/>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4" name="Θέση ημερομηνίας 3">
            <a:extLst>
              <a:ext uri="{FF2B5EF4-FFF2-40B4-BE49-F238E27FC236}">
                <a16:creationId xmlns:a16="http://schemas.microsoft.com/office/drawing/2014/main" id="{0009856D-8BA7-2FCF-823C-2FE5CDFA7243}"/>
              </a:ext>
            </a:extLst>
          </p:cNvPr>
          <p:cNvSpPr>
            <a:spLocks noGrp="1"/>
          </p:cNvSpPr>
          <p:nvPr>
            <p:ph type="dt" sz="half" idx="10"/>
          </p:nvPr>
        </p:nvSpPr>
        <p:spPr/>
        <p:txBody>
          <a:bodyPr/>
          <a:lstStyle/>
          <a:p>
            <a:fld id="{AAAD10FB-434E-4F5B-AB4C-EE4E8030C338}" type="datetimeFigureOut">
              <a:rPr lang="el-GR" smtClean="0"/>
              <a:t>24/9/2026</a:t>
            </a:fld>
            <a:endParaRPr lang="el-GR"/>
          </a:p>
        </p:txBody>
      </p:sp>
      <p:sp>
        <p:nvSpPr>
          <p:cNvPr id="5" name="Θέση υποσέλιδου 4">
            <a:extLst>
              <a:ext uri="{FF2B5EF4-FFF2-40B4-BE49-F238E27FC236}">
                <a16:creationId xmlns:a16="http://schemas.microsoft.com/office/drawing/2014/main" id="{45D380CF-1448-32BA-B290-F8DE8D3F8ED3}"/>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0AC5730D-74B7-EE76-AC53-BC721612D9FF}"/>
              </a:ext>
            </a:extLst>
          </p:cNvPr>
          <p:cNvSpPr>
            <a:spLocks noGrp="1"/>
          </p:cNvSpPr>
          <p:nvPr>
            <p:ph type="sldNum" sz="quarter" idx="12"/>
          </p:nvPr>
        </p:nvSpPr>
        <p:spPr/>
        <p:txBody>
          <a:bodyPr/>
          <a:lstStyle/>
          <a:p>
            <a:fld id="{E9B27509-6D19-464C-969F-2F24F308EC35}" type="slidenum">
              <a:rPr lang="el-GR" smtClean="0"/>
              <a:t>‹#›</a:t>
            </a:fld>
            <a:endParaRPr lang="el-GR"/>
          </a:p>
        </p:txBody>
      </p:sp>
    </p:spTree>
    <p:extLst>
      <p:ext uri="{BB962C8B-B14F-4D97-AF65-F5344CB8AC3E}">
        <p14:creationId xmlns:p14="http://schemas.microsoft.com/office/powerpoint/2010/main" val="13332694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Κατακόρυφος τίτλος και Κείμενο">
    <p:spTree>
      <p:nvGrpSpPr>
        <p:cNvPr id="1" name=""/>
        <p:cNvGrpSpPr/>
        <p:nvPr/>
      </p:nvGrpSpPr>
      <p:grpSpPr>
        <a:xfrm>
          <a:off x="0" y="0"/>
          <a:ext cx="0" cy="0"/>
          <a:chOff x="0" y="0"/>
          <a:chExt cx="0" cy="0"/>
        </a:xfrm>
      </p:grpSpPr>
      <p:sp>
        <p:nvSpPr>
          <p:cNvPr id="2" name="Κατακόρυφος τίτλος 1">
            <a:extLst>
              <a:ext uri="{FF2B5EF4-FFF2-40B4-BE49-F238E27FC236}">
                <a16:creationId xmlns:a16="http://schemas.microsoft.com/office/drawing/2014/main" id="{E3996B8D-9B78-4FC3-CEC2-C4102249DBE7}"/>
              </a:ext>
            </a:extLst>
          </p:cNvPr>
          <p:cNvSpPr>
            <a:spLocks noGrp="1"/>
          </p:cNvSpPr>
          <p:nvPr>
            <p:ph type="title" orient="vert"/>
          </p:nvPr>
        </p:nvSpPr>
        <p:spPr>
          <a:xfrm>
            <a:off x="8724900" y="365125"/>
            <a:ext cx="2628900" cy="5811838"/>
          </a:xfrm>
        </p:spPr>
        <p:txBody>
          <a:bodyPr vert="eaVert"/>
          <a:lstStyle/>
          <a:p>
            <a:r>
              <a:rPr lang="el-GR"/>
              <a:t>Κάντε κλικ για να επεξεργαστείτε τον τίτλο υποδείγματος</a:t>
            </a:r>
          </a:p>
        </p:txBody>
      </p:sp>
      <p:sp>
        <p:nvSpPr>
          <p:cNvPr id="3" name="Θέση κατακόρυφου κειμένου 2">
            <a:extLst>
              <a:ext uri="{FF2B5EF4-FFF2-40B4-BE49-F238E27FC236}">
                <a16:creationId xmlns:a16="http://schemas.microsoft.com/office/drawing/2014/main" id="{0FC18AFF-A62E-19EA-8E9A-C17FF3EFE74F}"/>
              </a:ext>
            </a:extLst>
          </p:cNvPr>
          <p:cNvSpPr>
            <a:spLocks noGrp="1"/>
          </p:cNvSpPr>
          <p:nvPr>
            <p:ph type="body" orient="vert" idx="1"/>
          </p:nvPr>
        </p:nvSpPr>
        <p:spPr>
          <a:xfrm>
            <a:off x="838200" y="365125"/>
            <a:ext cx="7734300" cy="5811838"/>
          </a:xfrm>
        </p:spPr>
        <p:txBody>
          <a:bodyPr vert="eaVert"/>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4" name="Θέση ημερομηνίας 3">
            <a:extLst>
              <a:ext uri="{FF2B5EF4-FFF2-40B4-BE49-F238E27FC236}">
                <a16:creationId xmlns:a16="http://schemas.microsoft.com/office/drawing/2014/main" id="{23D7018E-2838-FAAC-A873-40F05EE85ABD}"/>
              </a:ext>
            </a:extLst>
          </p:cNvPr>
          <p:cNvSpPr>
            <a:spLocks noGrp="1"/>
          </p:cNvSpPr>
          <p:nvPr>
            <p:ph type="dt" sz="half" idx="10"/>
          </p:nvPr>
        </p:nvSpPr>
        <p:spPr/>
        <p:txBody>
          <a:bodyPr/>
          <a:lstStyle/>
          <a:p>
            <a:fld id="{AAAD10FB-434E-4F5B-AB4C-EE4E8030C338}" type="datetimeFigureOut">
              <a:rPr lang="el-GR" smtClean="0"/>
              <a:t>24/9/2026</a:t>
            </a:fld>
            <a:endParaRPr lang="el-GR"/>
          </a:p>
        </p:txBody>
      </p:sp>
      <p:sp>
        <p:nvSpPr>
          <p:cNvPr id="5" name="Θέση υποσέλιδου 4">
            <a:extLst>
              <a:ext uri="{FF2B5EF4-FFF2-40B4-BE49-F238E27FC236}">
                <a16:creationId xmlns:a16="http://schemas.microsoft.com/office/drawing/2014/main" id="{7A78BB06-2167-1DB5-F55D-BD6A6D1231FF}"/>
              </a:ext>
            </a:extLst>
          </p:cNvPr>
          <p:cNvSpPr>
            <a:spLocks noGrp="1"/>
          </p:cNvSpPr>
          <p:nvPr>
            <p:ph type="ftr" sz="quarter" idx="11"/>
          </p:nvPr>
        </p:nvSpPr>
        <p:spPr/>
        <p:txBody>
          <a:bodyPr/>
          <a:lstStyle/>
          <a:p>
            <a:endParaRPr lang="el-GR"/>
          </a:p>
        </p:txBody>
      </p:sp>
      <p:sp>
        <p:nvSpPr>
          <p:cNvPr id="6" name="Θέση αριθμού διαφάνειας 5">
            <a:extLst>
              <a:ext uri="{FF2B5EF4-FFF2-40B4-BE49-F238E27FC236}">
                <a16:creationId xmlns:a16="http://schemas.microsoft.com/office/drawing/2014/main" id="{B33F6E0B-EFE7-67A9-3DEB-5CFACA176D26}"/>
              </a:ext>
            </a:extLst>
          </p:cNvPr>
          <p:cNvSpPr>
            <a:spLocks noGrp="1"/>
          </p:cNvSpPr>
          <p:nvPr>
            <p:ph type="sldNum" sz="quarter" idx="12"/>
          </p:nvPr>
        </p:nvSpPr>
        <p:spPr/>
        <p:txBody>
          <a:bodyPr/>
          <a:lstStyle/>
          <a:p>
            <a:fld id="{E9B27509-6D19-464C-969F-2F24F308EC35}" type="slidenum">
              <a:rPr lang="el-GR" smtClean="0"/>
              <a:t>‹#›</a:t>
            </a:fld>
            <a:endParaRPr lang="el-GR"/>
          </a:p>
        </p:txBody>
      </p:sp>
    </p:spTree>
    <p:extLst>
      <p:ext uri="{BB962C8B-B14F-4D97-AF65-F5344CB8AC3E}">
        <p14:creationId xmlns:p14="http://schemas.microsoft.com/office/powerpoint/2010/main" val="19521656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Θέση τίτλου 1">
            <a:extLst>
              <a:ext uri="{FF2B5EF4-FFF2-40B4-BE49-F238E27FC236}">
                <a16:creationId xmlns:a16="http://schemas.microsoft.com/office/drawing/2014/main" id="{98C48CE0-3D81-6D31-6FE5-8EB33AC9711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l-GR"/>
              <a:t>Κάντε κλικ για να επεξεργαστείτε τον τίτλο υποδείγματος</a:t>
            </a:r>
          </a:p>
        </p:txBody>
      </p:sp>
      <p:sp>
        <p:nvSpPr>
          <p:cNvPr id="3" name="Θέση κειμένου 2">
            <a:extLst>
              <a:ext uri="{FF2B5EF4-FFF2-40B4-BE49-F238E27FC236}">
                <a16:creationId xmlns:a16="http://schemas.microsoft.com/office/drawing/2014/main" id="{E73C3E85-7E2D-285B-39B4-9DA467F863E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p>
        </p:txBody>
      </p:sp>
      <p:sp>
        <p:nvSpPr>
          <p:cNvPr id="4" name="Θέση ημερομηνίας 3">
            <a:extLst>
              <a:ext uri="{FF2B5EF4-FFF2-40B4-BE49-F238E27FC236}">
                <a16:creationId xmlns:a16="http://schemas.microsoft.com/office/drawing/2014/main" id="{7BCACF80-E602-3EA0-3C87-3DE56637984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AAD10FB-434E-4F5B-AB4C-EE4E8030C338}" type="datetimeFigureOut">
              <a:rPr lang="el-GR" smtClean="0"/>
              <a:t>24/9/2026</a:t>
            </a:fld>
            <a:endParaRPr lang="el-GR"/>
          </a:p>
        </p:txBody>
      </p:sp>
      <p:sp>
        <p:nvSpPr>
          <p:cNvPr id="5" name="Θέση υποσέλιδου 4">
            <a:extLst>
              <a:ext uri="{FF2B5EF4-FFF2-40B4-BE49-F238E27FC236}">
                <a16:creationId xmlns:a16="http://schemas.microsoft.com/office/drawing/2014/main" id="{EA38027A-428D-0ECE-EDFC-9EE3ACF6CA3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l-GR"/>
          </a:p>
        </p:txBody>
      </p:sp>
      <p:sp>
        <p:nvSpPr>
          <p:cNvPr id="6" name="Θέση αριθμού διαφάνειας 5">
            <a:extLst>
              <a:ext uri="{FF2B5EF4-FFF2-40B4-BE49-F238E27FC236}">
                <a16:creationId xmlns:a16="http://schemas.microsoft.com/office/drawing/2014/main" id="{DD6B0625-6C4B-8E63-C013-B6558DAC3CA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9B27509-6D19-464C-969F-2F24F308EC35}" type="slidenum">
              <a:rPr lang="el-GR" smtClean="0"/>
              <a:t>‹#›</a:t>
            </a:fld>
            <a:endParaRPr lang="el-GR"/>
          </a:p>
        </p:txBody>
      </p:sp>
    </p:spTree>
    <p:extLst>
      <p:ext uri="{BB962C8B-B14F-4D97-AF65-F5344CB8AC3E}">
        <p14:creationId xmlns:p14="http://schemas.microsoft.com/office/powerpoint/2010/main" val="8266051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25.png"/><Relationship Id="rId1" Type="http://schemas.openxmlformats.org/officeDocument/2006/relationships/slideLayout" Target="../slideLayouts/slideLayout7.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 Id="rId9" Type="http://schemas.openxmlformats.org/officeDocument/2006/relationships/image" Target="../media/image32.png"/></Relationships>
</file>

<file path=ppt/slides/_rels/slide1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4.xml.rels><?xml version="1.0" encoding="UTF-8" standalone="yes"?>
<Relationships xmlns="http://schemas.openxmlformats.org/package/2006/relationships"><Relationship Id="rId7" Type="http://schemas.openxmlformats.org/officeDocument/2006/relationships/image" Target="../media/image140.png"/><Relationship Id="rId1" Type="http://schemas.openxmlformats.org/officeDocument/2006/relationships/slideLayout" Target="../slideLayouts/slideLayout6.xml"/><Relationship Id="rId6" Type="http://schemas.openxmlformats.org/officeDocument/2006/relationships/image" Target="../media/image38.png"/><Relationship Id="rId5" Type="http://schemas.openxmlformats.org/officeDocument/2006/relationships/image" Target="../media/image110.png"/></Relationships>
</file>

<file path=ppt/slides/_rels/slide1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7.xml"/><Relationship Id="rId5" Type="http://schemas.openxmlformats.org/officeDocument/2006/relationships/image" Target="../media/image42.png"/><Relationship Id="rId4" Type="http://schemas.openxmlformats.org/officeDocument/2006/relationships/image" Target="../media/image41.png"/></Relationships>
</file>

<file path=ppt/slides/_rels/slide1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7.xml"/><Relationship Id="rId4" Type="http://schemas.openxmlformats.org/officeDocument/2006/relationships/image" Target="../media/image45.png"/></Relationships>
</file>

<file path=ppt/slides/_rels/slide1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7.xml"/><Relationship Id="rId5" Type="http://schemas.openxmlformats.org/officeDocument/2006/relationships/image" Target="../media/image49.png"/><Relationship Id="rId4" Type="http://schemas.openxmlformats.org/officeDocument/2006/relationships/image" Target="../media/image48.png"/></Relationships>
</file>

<file path=ppt/slides/_rels/slide1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78D26EE-AF29-473B-8AF3-D20B1F8C3C63}"/>
              </a:ext>
            </a:extLst>
          </p:cNvPr>
          <p:cNvSpPr txBox="1"/>
          <p:nvPr/>
        </p:nvSpPr>
        <p:spPr>
          <a:xfrm>
            <a:off x="1904924" y="1948068"/>
            <a:ext cx="8254932" cy="4339650"/>
          </a:xfrm>
          <a:prstGeom prst="rect">
            <a:avLst/>
          </a:prstGeom>
          <a:noFill/>
        </p:spPr>
        <p:txBody>
          <a:bodyPr wrap="square">
            <a:spAutoFit/>
          </a:bodyPr>
          <a:lstStyle/>
          <a:p>
            <a:pPr algn="ctr" hangingPunct="0">
              <a:spcAft>
                <a:spcPts val="600"/>
              </a:spcAft>
            </a:pPr>
            <a:r>
              <a:rPr lang="en-US" b="1" kern="1400" dirty="0">
                <a:effectLst/>
                <a:ea typeface="Times New Roman" panose="02020603050405020304" pitchFamily="18" charset="0"/>
              </a:rPr>
              <a:t>UNIVERSITY OF THESSALY</a:t>
            </a:r>
          </a:p>
          <a:p>
            <a:pPr algn="ctr" hangingPunct="0">
              <a:spcAft>
                <a:spcPts val="600"/>
              </a:spcAft>
            </a:pPr>
            <a:endParaRPr lang="el-GR" kern="1400" dirty="0">
              <a:effectLst/>
              <a:ea typeface="Times New Roman" panose="02020603050405020304" pitchFamily="18" charset="0"/>
            </a:endParaRPr>
          </a:p>
          <a:p>
            <a:pPr algn="ctr" hangingPunct="0">
              <a:spcAft>
                <a:spcPts val="600"/>
              </a:spcAft>
            </a:pPr>
            <a:r>
              <a:rPr lang="en-US" b="1" kern="1400" dirty="0">
                <a:effectLst/>
                <a:ea typeface="Times New Roman" panose="02020603050405020304" pitchFamily="18" charset="0"/>
              </a:rPr>
              <a:t>SCHOOL OF ENGINEERING</a:t>
            </a:r>
            <a:endParaRPr lang="el-GR" kern="1400" dirty="0">
              <a:effectLst/>
              <a:ea typeface="Times New Roman" panose="02020603050405020304" pitchFamily="18" charset="0"/>
            </a:endParaRPr>
          </a:p>
          <a:p>
            <a:pPr algn="ctr" hangingPunct="0">
              <a:spcAft>
                <a:spcPts val="600"/>
              </a:spcAft>
            </a:pPr>
            <a:r>
              <a:rPr lang="en-US" b="1" kern="1400" dirty="0">
                <a:ea typeface="Times New Roman" panose="02020603050405020304" pitchFamily="18" charset="0"/>
              </a:rPr>
              <a:t>DEPARTMENT OF ELECTRICAL AND COMPUTER ENGINEERING</a:t>
            </a:r>
            <a:endParaRPr lang="en-US" b="1" kern="1400" dirty="0">
              <a:effectLst/>
              <a:ea typeface="Times New Roman" panose="02020603050405020304" pitchFamily="18" charset="0"/>
            </a:endParaRPr>
          </a:p>
          <a:p>
            <a:pPr algn="ctr" hangingPunct="0">
              <a:spcAft>
                <a:spcPts val="600"/>
              </a:spcAft>
            </a:pPr>
            <a:r>
              <a:rPr lang="el-GR" b="1" kern="1400" dirty="0">
                <a:effectLst/>
                <a:ea typeface="Times New Roman" panose="02020603050405020304" pitchFamily="18" charset="0"/>
              </a:rPr>
              <a:t> </a:t>
            </a:r>
            <a:endParaRPr lang="el-GR" kern="1400" dirty="0">
              <a:effectLst/>
              <a:ea typeface="Times New Roman" panose="02020603050405020304" pitchFamily="18" charset="0"/>
            </a:endParaRPr>
          </a:p>
          <a:p>
            <a:pPr indent="215900" algn="ctr">
              <a:spcAft>
                <a:spcPts val="800"/>
              </a:spcAft>
            </a:pPr>
            <a:r>
              <a:rPr lang="en-US" b="1" dirty="0">
                <a:effectLst/>
                <a:ea typeface="Calibri" panose="020F0502020204030204" pitchFamily="34" charset="0"/>
                <a:cs typeface="Calibri" panose="020F0502020204030204" pitchFamily="34" charset="0"/>
              </a:rPr>
              <a:t>Separation, Classification, and Localization of Acoustic Events from </a:t>
            </a:r>
          </a:p>
          <a:p>
            <a:pPr indent="215900" algn="ctr">
              <a:spcAft>
                <a:spcPts val="800"/>
              </a:spcAft>
            </a:pPr>
            <a:r>
              <a:rPr lang="en-US" b="1" dirty="0">
                <a:effectLst/>
                <a:ea typeface="Calibri" panose="020F0502020204030204" pitchFamily="34" charset="0"/>
                <a:cs typeface="Calibri" panose="020F0502020204030204" pitchFamily="34" charset="0"/>
              </a:rPr>
              <a:t>Multi-channel Audio Signals</a:t>
            </a:r>
            <a:endParaRPr lang="el-GR" kern="1400" dirty="0">
              <a:effectLst/>
              <a:ea typeface="Times New Roman" panose="02020603050405020304" pitchFamily="18" charset="0"/>
            </a:endParaRPr>
          </a:p>
          <a:p>
            <a:pPr algn="ctr" hangingPunct="0">
              <a:spcAft>
                <a:spcPts val="600"/>
              </a:spcAft>
            </a:pPr>
            <a:endParaRPr lang="en-US" kern="1400" dirty="0">
              <a:effectLst/>
              <a:ea typeface="Times New Roman" panose="02020603050405020304" pitchFamily="18" charset="0"/>
            </a:endParaRPr>
          </a:p>
          <a:p>
            <a:pPr algn="ctr" hangingPunct="0">
              <a:spcAft>
                <a:spcPts val="600"/>
              </a:spcAft>
            </a:pPr>
            <a:r>
              <a:rPr lang="en-US" kern="1400" dirty="0">
                <a:effectLst/>
                <a:ea typeface="Times New Roman" panose="02020603050405020304" pitchFamily="18" charset="0"/>
              </a:rPr>
              <a:t>Diploma Thesis</a:t>
            </a:r>
            <a:endParaRPr lang="el-GR" kern="1400" dirty="0">
              <a:effectLst/>
              <a:ea typeface="Times New Roman" panose="02020603050405020304" pitchFamily="18" charset="0"/>
            </a:endParaRPr>
          </a:p>
          <a:p>
            <a:pPr indent="215900" algn="ctr">
              <a:spcAft>
                <a:spcPts val="800"/>
              </a:spcAft>
            </a:pPr>
            <a:r>
              <a:rPr lang="en-US" sz="2000" b="1" kern="1400" dirty="0">
                <a:effectLst/>
                <a:ea typeface="Times New Roman" panose="02020603050405020304" pitchFamily="18" charset="0"/>
                <a:cs typeface="Calibri" panose="020F0502020204030204" pitchFamily="34" charset="0"/>
              </a:rPr>
              <a:t>Moirotsos Georgios</a:t>
            </a:r>
            <a:endParaRPr lang="el-GR" sz="2000" kern="1400" dirty="0">
              <a:effectLst/>
              <a:ea typeface="Times New Roman" panose="02020603050405020304" pitchFamily="18" charset="0"/>
            </a:endParaRPr>
          </a:p>
          <a:p>
            <a:pPr algn="ctr" hangingPunct="0">
              <a:spcAft>
                <a:spcPts val="600"/>
              </a:spcAft>
            </a:pPr>
            <a:r>
              <a:rPr lang="en-US" kern="1400" dirty="0">
                <a:effectLst/>
                <a:ea typeface="Times New Roman" panose="02020603050405020304" pitchFamily="18" charset="0"/>
              </a:rPr>
              <a:t>Supervisor</a:t>
            </a:r>
            <a:r>
              <a:rPr lang="el-GR" kern="1400" dirty="0">
                <a:effectLst/>
                <a:ea typeface="Times New Roman" panose="02020603050405020304" pitchFamily="18" charset="0"/>
              </a:rPr>
              <a:t>: </a:t>
            </a:r>
            <a:r>
              <a:rPr lang="en-US" kern="1400" dirty="0">
                <a:effectLst/>
                <a:ea typeface="Times New Roman" panose="02020603050405020304" pitchFamily="18" charset="0"/>
              </a:rPr>
              <a:t>Potamianos Gerasimos</a:t>
            </a:r>
            <a:endParaRPr lang="el-GR" kern="1400" dirty="0">
              <a:effectLst/>
              <a:ea typeface="Times New Roman" panose="02020603050405020304" pitchFamily="18" charset="0"/>
            </a:endParaRPr>
          </a:p>
          <a:p>
            <a:pPr algn="ctr" hangingPunct="0">
              <a:spcAft>
                <a:spcPts val="600"/>
              </a:spcAft>
            </a:pPr>
            <a:endParaRPr lang="el-GR" kern="1400" dirty="0">
              <a:effectLst/>
              <a:ea typeface="Times New Roman" panose="02020603050405020304" pitchFamily="18" charset="0"/>
            </a:endParaRPr>
          </a:p>
        </p:txBody>
      </p:sp>
      <p:sp>
        <p:nvSpPr>
          <p:cNvPr id="7" name="Θέση ημερομηνίας 6">
            <a:extLst>
              <a:ext uri="{FF2B5EF4-FFF2-40B4-BE49-F238E27FC236}">
                <a16:creationId xmlns:a16="http://schemas.microsoft.com/office/drawing/2014/main" id="{645C3A24-FF72-415C-9194-18684BDCDD27}"/>
              </a:ext>
            </a:extLst>
          </p:cNvPr>
          <p:cNvSpPr>
            <a:spLocks noGrp="1"/>
          </p:cNvSpPr>
          <p:nvPr>
            <p:ph type="dt" sz="half" idx="10"/>
          </p:nvPr>
        </p:nvSpPr>
        <p:spPr>
          <a:xfrm>
            <a:off x="4257261" y="6327832"/>
            <a:ext cx="3677478" cy="365125"/>
          </a:xfrm>
        </p:spPr>
        <p:txBody>
          <a:bodyPr/>
          <a:lstStyle/>
          <a:p>
            <a:pPr lvl="1" algn="ctr"/>
            <a:r>
              <a:rPr lang="el-GR" dirty="0">
                <a:solidFill>
                  <a:schemeClr val="tx1"/>
                </a:solidFill>
              </a:rPr>
              <a:t>25 Σεπτεμβρίου 2026</a:t>
            </a:r>
          </a:p>
        </p:txBody>
      </p:sp>
      <p:pic>
        <p:nvPicPr>
          <p:cNvPr id="3" name="Εικόνα 2">
            <a:extLst>
              <a:ext uri="{FF2B5EF4-FFF2-40B4-BE49-F238E27FC236}">
                <a16:creationId xmlns:a16="http://schemas.microsoft.com/office/drawing/2014/main" id="{1A75CB21-9095-EFAE-AAE4-79CD515C4B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47957" y="382173"/>
            <a:ext cx="1368866" cy="1368866"/>
          </a:xfrm>
          <a:prstGeom prst="rect">
            <a:avLst/>
          </a:prstGeom>
        </p:spPr>
      </p:pic>
    </p:spTree>
    <p:extLst>
      <p:ext uri="{BB962C8B-B14F-4D97-AF65-F5344CB8AC3E}">
        <p14:creationId xmlns:p14="http://schemas.microsoft.com/office/powerpoint/2010/main" val="14522803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708022-EC3C-BA91-60E1-F35F8E5ED91B}"/>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6288E1C9-C377-67D1-E70D-7A49C42BB2A9}"/>
              </a:ext>
            </a:extLst>
          </p:cNvPr>
          <p:cNvSpPr txBox="1"/>
          <p:nvPr/>
        </p:nvSpPr>
        <p:spPr>
          <a:xfrm>
            <a:off x="1033670" y="688118"/>
            <a:ext cx="2492605" cy="584775"/>
          </a:xfrm>
          <a:prstGeom prst="rect">
            <a:avLst/>
          </a:prstGeom>
          <a:noFill/>
        </p:spPr>
        <p:txBody>
          <a:bodyPr wrap="none" rtlCol="0">
            <a:spAutoFit/>
          </a:bodyPr>
          <a:lstStyle/>
          <a:p>
            <a:r>
              <a:rPr lang="en-US" sz="3200" b="1" dirty="0">
                <a:solidFill>
                  <a:schemeClr val="bg1"/>
                </a:solidFill>
              </a:rPr>
              <a:t>Related Work</a:t>
            </a:r>
            <a:endParaRPr lang="el-GR" sz="3200" b="1" dirty="0">
              <a:solidFill>
                <a:schemeClr val="bg1"/>
              </a:solidFill>
            </a:endParaRPr>
          </a:p>
        </p:txBody>
      </p:sp>
      <p:sp>
        <p:nvSpPr>
          <p:cNvPr id="10" name="Ορθογώνιο: Στρογγύλεμα διαγώνιων γωνιών 9">
            <a:extLst>
              <a:ext uri="{FF2B5EF4-FFF2-40B4-BE49-F238E27FC236}">
                <a16:creationId xmlns:a16="http://schemas.microsoft.com/office/drawing/2014/main" id="{5E12B06C-6B67-3282-C340-163CA82C96A0}"/>
              </a:ext>
            </a:extLst>
          </p:cNvPr>
          <p:cNvSpPr/>
          <p:nvPr/>
        </p:nvSpPr>
        <p:spPr>
          <a:xfrm>
            <a:off x="510989" y="365126"/>
            <a:ext cx="11196786" cy="707886"/>
          </a:xfrm>
          <a:prstGeom prst="round2Diag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t>Thesis </a:t>
            </a:r>
            <a:r>
              <a:rPr lang="el-GR" sz="3200" b="1" dirty="0"/>
              <a:t>Research </a:t>
            </a:r>
            <a:r>
              <a:rPr lang="en-US" sz="3200" b="1" dirty="0"/>
              <a:t>Fie</a:t>
            </a:r>
            <a:r>
              <a:rPr lang="el-GR" sz="3200" b="1" dirty="0"/>
              <a:t>l</a:t>
            </a:r>
            <a:r>
              <a:rPr lang="en-US" sz="3200" b="1" dirty="0"/>
              <a:t>ds</a:t>
            </a:r>
            <a:r>
              <a:rPr lang="el-GR" sz="3200" b="1" dirty="0"/>
              <a:t> and </a:t>
            </a:r>
            <a:r>
              <a:rPr lang="en-US" sz="3200" b="1" dirty="0"/>
              <a:t>Inspiration</a:t>
            </a:r>
            <a:endParaRPr lang="el-GR" sz="3200" b="1" dirty="0"/>
          </a:p>
        </p:txBody>
      </p:sp>
      <p:sp>
        <p:nvSpPr>
          <p:cNvPr id="11" name="TextBox 10">
            <a:extLst>
              <a:ext uri="{FF2B5EF4-FFF2-40B4-BE49-F238E27FC236}">
                <a16:creationId xmlns:a16="http://schemas.microsoft.com/office/drawing/2014/main" id="{077F2A65-008D-5F86-2F02-2A5CEDE1DEB5}"/>
              </a:ext>
            </a:extLst>
          </p:cNvPr>
          <p:cNvSpPr txBox="1"/>
          <p:nvPr/>
        </p:nvSpPr>
        <p:spPr>
          <a:xfrm>
            <a:off x="510989" y="1073012"/>
            <a:ext cx="11196786" cy="1200329"/>
          </a:xfrm>
          <a:prstGeom prst="rect">
            <a:avLst/>
          </a:prstGeom>
          <a:noFill/>
        </p:spPr>
        <p:txBody>
          <a:bodyPr wrap="square" rtlCol="0">
            <a:spAutoFit/>
          </a:bodyPr>
          <a:lstStyle/>
          <a:p>
            <a:pPr>
              <a:buClr>
                <a:schemeClr val="accent1">
                  <a:lumMod val="75000"/>
                </a:schemeClr>
              </a:buClr>
            </a:pPr>
            <a:r>
              <a:rPr lang="en-US" b="1" dirty="0"/>
              <a:t>This Thesis lies at the intersection of artificial intelligence and audio and signal processing. Its three main tasks – separation, classification, and localization – are inspired by capabilities of the human auditory system: </a:t>
            </a:r>
            <a:r>
              <a:rPr lang="el-GR" b="1" dirty="0"/>
              <a:t>decomposing </a:t>
            </a:r>
            <a:r>
              <a:rPr lang="en-US" b="1" dirty="0"/>
              <a:t>a</a:t>
            </a:r>
            <a:r>
              <a:rPr lang="el-GR" b="1" dirty="0"/>
              <a:t> </a:t>
            </a:r>
            <a:r>
              <a:rPr lang="en-US" b="1" dirty="0"/>
              <a:t>mixture</a:t>
            </a:r>
            <a:r>
              <a:rPr lang="el-GR" b="1" dirty="0"/>
              <a:t> into </a:t>
            </a:r>
            <a:r>
              <a:rPr lang="en-US" b="1" dirty="0"/>
              <a:t>its</a:t>
            </a:r>
            <a:r>
              <a:rPr lang="el-GR" b="1" dirty="0"/>
              <a:t> individual source </a:t>
            </a:r>
            <a:r>
              <a:rPr lang="en-US" b="1" dirty="0"/>
              <a:t>signals, recognizing what they are, and identifying where they are coming from.</a:t>
            </a:r>
          </a:p>
        </p:txBody>
      </p:sp>
      <p:sp>
        <p:nvSpPr>
          <p:cNvPr id="14" name="TextBox 13">
            <a:extLst>
              <a:ext uri="{FF2B5EF4-FFF2-40B4-BE49-F238E27FC236}">
                <a16:creationId xmlns:a16="http://schemas.microsoft.com/office/drawing/2014/main" id="{B5DFD49E-0136-C1D2-8CEC-FDFAF5770B56}"/>
              </a:ext>
            </a:extLst>
          </p:cNvPr>
          <p:cNvSpPr txBox="1"/>
          <p:nvPr/>
        </p:nvSpPr>
        <p:spPr>
          <a:xfrm>
            <a:off x="653087" y="3227339"/>
            <a:ext cx="3380669" cy="338554"/>
          </a:xfrm>
          <a:prstGeom prst="rect">
            <a:avLst/>
          </a:prstGeom>
          <a:noFill/>
        </p:spPr>
        <p:txBody>
          <a:bodyPr wrap="none" rtlCol="0">
            <a:spAutoFit/>
          </a:bodyPr>
          <a:lstStyle/>
          <a:p>
            <a:pPr>
              <a:buClr>
                <a:schemeClr val="accent1">
                  <a:lumMod val="75000"/>
                </a:schemeClr>
              </a:buClr>
            </a:pPr>
            <a:r>
              <a:rPr lang="el-GR" sz="1600" b="1" dirty="0"/>
              <a:t>Can I </a:t>
            </a:r>
            <a:r>
              <a:rPr lang="en-US" sz="1600" b="1" dirty="0"/>
              <a:t>hear each sound separately</a:t>
            </a:r>
            <a:r>
              <a:rPr lang="el-GR" sz="1600" b="1" dirty="0"/>
              <a:t>?</a:t>
            </a:r>
          </a:p>
        </p:txBody>
      </p:sp>
      <p:sp>
        <p:nvSpPr>
          <p:cNvPr id="15" name="TextBox 14">
            <a:extLst>
              <a:ext uri="{FF2B5EF4-FFF2-40B4-BE49-F238E27FC236}">
                <a16:creationId xmlns:a16="http://schemas.microsoft.com/office/drawing/2014/main" id="{B86D1572-1811-0451-46AE-02289298D0ED}"/>
              </a:ext>
            </a:extLst>
          </p:cNvPr>
          <p:cNvSpPr txBox="1"/>
          <p:nvPr/>
        </p:nvSpPr>
        <p:spPr>
          <a:xfrm>
            <a:off x="4058770" y="3227339"/>
            <a:ext cx="4868449" cy="338554"/>
          </a:xfrm>
          <a:prstGeom prst="rect">
            <a:avLst/>
          </a:prstGeom>
          <a:noFill/>
        </p:spPr>
        <p:txBody>
          <a:bodyPr wrap="square" rtlCol="0">
            <a:spAutoFit/>
          </a:bodyPr>
          <a:lstStyle/>
          <a:p>
            <a:pPr algn="ctr">
              <a:buClr>
                <a:schemeClr val="accent1">
                  <a:lumMod val="75000"/>
                </a:schemeClr>
              </a:buClr>
            </a:pPr>
            <a:r>
              <a:rPr lang="en-US" sz="1600" b="1" dirty="0"/>
              <a:t> What am I hearing?</a:t>
            </a:r>
            <a:endParaRPr lang="el-GR" sz="1600" b="1" dirty="0"/>
          </a:p>
        </p:txBody>
      </p:sp>
      <p:sp>
        <p:nvSpPr>
          <p:cNvPr id="25" name="TextBox 24">
            <a:extLst>
              <a:ext uri="{FF2B5EF4-FFF2-40B4-BE49-F238E27FC236}">
                <a16:creationId xmlns:a16="http://schemas.microsoft.com/office/drawing/2014/main" id="{64CDE3C5-56E7-BC7C-899A-CE57417A9E47}"/>
              </a:ext>
            </a:extLst>
          </p:cNvPr>
          <p:cNvSpPr txBox="1"/>
          <p:nvPr/>
        </p:nvSpPr>
        <p:spPr>
          <a:xfrm>
            <a:off x="4513444" y="2383134"/>
            <a:ext cx="2358136" cy="400110"/>
          </a:xfrm>
          <a:prstGeom prst="rect">
            <a:avLst/>
          </a:prstGeom>
          <a:noFill/>
        </p:spPr>
        <p:txBody>
          <a:bodyPr wrap="square" rtlCol="0">
            <a:spAutoFit/>
          </a:bodyPr>
          <a:lstStyle/>
          <a:p>
            <a:pPr>
              <a:buClr>
                <a:schemeClr val="accent1">
                  <a:lumMod val="75000"/>
                </a:schemeClr>
              </a:buClr>
            </a:pPr>
            <a:r>
              <a:rPr lang="en-US" sz="2000" b="1" dirty="0"/>
              <a:t>Our Inspiration</a:t>
            </a:r>
            <a:endParaRPr lang="el-GR" sz="2000" b="1" dirty="0"/>
          </a:p>
        </p:txBody>
      </p:sp>
      <p:cxnSp>
        <p:nvCxnSpPr>
          <p:cNvPr id="2" name="Ευθεία γραμμή σύνδεσης 1">
            <a:extLst>
              <a:ext uri="{FF2B5EF4-FFF2-40B4-BE49-F238E27FC236}">
                <a16:creationId xmlns:a16="http://schemas.microsoft.com/office/drawing/2014/main" id="{8AB832C0-C574-FA51-D041-9448719F3198}"/>
              </a:ext>
            </a:extLst>
          </p:cNvPr>
          <p:cNvCxnSpPr>
            <a:cxnSpLocks/>
          </p:cNvCxnSpPr>
          <p:nvPr/>
        </p:nvCxnSpPr>
        <p:spPr>
          <a:xfrm>
            <a:off x="8538926" y="3306557"/>
            <a:ext cx="0" cy="3227797"/>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4" name="Εικόνα 3">
            <a:extLst>
              <a:ext uri="{FF2B5EF4-FFF2-40B4-BE49-F238E27FC236}">
                <a16:creationId xmlns:a16="http://schemas.microsoft.com/office/drawing/2014/main" id="{45EABF1E-480D-18D3-311C-2C82F2C058F1}"/>
              </a:ext>
            </a:extLst>
          </p:cNvPr>
          <p:cNvPicPr>
            <a:picLocks noChangeAspect="1"/>
          </p:cNvPicPr>
          <p:nvPr/>
        </p:nvPicPr>
        <p:blipFill>
          <a:blip r:embed="rId2"/>
          <a:stretch>
            <a:fillRect/>
          </a:stretch>
        </p:blipFill>
        <p:spPr>
          <a:xfrm>
            <a:off x="4806247" y="4478377"/>
            <a:ext cx="3466673" cy="1860453"/>
          </a:xfrm>
          <a:prstGeom prst="rect">
            <a:avLst/>
          </a:prstGeom>
        </p:spPr>
      </p:pic>
      <p:sp>
        <p:nvSpPr>
          <p:cNvPr id="7" name="TextBox 6">
            <a:extLst>
              <a:ext uri="{FF2B5EF4-FFF2-40B4-BE49-F238E27FC236}">
                <a16:creationId xmlns:a16="http://schemas.microsoft.com/office/drawing/2014/main" id="{6CDD315C-E282-1ABD-3D92-8D55C4AAE490}"/>
              </a:ext>
            </a:extLst>
          </p:cNvPr>
          <p:cNvSpPr txBox="1"/>
          <p:nvPr/>
        </p:nvSpPr>
        <p:spPr>
          <a:xfrm>
            <a:off x="7932347" y="3227339"/>
            <a:ext cx="4868449" cy="338554"/>
          </a:xfrm>
          <a:prstGeom prst="rect">
            <a:avLst/>
          </a:prstGeom>
          <a:noFill/>
        </p:spPr>
        <p:txBody>
          <a:bodyPr wrap="square" rtlCol="0">
            <a:spAutoFit/>
          </a:bodyPr>
          <a:lstStyle/>
          <a:p>
            <a:pPr algn="ctr">
              <a:buClr>
                <a:schemeClr val="accent1">
                  <a:lumMod val="75000"/>
                </a:schemeClr>
              </a:buClr>
            </a:pPr>
            <a:r>
              <a:rPr lang="en-US" sz="1600" b="1" dirty="0"/>
              <a:t> Where is the sound coming from?</a:t>
            </a:r>
            <a:endParaRPr lang="el-GR" sz="1600" b="1" dirty="0"/>
          </a:p>
        </p:txBody>
      </p:sp>
      <p:cxnSp>
        <p:nvCxnSpPr>
          <p:cNvPr id="19" name="Ευθεία γραμμή σύνδεσης 18">
            <a:extLst>
              <a:ext uri="{FF2B5EF4-FFF2-40B4-BE49-F238E27FC236}">
                <a16:creationId xmlns:a16="http://schemas.microsoft.com/office/drawing/2014/main" id="{AEFAADF8-ADCA-F38F-E5FE-608CCEFE6D76}"/>
              </a:ext>
            </a:extLst>
          </p:cNvPr>
          <p:cNvCxnSpPr>
            <a:cxnSpLocks/>
          </p:cNvCxnSpPr>
          <p:nvPr/>
        </p:nvCxnSpPr>
        <p:spPr>
          <a:xfrm>
            <a:off x="4635374" y="3306556"/>
            <a:ext cx="0" cy="3227797"/>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21" name="Εικόνα 20">
            <a:extLst>
              <a:ext uri="{FF2B5EF4-FFF2-40B4-BE49-F238E27FC236}">
                <a16:creationId xmlns:a16="http://schemas.microsoft.com/office/drawing/2014/main" id="{56C29326-8CB6-78EB-6AB0-F37A401108DB}"/>
              </a:ext>
            </a:extLst>
          </p:cNvPr>
          <p:cNvPicPr>
            <a:picLocks noChangeAspect="1"/>
          </p:cNvPicPr>
          <p:nvPr/>
        </p:nvPicPr>
        <p:blipFill>
          <a:blip r:embed="rId3"/>
          <a:stretch>
            <a:fillRect/>
          </a:stretch>
        </p:blipFill>
        <p:spPr>
          <a:xfrm>
            <a:off x="653086" y="4525525"/>
            <a:ext cx="3551543" cy="1813306"/>
          </a:xfrm>
          <a:prstGeom prst="rect">
            <a:avLst/>
          </a:prstGeom>
        </p:spPr>
      </p:pic>
      <p:pic>
        <p:nvPicPr>
          <p:cNvPr id="27" name="Εικόνα 26">
            <a:extLst>
              <a:ext uri="{FF2B5EF4-FFF2-40B4-BE49-F238E27FC236}">
                <a16:creationId xmlns:a16="http://schemas.microsoft.com/office/drawing/2014/main" id="{12307036-CAB4-510D-8A77-FB0B91610182}"/>
              </a:ext>
            </a:extLst>
          </p:cNvPr>
          <p:cNvPicPr>
            <a:picLocks noChangeAspect="1"/>
          </p:cNvPicPr>
          <p:nvPr/>
        </p:nvPicPr>
        <p:blipFill>
          <a:blip r:embed="rId4"/>
          <a:stretch>
            <a:fillRect/>
          </a:stretch>
        </p:blipFill>
        <p:spPr>
          <a:xfrm>
            <a:off x="8841455" y="4478377"/>
            <a:ext cx="3143612" cy="1860453"/>
          </a:xfrm>
          <a:prstGeom prst="rect">
            <a:avLst/>
          </a:prstGeom>
        </p:spPr>
      </p:pic>
    </p:spTree>
    <p:extLst>
      <p:ext uri="{BB962C8B-B14F-4D97-AF65-F5344CB8AC3E}">
        <p14:creationId xmlns:p14="http://schemas.microsoft.com/office/powerpoint/2010/main" val="28598650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4B002AFA-5455-42E6-8A96-8643D2FD3DF4}"/>
              </a:ext>
            </a:extLst>
          </p:cNvPr>
          <p:cNvSpPr txBox="1"/>
          <p:nvPr/>
        </p:nvSpPr>
        <p:spPr>
          <a:xfrm>
            <a:off x="1033670" y="688118"/>
            <a:ext cx="2492605" cy="584775"/>
          </a:xfrm>
          <a:prstGeom prst="rect">
            <a:avLst/>
          </a:prstGeom>
          <a:noFill/>
        </p:spPr>
        <p:txBody>
          <a:bodyPr wrap="none" rtlCol="0">
            <a:spAutoFit/>
          </a:bodyPr>
          <a:lstStyle/>
          <a:p>
            <a:r>
              <a:rPr lang="en-US" sz="3200" b="1" dirty="0">
                <a:solidFill>
                  <a:schemeClr val="bg1"/>
                </a:solidFill>
              </a:rPr>
              <a:t>Related Work</a:t>
            </a:r>
            <a:endParaRPr lang="el-GR" sz="3200" b="1" dirty="0">
              <a:solidFill>
                <a:schemeClr val="bg1"/>
              </a:solidFill>
            </a:endParaRPr>
          </a:p>
        </p:txBody>
      </p:sp>
      <p:sp>
        <p:nvSpPr>
          <p:cNvPr id="10" name="Ορθογώνιο: Στρογγύλεμα διαγώνιων γωνιών 9">
            <a:extLst>
              <a:ext uri="{FF2B5EF4-FFF2-40B4-BE49-F238E27FC236}">
                <a16:creationId xmlns:a16="http://schemas.microsoft.com/office/drawing/2014/main" id="{A42EE3B2-F915-52F3-A24D-3C18C86D4C6E}"/>
              </a:ext>
            </a:extLst>
          </p:cNvPr>
          <p:cNvSpPr/>
          <p:nvPr/>
        </p:nvSpPr>
        <p:spPr>
          <a:xfrm>
            <a:off x="510989" y="365126"/>
            <a:ext cx="11196786" cy="707886"/>
          </a:xfrm>
          <a:prstGeom prst="round2Diag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t>Thesis Problem and Objective</a:t>
            </a:r>
            <a:endParaRPr lang="el-GR" sz="3200" b="1" dirty="0"/>
          </a:p>
        </p:txBody>
      </p:sp>
      <p:sp>
        <p:nvSpPr>
          <p:cNvPr id="11" name="TextBox 10">
            <a:extLst>
              <a:ext uri="{FF2B5EF4-FFF2-40B4-BE49-F238E27FC236}">
                <a16:creationId xmlns:a16="http://schemas.microsoft.com/office/drawing/2014/main" id="{42F8807C-C0FE-DDB3-533B-F711AA5F5402}"/>
              </a:ext>
            </a:extLst>
          </p:cNvPr>
          <p:cNvSpPr txBox="1"/>
          <p:nvPr/>
        </p:nvSpPr>
        <p:spPr>
          <a:xfrm>
            <a:off x="510989" y="1297017"/>
            <a:ext cx="11196786" cy="2616101"/>
          </a:xfrm>
          <a:prstGeom prst="rect">
            <a:avLst/>
          </a:prstGeom>
          <a:noFill/>
        </p:spPr>
        <p:txBody>
          <a:bodyPr wrap="square" rtlCol="0">
            <a:spAutoFit/>
          </a:bodyPr>
          <a:lstStyle/>
          <a:p>
            <a:pPr marL="342900" indent="-342900">
              <a:buClr>
                <a:schemeClr val="accent1">
                  <a:lumMod val="75000"/>
                </a:schemeClr>
              </a:buClr>
              <a:buFont typeface="Wingdings" panose="05000000000000000000" pitchFamily="2" charset="2"/>
              <a:buChar char="Ø"/>
            </a:pPr>
            <a:r>
              <a:rPr lang="en-US" b="1" dirty="0"/>
              <a:t>Problem:</a:t>
            </a:r>
            <a:r>
              <a:rPr lang="en-US" dirty="0"/>
              <a:t> The analysis and understanding of complex acoustic scenes containing multiple simultaneously active sound sources captured by multiple microphones.</a:t>
            </a:r>
          </a:p>
          <a:p>
            <a:pPr marL="342900" indent="-342900">
              <a:buClr>
                <a:schemeClr val="accent1">
                  <a:lumMod val="75000"/>
                </a:schemeClr>
              </a:buClr>
              <a:buFont typeface="Wingdings" panose="05000000000000000000" pitchFamily="2" charset="2"/>
              <a:buChar char="Ø"/>
            </a:pPr>
            <a:endParaRPr lang="en-US" b="1" dirty="0"/>
          </a:p>
          <a:p>
            <a:pPr marL="342900" indent="-342900">
              <a:buClr>
                <a:schemeClr val="accent1">
                  <a:lumMod val="75000"/>
                </a:schemeClr>
              </a:buClr>
              <a:buFont typeface="Wingdings" panose="05000000000000000000" pitchFamily="2" charset="2"/>
              <a:buChar char="Ø"/>
            </a:pPr>
            <a:r>
              <a:rPr lang="en-US" b="1" dirty="0"/>
              <a:t>Objective: </a:t>
            </a:r>
            <a:r>
              <a:rPr lang="en-US" dirty="0"/>
              <a:t>Develop and evaluate a pipeline that:</a:t>
            </a:r>
          </a:p>
          <a:p>
            <a:pPr marL="914400" lvl="1" indent="-457200">
              <a:buClr>
                <a:schemeClr val="accent1">
                  <a:lumMod val="75000"/>
                </a:schemeClr>
              </a:buClr>
              <a:buFont typeface="+mj-lt"/>
              <a:buAutoNum type="arabicPeriod"/>
            </a:pPr>
            <a:r>
              <a:rPr lang="en-US" dirty="0"/>
              <a:t>Separates the underlying sources without prior knowledge about the mixing process. This is called blind source separation (BSS).</a:t>
            </a:r>
          </a:p>
          <a:p>
            <a:pPr marL="914400" lvl="1" indent="-457200">
              <a:buClr>
                <a:schemeClr val="accent1">
                  <a:lumMod val="75000"/>
                </a:schemeClr>
              </a:buClr>
              <a:buFont typeface="+mj-lt"/>
              <a:buAutoNum type="arabicPeriod"/>
            </a:pPr>
            <a:r>
              <a:rPr lang="en-US" dirty="0"/>
              <a:t>Classifies the acoustic event in each separated signal</a:t>
            </a:r>
            <a:r>
              <a:rPr lang="el-GR" dirty="0"/>
              <a:t>.</a:t>
            </a:r>
            <a:endParaRPr lang="en-US" dirty="0"/>
          </a:p>
          <a:p>
            <a:pPr marL="914400" lvl="1" indent="-457200">
              <a:buClr>
                <a:schemeClr val="accent1">
                  <a:lumMod val="75000"/>
                </a:schemeClr>
              </a:buClr>
              <a:buFont typeface="+mj-lt"/>
              <a:buAutoNum type="arabicPeriod"/>
            </a:pPr>
            <a:r>
              <a:rPr lang="en-US" dirty="0"/>
              <a:t>Estimates the direction of arrival (DOA) of each estimated separated signal.</a:t>
            </a:r>
          </a:p>
          <a:p>
            <a:pPr marL="914400" lvl="1" indent="-457200">
              <a:buClr>
                <a:schemeClr val="accent1">
                  <a:lumMod val="75000"/>
                </a:schemeClr>
              </a:buClr>
              <a:buFont typeface="+mj-lt"/>
              <a:buAutoNum type="arabicPeriod"/>
            </a:pPr>
            <a:endParaRPr lang="en-US" sz="2000" dirty="0"/>
          </a:p>
        </p:txBody>
      </p:sp>
      <p:pic>
        <p:nvPicPr>
          <p:cNvPr id="3" name="Εικόνα 2">
            <a:extLst>
              <a:ext uri="{FF2B5EF4-FFF2-40B4-BE49-F238E27FC236}">
                <a16:creationId xmlns:a16="http://schemas.microsoft.com/office/drawing/2014/main" id="{3EB024AA-909F-DB24-EF63-4810DD903471}"/>
              </a:ext>
            </a:extLst>
          </p:cNvPr>
          <p:cNvPicPr>
            <a:picLocks noChangeAspect="1"/>
          </p:cNvPicPr>
          <p:nvPr/>
        </p:nvPicPr>
        <p:blipFill>
          <a:blip r:embed="rId2"/>
          <a:stretch>
            <a:fillRect/>
          </a:stretch>
        </p:blipFill>
        <p:spPr>
          <a:xfrm>
            <a:off x="2009870" y="3972949"/>
            <a:ext cx="7340653" cy="2519925"/>
          </a:xfrm>
          <a:prstGeom prst="rect">
            <a:avLst/>
          </a:prstGeom>
        </p:spPr>
      </p:pic>
    </p:spTree>
    <p:extLst>
      <p:ext uri="{BB962C8B-B14F-4D97-AF65-F5344CB8AC3E}">
        <p14:creationId xmlns:p14="http://schemas.microsoft.com/office/powerpoint/2010/main" val="3820215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356D7-EC48-6949-6510-AE6A2135DC46}"/>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A47026A4-823A-256B-E6E2-B44A6C6E3DB8}"/>
              </a:ext>
            </a:extLst>
          </p:cNvPr>
          <p:cNvSpPr txBox="1"/>
          <p:nvPr/>
        </p:nvSpPr>
        <p:spPr>
          <a:xfrm>
            <a:off x="1033670" y="688118"/>
            <a:ext cx="2492605" cy="584775"/>
          </a:xfrm>
          <a:prstGeom prst="rect">
            <a:avLst/>
          </a:prstGeom>
          <a:noFill/>
        </p:spPr>
        <p:txBody>
          <a:bodyPr wrap="none" rtlCol="0">
            <a:spAutoFit/>
          </a:bodyPr>
          <a:lstStyle/>
          <a:p>
            <a:r>
              <a:rPr lang="en-US" sz="3200" b="1" dirty="0">
                <a:solidFill>
                  <a:schemeClr val="bg1"/>
                </a:solidFill>
              </a:rPr>
              <a:t>Related Work</a:t>
            </a:r>
            <a:endParaRPr lang="el-GR" sz="3200" b="1" dirty="0">
              <a:solidFill>
                <a:schemeClr val="bg1"/>
              </a:solidFill>
            </a:endParaRPr>
          </a:p>
        </p:txBody>
      </p:sp>
      <p:sp>
        <p:nvSpPr>
          <p:cNvPr id="10" name="Ορθογώνιο: Στρογγύλεμα διαγώνιων γωνιών 9">
            <a:extLst>
              <a:ext uri="{FF2B5EF4-FFF2-40B4-BE49-F238E27FC236}">
                <a16:creationId xmlns:a16="http://schemas.microsoft.com/office/drawing/2014/main" id="{7EC95CF9-5DB8-1FCF-B2CF-C5AF348015B4}"/>
              </a:ext>
            </a:extLst>
          </p:cNvPr>
          <p:cNvSpPr/>
          <p:nvPr/>
        </p:nvSpPr>
        <p:spPr>
          <a:xfrm>
            <a:off x="497607" y="123059"/>
            <a:ext cx="11196786" cy="707886"/>
          </a:xfrm>
          <a:prstGeom prst="round2Diag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t>Acoustic Scenario</a:t>
            </a:r>
            <a:endParaRPr lang="el-GR" sz="3200" b="1" dirty="0"/>
          </a:p>
        </p:txBody>
      </p:sp>
      <p:sp>
        <p:nvSpPr>
          <p:cNvPr id="11" name="TextBox 10">
            <a:extLst>
              <a:ext uri="{FF2B5EF4-FFF2-40B4-BE49-F238E27FC236}">
                <a16:creationId xmlns:a16="http://schemas.microsoft.com/office/drawing/2014/main" id="{93C3545E-9EEF-FE3F-A3F4-F5EFA5E9819F}"/>
              </a:ext>
            </a:extLst>
          </p:cNvPr>
          <p:cNvSpPr txBox="1"/>
          <p:nvPr/>
        </p:nvSpPr>
        <p:spPr>
          <a:xfrm>
            <a:off x="497607" y="875402"/>
            <a:ext cx="11196786" cy="3447098"/>
          </a:xfrm>
          <a:prstGeom prst="rect">
            <a:avLst/>
          </a:prstGeom>
          <a:noFill/>
        </p:spPr>
        <p:txBody>
          <a:bodyPr wrap="square" rtlCol="0">
            <a:spAutoFit/>
          </a:bodyPr>
          <a:lstStyle/>
          <a:p>
            <a:pPr marL="285750" indent="-285750">
              <a:buClr>
                <a:schemeClr val="accent1">
                  <a:lumMod val="75000"/>
                </a:schemeClr>
              </a:buClr>
              <a:buFont typeface="Wingdings" panose="05000000000000000000" pitchFamily="2" charset="2"/>
              <a:buChar char="Ø"/>
            </a:pPr>
            <a:r>
              <a:rPr lang="en-US" b="1" dirty="0"/>
              <a:t>The acoustic scenario considered in this Thesis consists of a multichannel audio mixture signal of: </a:t>
            </a:r>
            <a:endParaRPr lang="el-GR" b="1" dirty="0"/>
          </a:p>
          <a:p>
            <a:pPr marL="285750" indent="-285750">
              <a:buClr>
                <a:schemeClr val="accent1">
                  <a:lumMod val="75000"/>
                </a:schemeClr>
              </a:buClr>
              <a:buFont typeface="Arial" panose="020B0604020202020204" pitchFamily="34" charset="0"/>
              <a:buChar char="•"/>
            </a:pPr>
            <a:r>
              <a:rPr lang="el-GR" dirty="0"/>
              <a:t>1–3 </a:t>
            </a:r>
            <a:r>
              <a:rPr lang="en-US" dirty="0"/>
              <a:t>simultaneous target acoustic events.</a:t>
            </a:r>
          </a:p>
          <a:p>
            <a:pPr marL="285750" indent="-285750">
              <a:buClr>
                <a:schemeClr val="accent1">
                  <a:lumMod val="75000"/>
                </a:schemeClr>
              </a:buClr>
              <a:buFont typeface="Arial" panose="020B0604020202020204" pitchFamily="34" charset="0"/>
              <a:buChar char="•"/>
            </a:pPr>
            <a:r>
              <a:rPr lang="en-US" dirty="0"/>
              <a:t>4 microphone channels.</a:t>
            </a:r>
          </a:p>
          <a:p>
            <a:pPr marL="285750" indent="-285750">
              <a:buClr>
                <a:schemeClr val="accent1">
                  <a:lumMod val="75000"/>
                </a:schemeClr>
              </a:buClr>
              <a:buFont typeface="Arial" panose="020B0604020202020204" pitchFamily="34" charset="0"/>
              <a:buChar char="•"/>
            </a:pPr>
            <a:r>
              <a:rPr lang="el-GR" dirty="0"/>
              <a:t>The </a:t>
            </a:r>
            <a:r>
              <a:rPr lang="en-US" dirty="0"/>
              <a:t>duration</a:t>
            </a:r>
            <a:r>
              <a:rPr lang="el-GR" dirty="0"/>
              <a:t> of </a:t>
            </a:r>
            <a:r>
              <a:rPr lang="en-US" dirty="0"/>
              <a:t>all mixture clips is fixed at 10 seconds</a:t>
            </a:r>
            <a:r>
              <a:rPr lang="el-GR" dirty="0"/>
              <a:t>.</a:t>
            </a:r>
            <a:endParaRPr lang="en-US" dirty="0"/>
          </a:p>
          <a:p>
            <a:pPr marL="285750" indent="-285750">
              <a:buClr>
                <a:schemeClr val="accent1">
                  <a:lumMod val="75000"/>
                </a:schemeClr>
              </a:buClr>
              <a:buFont typeface="Arial" panose="020B0604020202020204" pitchFamily="34" charset="0"/>
              <a:buChar char="•"/>
            </a:pPr>
            <a:r>
              <a:rPr lang="en-US" dirty="0"/>
              <a:t>All files are available in 16-bit wav format at 32 kHz.</a:t>
            </a:r>
          </a:p>
          <a:p>
            <a:pPr marL="285750" indent="-285750">
              <a:buClr>
                <a:schemeClr val="accent1">
                  <a:lumMod val="75000"/>
                </a:schemeClr>
              </a:buClr>
              <a:buFont typeface="Arial" panose="020B0604020202020204" pitchFamily="34" charset="0"/>
              <a:buChar char="•"/>
            </a:pPr>
            <a:r>
              <a:rPr lang="en-US" dirty="0"/>
              <a:t>Each microphone captures a different channel-specific mixture of the same acoustic scene. The four channels jointly form one multichannel mixture signal.</a:t>
            </a:r>
          </a:p>
          <a:p>
            <a:pPr marL="285750" indent="-285750">
              <a:buClr>
                <a:schemeClr val="accent1">
                  <a:lumMod val="75000"/>
                </a:schemeClr>
              </a:buClr>
              <a:buFont typeface="Wingdings" panose="05000000000000000000" pitchFamily="2" charset="2"/>
              <a:buChar char="Ø"/>
            </a:pPr>
            <a:r>
              <a:rPr lang="en-US" b="1" dirty="0"/>
              <a:t>Additional acoustic conditions:</a:t>
            </a:r>
          </a:p>
          <a:p>
            <a:pPr marL="285750" indent="-285750">
              <a:buClr>
                <a:schemeClr val="accent1">
                  <a:lumMod val="75000"/>
                </a:schemeClr>
              </a:buClr>
              <a:buFont typeface="Arial" panose="020B0604020202020204" pitchFamily="34" charset="0"/>
              <a:buChar char="•"/>
            </a:pPr>
            <a:r>
              <a:rPr lang="en-US" dirty="0"/>
              <a:t>1-2 optional</a:t>
            </a:r>
            <a:r>
              <a:rPr lang="el-GR" dirty="0"/>
              <a:t> non-</a:t>
            </a:r>
            <a:r>
              <a:rPr lang="en-US" dirty="0"/>
              <a:t>target</a:t>
            </a:r>
            <a:r>
              <a:rPr lang="el-GR" dirty="0"/>
              <a:t> </a:t>
            </a:r>
            <a:r>
              <a:rPr lang="en-US" dirty="0"/>
              <a:t>acoustic</a:t>
            </a:r>
            <a:r>
              <a:rPr lang="el-GR" dirty="0"/>
              <a:t> </a:t>
            </a:r>
            <a:r>
              <a:rPr lang="en-US" dirty="0"/>
              <a:t>events.</a:t>
            </a:r>
          </a:p>
          <a:p>
            <a:pPr marL="285750" indent="-285750">
              <a:buClr>
                <a:schemeClr val="accent1">
                  <a:lumMod val="75000"/>
                </a:schemeClr>
              </a:buClr>
              <a:buFont typeface="Arial" panose="020B0604020202020204" pitchFamily="34" charset="0"/>
              <a:buChar char="•"/>
            </a:pPr>
            <a:r>
              <a:rPr lang="en-US" dirty="0"/>
              <a:t>Non-directional background noise.</a:t>
            </a:r>
          </a:p>
          <a:p>
            <a:pPr marL="285750" indent="-285750">
              <a:buClr>
                <a:schemeClr val="accent1">
                  <a:lumMod val="75000"/>
                </a:schemeClr>
              </a:buClr>
              <a:buFont typeface="Arial" panose="020B0604020202020204" pitchFamily="34" charset="0"/>
              <a:buChar char="•"/>
            </a:pPr>
            <a:r>
              <a:rPr lang="en-US" dirty="0"/>
              <a:t>Room Impulse Responses (RIRs) model sound propagation and reverberation.</a:t>
            </a:r>
          </a:p>
          <a:p>
            <a:pPr marL="914400" lvl="1" indent="-457200">
              <a:buClr>
                <a:schemeClr val="accent1">
                  <a:lumMod val="75000"/>
                </a:schemeClr>
              </a:buClr>
              <a:buFont typeface="+mj-lt"/>
              <a:buAutoNum type="arabicPeriod"/>
            </a:pPr>
            <a:endParaRPr lang="en-US" sz="2000" dirty="0"/>
          </a:p>
        </p:txBody>
      </p:sp>
      <p:sp>
        <p:nvSpPr>
          <p:cNvPr id="2" name="TextBox 1">
            <a:extLst>
              <a:ext uri="{FF2B5EF4-FFF2-40B4-BE49-F238E27FC236}">
                <a16:creationId xmlns:a16="http://schemas.microsoft.com/office/drawing/2014/main" id="{02B46971-C580-A5BE-8690-FF0F19ECA970}"/>
              </a:ext>
            </a:extLst>
          </p:cNvPr>
          <p:cNvSpPr txBox="1"/>
          <p:nvPr/>
        </p:nvSpPr>
        <p:spPr>
          <a:xfrm>
            <a:off x="193439" y="4842333"/>
            <a:ext cx="5078995" cy="646331"/>
          </a:xfrm>
          <a:prstGeom prst="rect">
            <a:avLst/>
          </a:prstGeom>
          <a:noFill/>
        </p:spPr>
        <p:txBody>
          <a:bodyPr wrap="square" rtlCol="0">
            <a:spAutoFit/>
          </a:bodyPr>
          <a:lstStyle/>
          <a:p>
            <a:pPr marL="285750" indent="-285750" algn="ctr">
              <a:buClr>
                <a:schemeClr val="accent1"/>
              </a:buClr>
              <a:buFont typeface="Wingdings" panose="05000000000000000000" pitchFamily="2" charset="2"/>
              <a:buChar char="Ø"/>
            </a:pPr>
            <a:r>
              <a:rPr lang="en-US" b="1" u="sng" dirty="0"/>
              <a:t>Mathematical Formulation</a:t>
            </a:r>
          </a:p>
          <a:p>
            <a:pPr algn="ctr"/>
            <a:endParaRPr lang="el-GR" b="1" dirty="0"/>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379143D7-3A17-8B9F-28DB-AFFFFCD1DAEB}"/>
                  </a:ext>
                </a:extLst>
              </p:cNvPr>
              <p:cNvSpPr txBox="1"/>
              <p:nvPr/>
            </p:nvSpPr>
            <p:spPr>
              <a:xfrm>
                <a:off x="723942" y="5257709"/>
                <a:ext cx="4017988" cy="912173"/>
              </a:xfrm>
              <a:prstGeom prst="rect">
                <a:avLst/>
              </a:prstGeom>
              <a:noFill/>
            </p:spPr>
            <p:txBody>
              <a:bodyPr wrap="square">
                <a:spAutoFit/>
              </a:bodyPr>
              <a:lstStyle/>
              <a:p>
                <a:pPr/>
                <a14:m>
                  <m:oMathPara xmlns:m="http://schemas.openxmlformats.org/officeDocument/2006/math">
                    <m:o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a:rPr lang="en-US" sz="1800" b="0" i="1" smtClean="0">
                              <a:latin typeface="Cambria Math" panose="02040503050406030204" pitchFamily="18" charset="0"/>
                            </a:rPr>
                            <m:t>𝑚</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sub>
                      </m:sSub>
                      <m:r>
                        <a:rPr lang="en-US" sz="1800" b="0" i="1" smtClean="0">
                          <a:latin typeface="Cambria Math" panose="02040503050406030204" pitchFamily="18" charset="0"/>
                        </a:rPr>
                        <m:t>=   </m:t>
                      </m:r>
                      <m:nary>
                        <m:naryPr>
                          <m:chr m:val="∑"/>
                          <m:ctrlPr>
                            <a:rPr lang="en-US" sz="1800" b="0" i="1" smtClean="0">
                              <a:latin typeface="Cambria Math" panose="02040503050406030204" pitchFamily="18" charset="0"/>
                            </a:rPr>
                          </m:ctrlPr>
                        </m:naryPr>
                        <m:sub>
                          <m:r>
                            <a:rPr lang="en-US" sz="1800" b="0" i="1" smtClean="0">
                              <a:latin typeface="Cambria Math" panose="02040503050406030204" pitchFamily="18" charset="0"/>
                            </a:rPr>
                            <m:t>𝑗</m:t>
                          </m:r>
                          <m:r>
                            <a:rPr lang="en-US" sz="1800" b="0" i="1" smtClean="0">
                              <a:latin typeface="Cambria Math" panose="02040503050406030204" pitchFamily="18" charset="0"/>
                            </a:rPr>
                            <m:t>=1</m:t>
                          </m:r>
                        </m:sub>
                        <m:sup>
                          <m:r>
                            <a:rPr lang="en-US" sz="1800" b="0" i="1" smtClean="0">
                              <a:latin typeface="Cambria Math" panose="02040503050406030204" pitchFamily="18" charset="0"/>
                            </a:rPr>
                            <m:t>𝐽</m:t>
                          </m:r>
                        </m:sup>
                        <m:e>
                          <m:r>
                            <a:rPr lang="en-US" sz="1800" b="0" i="1" smtClean="0">
                              <a:latin typeface="Cambria Math" panose="02040503050406030204" pitchFamily="18" charset="0"/>
                            </a:rPr>
                            <m:t> </m:t>
                          </m:r>
                        </m:e>
                      </m:nary>
                      <m:d>
                        <m:dPr>
                          <m:ctrlPr>
                            <a:rPr lang="en-US" sz="1800" b="0" i="1" smtClean="0">
                              <a:latin typeface="Cambria Math" panose="02040503050406030204" pitchFamily="18" charset="0"/>
                            </a:rPr>
                          </m:ctrlPr>
                        </m:d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ℎ</m:t>
                              </m:r>
                            </m:e>
                            <m: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𝑚𝑗</m:t>
                                  </m:r>
                                </m:e>
                              </m:d>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𝑠</m:t>
                              </m:r>
                            </m:e>
                            <m:sub>
                              <m:r>
                                <a:rPr lang="en-US" sz="1800" b="0" i="1" smtClean="0">
                                  <a:latin typeface="Cambria Math" panose="02040503050406030204" pitchFamily="18" charset="0"/>
                                </a:rPr>
                                <m:t>𝑗</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𝑛</m:t>
                          </m:r>
                        </m:e>
                        <m:sub>
                          <m:r>
                            <a:rPr lang="en-US" sz="1800" b="0" i="1" smtClean="0">
                              <a:latin typeface="Cambria Math" panose="02040503050406030204" pitchFamily="18" charset="0"/>
                            </a:rPr>
                            <m:t>𝑚</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sub>
                      </m:sSub>
                    </m:oMath>
                  </m:oMathPara>
                </a14:m>
                <a:endParaRPr lang="el-GR" dirty="0"/>
              </a:p>
            </p:txBody>
          </p:sp>
        </mc:Choice>
        <mc:Fallback>
          <p:sp>
            <p:nvSpPr>
              <p:cNvPr id="5" name="TextBox 4">
                <a:extLst>
                  <a:ext uri="{FF2B5EF4-FFF2-40B4-BE49-F238E27FC236}">
                    <a16:creationId xmlns:a16="http://schemas.microsoft.com/office/drawing/2014/main" id="{379143D7-3A17-8B9F-28DB-AFFFFCD1DAEB}"/>
                  </a:ext>
                </a:extLst>
              </p:cNvPr>
              <p:cNvSpPr txBox="1">
                <a:spLocks noRot="1" noChangeAspect="1" noMove="1" noResize="1" noEditPoints="1" noAdjustHandles="1" noChangeArrowheads="1" noChangeShapeType="1" noTextEdit="1"/>
              </p:cNvSpPr>
              <p:nvPr/>
            </p:nvSpPr>
            <p:spPr>
              <a:xfrm>
                <a:off x="723942" y="5257709"/>
                <a:ext cx="4017988" cy="912173"/>
              </a:xfrm>
              <a:prstGeom prst="rect">
                <a:avLst/>
              </a:prstGeom>
              <a:blipFill>
                <a:blip r:embed="rId2"/>
                <a:stretch>
                  <a:fillRect/>
                </a:stretch>
              </a:blipFill>
            </p:spPr>
            <p:txBody>
              <a:bodyPr/>
              <a:lstStyle/>
              <a:p>
                <a:r>
                  <a:rPr lang="el-GR">
                    <a:noFill/>
                  </a:rPr>
                  <a:t> </a:t>
                </a:r>
              </a:p>
            </p:txBody>
          </p:sp>
        </mc:Fallback>
      </mc:AlternateContent>
      <p:pic>
        <p:nvPicPr>
          <p:cNvPr id="9" name="Εικόνα 8">
            <a:extLst>
              <a:ext uri="{FF2B5EF4-FFF2-40B4-BE49-F238E27FC236}">
                <a16:creationId xmlns:a16="http://schemas.microsoft.com/office/drawing/2014/main" id="{1A075B76-039A-549F-A4E3-B7BDDA933442}"/>
              </a:ext>
            </a:extLst>
          </p:cNvPr>
          <p:cNvPicPr>
            <a:picLocks noChangeAspect="1"/>
          </p:cNvPicPr>
          <p:nvPr/>
        </p:nvPicPr>
        <p:blipFill>
          <a:blip r:embed="rId3"/>
          <a:stretch>
            <a:fillRect/>
          </a:stretch>
        </p:blipFill>
        <p:spPr>
          <a:xfrm>
            <a:off x="5371692" y="4030128"/>
            <a:ext cx="5897188" cy="2738672"/>
          </a:xfrm>
          <a:prstGeom prst="rect">
            <a:avLst/>
          </a:prstGeom>
        </p:spPr>
      </p:pic>
    </p:spTree>
    <p:extLst>
      <p:ext uri="{BB962C8B-B14F-4D97-AF65-F5344CB8AC3E}">
        <p14:creationId xmlns:p14="http://schemas.microsoft.com/office/powerpoint/2010/main" val="40395194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4B002AFA-5455-42E6-8A96-8643D2FD3DF4}"/>
              </a:ext>
            </a:extLst>
          </p:cNvPr>
          <p:cNvSpPr txBox="1"/>
          <p:nvPr/>
        </p:nvSpPr>
        <p:spPr>
          <a:xfrm>
            <a:off x="1033670" y="688118"/>
            <a:ext cx="2295628" cy="584775"/>
          </a:xfrm>
          <a:prstGeom prst="rect">
            <a:avLst/>
          </a:prstGeom>
          <a:noFill/>
        </p:spPr>
        <p:txBody>
          <a:bodyPr wrap="none" rtlCol="0">
            <a:spAutoFit/>
          </a:bodyPr>
          <a:lstStyle/>
          <a:p>
            <a:r>
              <a:rPr lang="en-US" sz="3200" b="1" dirty="0">
                <a:solidFill>
                  <a:schemeClr val="bg1"/>
                </a:solidFill>
              </a:rPr>
              <a:t>Thesis Focus</a:t>
            </a:r>
            <a:endParaRPr lang="el-GR" sz="3200" b="1" dirty="0">
              <a:solidFill>
                <a:schemeClr val="bg1"/>
              </a:solidFill>
            </a:endParaRPr>
          </a:p>
        </p:txBody>
      </p:sp>
      <p:sp>
        <p:nvSpPr>
          <p:cNvPr id="13" name="Ορθογώνιο: Στρογγύλεμα διαγώνιων γωνιών 12">
            <a:extLst>
              <a:ext uri="{FF2B5EF4-FFF2-40B4-BE49-F238E27FC236}">
                <a16:creationId xmlns:a16="http://schemas.microsoft.com/office/drawing/2014/main" id="{EEA862F2-28F7-E8B9-EB25-A3405783AF0A}"/>
              </a:ext>
            </a:extLst>
          </p:cNvPr>
          <p:cNvSpPr/>
          <p:nvPr/>
        </p:nvSpPr>
        <p:spPr>
          <a:xfrm>
            <a:off x="510989" y="365126"/>
            <a:ext cx="11196786" cy="707886"/>
          </a:xfrm>
          <a:prstGeom prst="round2Diag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t>Thesis Contribution on Each Stage</a:t>
            </a:r>
            <a:endParaRPr lang="el-GR" sz="3200" b="1" dirty="0"/>
          </a:p>
        </p:txBody>
      </p:sp>
      <p:sp>
        <p:nvSpPr>
          <p:cNvPr id="15" name="TextBox 14">
            <a:extLst>
              <a:ext uri="{FF2B5EF4-FFF2-40B4-BE49-F238E27FC236}">
                <a16:creationId xmlns:a16="http://schemas.microsoft.com/office/drawing/2014/main" id="{F23B5383-8AF4-038C-3B65-49B09D0699BA}"/>
              </a:ext>
            </a:extLst>
          </p:cNvPr>
          <p:cNvSpPr txBox="1"/>
          <p:nvPr/>
        </p:nvSpPr>
        <p:spPr>
          <a:xfrm>
            <a:off x="818323" y="1164321"/>
            <a:ext cx="2988856" cy="923330"/>
          </a:xfrm>
          <a:prstGeom prst="rect">
            <a:avLst/>
          </a:prstGeom>
          <a:noFill/>
        </p:spPr>
        <p:txBody>
          <a:bodyPr wrap="square" rtlCol="0">
            <a:spAutoFit/>
          </a:bodyPr>
          <a:lstStyle/>
          <a:p>
            <a:pPr>
              <a:buClr>
                <a:schemeClr val="accent1">
                  <a:lumMod val="75000"/>
                </a:schemeClr>
              </a:buClr>
            </a:pPr>
            <a:r>
              <a:rPr lang="en-US" b="1" u="sng" dirty="0"/>
              <a:t>1.Audio Source Separation</a:t>
            </a:r>
          </a:p>
          <a:p>
            <a:pPr>
              <a:buClr>
                <a:schemeClr val="accent1">
                  <a:lumMod val="75000"/>
                </a:schemeClr>
              </a:buClr>
            </a:pPr>
            <a:endParaRPr lang="en-US" b="1" u="sng" dirty="0"/>
          </a:p>
          <a:p>
            <a:pPr>
              <a:buClr>
                <a:schemeClr val="accent1">
                  <a:lumMod val="75000"/>
                </a:schemeClr>
              </a:buClr>
            </a:pPr>
            <a:endParaRPr lang="el-GR" b="1" u="sng" dirty="0"/>
          </a:p>
        </p:txBody>
      </p:sp>
      <p:sp>
        <p:nvSpPr>
          <p:cNvPr id="16" name="TextBox 15">
            <a:extLst>
              <a:ext uri="{FF2B5EF4-FFF2-40B4-BE49-F238E27FC236}">
                <a16:creationId xmlns:a16="http://schemas.microsoft.com/office/drawing/2014/main" id="{A6DE54E1-DA46-5983-DFE3-95248CA5B73D}"/>
              </a:ext>
            </a:extLst>
          </p:cNvPr>
          <p:cNvSpPr txBox="1"/>
          <p:nvPr/>
        </p:nvSpPr>
        <p:spPr>
          <a:xfrm>
            <a:off x="4926453" y="1164321"/>
            <a:ext cx="3488904" cy="369332"/>
          </a:xfrm>
          <a:prstGeom prst="rect">
            <a:avLst/>
          </a:prstGeom>
          <a:noFill/>
        </p:spPr>
        <p:txBody>
          <a:bodyPr wrap="none" rtlCol="0">
            <a:spAutoFit/>
          </a:bodyPr>
          <a:lstStyle/>
          <a:p>
            <a:pPr>
              <a:buClr>
                <a:schemeClr val="accent1">
                  <a:lumMod val="75000"/>
                </a:schemeClr>
              </a:buClr>
            </a:pPr>
            <a:r>
              <a:rPr lang="en-US" b="1" u="sng" dirty="0"/>
              <a:t>2. Acoustic Event Classification</a:t>
            </a:r>
            <a:endParaRPr lang="el-GR" b="1" u="sng" dirty="0"/>
          </a:p>
        </p:txBody>
      </p:sp>
      <p:cxnSp>
        <p:nvCxnSpPr>
          <p:cNvPr id="19" name="Ευθεία γραμμή σύνδεσης 18">
            <a:extLst>
              <a:ext uri="{FF2B5EF4-FFF2-40B4-BE49-F238E27FC236}">
                <a16:creationId xmlns:a16="http://schemas.microsoft.com/office/drawing/2014/main" id="{BC576DF8-1131-1A4E-E6C7-F2D2F3391A02}"/>
              </a:ext>
            </a:extLst>
          </p:cNvPr>
          <p:cNvCxnSpPr>
            <a:cxnSpLocks/>
          </p:cNvCxnSpPr>
          <p:nvPr/>
        </p:nvCxnSpPr>
        <p:spPr>
          <a:xfrm>
            <a:off x="4606095" y="1272893"/>
            <a:ext cx="13382" cy="5308106"/>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B1FA5454-4EFA-0F97-1CFC-41E5B030E332}"/>
              </a:ext>
            </a:extLst>
          </p:cNvPr>
          <p:cNvSpPr txBox="1"/>
          <p:nvPr/>
        </p:nvSpPr>
        <p:spPr>
          <a:xfrm>
            <a:off x="4619477" y="1680524"/>
            <a:ext cx="4020570" cy="3970318"/>
          </a:xfrm>
          <a:prstGeom prst="rect">
            <a:avLst/>
          </a:prstGeom>
          <a:noFill/>
        </p:spPr>
        <p:txBody>
          <a:bodyPr wrap="square">
            <a:spAutoFit/>
          </a:bodyPr>
          <a:lstStyle/>
          <a:p>
            <a:pPr marL="342900" indent="-342900">
              <a:buClr>
                <a:schemeClr val="accent1">
                  <a:lumMod val="75000"/>
                </a:schemeClr>
              </a:buClr>
              <a:buFont typeface="Arial" panose="020B0604020202020204" pitchFamily="34" charset="0"/>
              <a:buChar char="•"/>
            </a:pPr>
            <a:r>
              <a:rPr lang="en-US" b="1" dirty="0"/>
              <a:t>Development and Training of a Convolutional Neural Network (CNN) classifier</a:t>
            </a:r>
            <a:r>
              <a:rPr lang="en-US" dirty="0"/>
              <a:t> for the 18 acoustic-event classes using clean target sources. </a:t>
            </a:r>
          </a:p>
          <a:p>
            <a:pPr marL="342900" indent="-342900">
              <a:buClr>
                <a:schemeClr val="accent1">
                  <a:lumMod val="75000"/>
                </a:schemeClr>
              </a:buClr>
              <a:buFont typeface="Arial" panose="020B0604020202020204" pitchFamily="34" charset="0"/>
              <a:buChar char="•"/>
            </a:pPr>
            <a:r>
              <a:rPr lang="en-US" b="1" dirty="0"/>
              <a:t>Integration of the classifier with the BSS stage</a:t>
            </a:r>
            <a:r>
              <a:rPr lang="en-US" dirty="0"/>
              <a:t>, enabling classification directly on the estimated separated sources.</a:t>
            </a:r>
          </a:p>
          <a:p>
            <a:pPr marL="342900" indent="-342900">
              <a:buClr>
                <a:schemeClr val="accent1">
                  <a:lumMod val="75000"/>
                </a:schemeClr>
              </a:buClr>
              <a:buFont typeface="Arial" panose="020B0604020202020204" pitchFamily="34" charset="0"/>
              <a:buChar char="•"/>
            </a:pPr>
            <a:r>
              <a:rPr lang="en-US" b="1" dirty="0"/>
              <a:t>Evaluation of the effect of source separation on classification performance</a:t>
            </a:r>
            <a:r>
              <a:rPr lang="en-US" dirty="0"/>
              <a:t>, through comparison between clean target sources and BSS-estimated signals.</a:t>
            </a:r>
          </a:p>
        </p:txBody>
      </p:sp>
      <p:cxnSp>
        <p:nvCxnSpPr>
          <p:cNvPr id="2" name="Ευθεία γραμμή σύνδεσης 1">
            <a:extLst>
              <a:ext uri="{FF2B5EF4-FFF2-40B4-BE49-F238E27FC236}">
                <a16:creationId xmlns:a16="http://schemas.microsoft.com/office/drawing/2014/main" id="{49A13BF9-C065-7E1C-267C-E54DA324B946}"/>
              </a:ext>
            </a:extLst>
          </p:cNvPr>
          <p:cNvCxnSpPr>
            <a:cxnSpLocks/>
          </p:cNvCxnSpPr>
          <p:nvPr/>
        </p:nvCxnSpPr>
        <p:spPr>
          <a:xfrm>
            <a:off x="8626665" y="1272893"/>
            <a:ext cx="13382" cy="5308106"/>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3192B3F4-C76B-D8A6-5B6B-40BD7ED75D46}"/>
              </a:ext>
            </a:extLst>
          </p:cNvPr>
          <p:cNvSpPr txBox="1"/>
          <p:nvPr/>
        </p:nvSpPr>
        <p:spPr>
          <a:xfrm>
            <a:off x="8730218" y="1164321"/>
            <a:ext cx="3461782" cy="369332"/>
          </a:xfrm>
          <a:prstGeom prst="rect">
            <a:avLst/>
          </a:prstGeom>
          <a:noFill/>
        </p:spPr>
        <p:txBody>
          <a:bodyPr wrap="none" rtlCol="0">
            <a:spAutoFit/>
          </a:bodyPr>
          <a:lstStyle/>
          <a:p>
            <a:pPr>
              <a:buClr>
                <a:schemeClr val="accent1">
                  <a:lumMod val="75000"/>
                </a:schemeClr>
              </a:buClr>
            </a:pPr>
            <a:r>
              <a:rPr lang="en-US" b="1" u="sng" dirty="0"/>
              <a:t>3. Acoustic Source Localization</a:t>
            </a:r>
            <a:endParaRPr lang="el-GR" b="1" u="sng" dirty="0"/>
          </a:p>
        </p:txBody>
      </p:sp>
      <p:sp>
        <p:nvSpPr>
          <p:cNvPr id="7" name="TextBox 6">
            <a:extLst>
              <a:ext uri="{FF2B5EF4-FFF2-40B4-BE49-F238E27FC236}">
                <a16:creationId xmlns:a16="http://schemas.microsoft.com/office/drawing/2014/main" id="{FF788F03-9B22-5BAE-622C-D9436A94AD6D}"/>
              </a:ext>
            </a:extLst>
          </p:cNvPr>
          <p:cNvSpPr txBox="1"/>
          <p:nvPr/>
        </p:nvSpPr>
        <p:spPr>
          <a:xfrm>
            <a:off x="8626665" y="1679500"/>
            <a:ext cx="3373223" cy="5078313"/>
          </a:xfrm>
          <a:prstGeom prst="rect">
            <a:avLst/>
          </a:prstGeom>
          <a:noFill/>
        </p:spPr>
        <p:txBody>
          <a:bodyPr wrap="square">
            <a:spAutoFit/>
          </a:bodyPr>
          <a:lstStyle/>
          <a:p>
            <a:pPr marL="342900" indent="-342900">
              <a:buClr>
                <a:schemeClr val="accent1">
                  <a:lumMod val="75000"/>
                </a:schemeClr>
              </a:buClr>
              <a:buFont typeface="Arial" panose="020B0604020202020204" pitchFamily="34" charset="0"/>
              <a:buChar char="•"/>
            </a:pPr>
            <a:r>
              <a:rPr lang="en-US" b="1" dirty="0"/>
              <a:t>Exploitation of the spatial information recovered during the IVA separation stage</a:t>
            </a:r>
            <a:r>
              <a:rPr lang="en-US" dirty="0"/>
              <a:t> for each separated acoustic source.</a:t>
            </a:r>
          </a:p>
          <a:p>
            <a:pPr marL="342900" indent="-342900">
              <a:buClr>
                <a:schemeClr val="accent1">
                  <a:lumMod val="75000"/>
                </a:schemeClr>
              </a:buClr>
              <a:buFont typeface="Arial" panose="020B0604020202020204" pitchFamily="34" charset="0"/>
              <a:buChar char="•"/>
            </a:pPr>
            <a:r>
              <a:rPr lang="en-US" b="1" dirty="0"/>
              <a:t>Spatial analysis of the separated sources</a:t>
            </a:r>
            <a:r>
              <a:rPr lang="en-US" dirty="0"/>
              <a:t>,</a:t>
            </a:r>
            <a:r>
              <a:rPr lang="en-US" b="1" dirty="0"/>
              <a:t> </a:t>
            </a:r>
            <a:r>
              <a:rPr lang="en-US" dirty="0"/>
              <a:t>examining how each separated source is represented across the Ambisonics spatial channels.</a:t>
            </a:r>
          </a:p>
          <a:p>
            <a:pPr marL="342900" indent="-342900">
              <a:buClr>
                <a:schemeClr val="accent1">
                  <a:lumMod val="75000"/>
                </a:schemeClr>
              </a:buClr>
              <a:buFont typeface="Arial" panose="020B0604020202020204" pitchFamily="34" charset="0"/>
              <a:buChar char="•"/>
            </a:pPr>
            <a:r>
              <a:rPr lang="en-US" b="1" dirty="0"/>
              <a:t>DOA estimation of each separated source</a:t>
            </a:r>
            <a:r>
              <a:rPr lang="en-US" dirty="0"/>
              <a:t>, providing azimuth and elevation estimates from the       source-specific spatial information.</a:t>
            </a:r>
          </a:p>
        </p:txBody>
      </p:sp>
      <p:sp>
        <p:nvSpPr>
          <p:cNvPr id="10" name="TextBox 9">
            <a:extLst>
              <a:ext uri="{FF2B5EF4-FFF2-40B4-BE49-F238E27FC236}">
                <a16:creationId xmlns:a16="http://schemas.microsoft.com/office/drawing/2014/main" id="{CD2F4020-DEA5-4A7A-9565-CA698A5FDD50}"/>
              </a:ext>
            </a:extLst>
          </p:cNvPr>
          <p:cNvSpPr txBox="1"/>
          <p:nvPr/>
        </p:nvSpPr>
        <p:spPr>
          <a:xfrm>
            <a:off x="76153" y="1679500"/>
            <a:ext cx="4020570" cy="4801314"/>
          </a:xfrm>
          <a:prstGeom prst="rect">
            <a:avLst/>
          </a:prstGeom>
          <a:noFill/>
        </p:spPr>
        <p:txBody>
          <a:bodyPr wrap="square">
            <a:spAutoFit/>
          </a:bodyPr>
          <a:lstStyle/>
          <a:p>
            <a:pPr marL="342900" indent="-342900">
              <a:buClr>
                <a:schemeClr val="accent1">
                  <a:lumMod val="75000"/>
                </a:schemeClr>
              </a:buClr>
              <a:buFont typeface="Arial" panose="020B0604020202020204" pitchFamily="34" charset="0"/>
              <a:buChar char="•"/>
            </a:pPr>
            <a:r>
              <a:rPr lang="en-US" b="1" dirty="0"/>
              <a:t>Formulation of the source separation task as BSS</a:t>
            </a:r>
            <a:r>
              <a:rPr lang="en-US" dirty="0"/>
              <a:t>, without prior knowledge of the source signals or the acoustic mixing process.</a:t>
            </a:r>
            <a:endParaRPr lang="el-GR" b="1" dirty="0"/>
          </a:p>
          <a:p>
            <a:pPr marL="342900" indent="-342900">
              <a:buClr>
                <a:schemeClr val="accent1">
                  <a:lumMod val="75000"/>
                </a:schemeClr>
              </a:buClr>
              <a:buFont typeface="Arial" panose="020B0604020202020204" pitchFamily="34" charset="0"/>
              <a:buChar char="•"/>
            </a:pPr>
            <a:r>
              <a:rPr lang="en-US" b="1" dirty="0"/>
              <a:t>Implementation of Independent Vector Analysis (IVA) </a:t>
            </a:r>
            <a:r>
              <a:rPr lang="en-US" dirty="0"/>
              <a:t>for the separation of complex multichannel mixture signals. </a:t>
            </a:r>
          </a:p>
          <a:p>
            <a:pPr marL="342900" indent="-342900">
              <a:buClr>
                <a:schemeClr val="accent1">
                  <a:lumMod val="75000"/>
                </a:schemeClr>
              </a:buClr>
              <a:buFont typeface="Arial" panose="020B0604020202020204" pitchFamily="34" charset="0"/>
              <a:buChar char="•"/>
            </a:pPr>
            <a:r>
              <a:rPr lang="en-US" b="1" dirty="0"/>
              <a:t>Extraction of the estimated separated sources</a:t>
            </a:r>
            <a:r>
              <a:rPr lang="en-US" dirty="0"/>
              <a:t>. BSS will be used as a preprocessing step for classification and localization.</a:t>
            </a:r>
          </a:p>
          <a:p>
            <a:pPr marL="342900" indent="-342900">
              <a:buClr>
                <a:schemeClr val="accent1">
                  <a:lumMod val="75000"/>
                </a:schemeClr>
              </a:buClr>
              <a:buFont typeface="Arial" panose="020B0604020202020204" pitchFamily="34" charset="0"/>
              <a:buChar char="•"/>
            </a:pPr>
            <a:r>
              <a:rPr lang="en-US" b="1" dirty="0"/>
              <a:t>Evaluation of the IVA separation performance</a:t>
            </a:r>
            <a:r>
              <a:rPr lang="en-US" dirty="0"/>
              <a:t>, investigating the conditions affecting source separation.</a:t>
            </a:r>
            <a:endParaRPr lang="en-US" b="1" dirty="0"/>
          </a:p>
        </p:txBody>
      </p:sp>
    </p:spTree>
    <p:extLst>
      <p:ext uri="{BB962C8B-B14F-4D97-AF65-F5344CB8AC3E}">
        <p14:creationId xmlns:p14="http://schemas.microsoft.com/office/powerpoint/2010/main" val="14062134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Θέση περιεχομένου 5">
            <a:extLst>
              <a:ext uri="{FF2B5EF4-FFF2-40B4-BE49-F238E27FC236}">
                <a16:creationId xmlns:a16="http://schemas.microsoft.com/office/drawing/2014/main" id="{4C6967E9-DB13-D22E-A0F4-BAAB15D762D2}"/>
              </a:ext>
            </a:extLst>
          </p:cNvPr>
          <p:cNvSpPr>
            <a:spLocks noGrp="1"/>
          </p:cNvSpPr>
          <p:nvPr>
            <p:ph sz="half" idx="1"/>
          </p:nvPr>
        </p:nvSpPr>
        <p:spPr>
          <a:xfrm>
            <a:off x="421407" y="875812"/>
            <a:ext cx="5508811" cy="5488774"/>
          </a:xfrm>
        </p:spPr>
        <p:txBody>
          <a:bodyPr>
            <a:normAutofit/>
          </a:bodyPr>
          <a:lstStyle/>
          <a:p>
            <a:pPr marL="0" indent="0">
              <a:buNone/>
            </a:pPr>
            <a:r>
              <a:rPr lang="en-US" sz="1800" b="1" dirty="0"/>
              <a:t>Dataset details:</a:t>
            </a:r>
          </a:p>
          <a:p>
            <a:pPr>
              <a:buClr>
                <a:schemeClr val="accent1">
                  <a:lumMod val="75000"/>
                </a:schemeClr>
              </a:buClr>
            </a:pPr>
            <a:r>
              <a:rPr lang="en-US" sz="1800" dirty="0"/>
              <a:t>15.1 Gigabytes.</a:t>
            </a:r>
          </a:p>
          <a:p>
            <a:pPr>
              <a:buClr>
                <a:schemeClr val="accent1">
                  <a:lumMod val="75000"/>
                </a:schemeClr>
              </a:buClr>
            </a:pPr>
            <a:r>
              <a:rPr lang="en-US" sz="1800" dirty="0"/>
              <a:t>It is divided into a development set, an evaluation set, and a ground truth set.</a:t>
            </a:r>
          </a:p>
          <a:p>
            <a:pPr>
              <a:buClr>
                <a:schemeClr val="accent1">
                  <a:lumMod val="75000"/>
                </a:schemeClr>
              </a:buClr>
            </a:pPr>
            <a:r>
              <a:rPr lang="en-US" sz="1800" dirty="0"/>
              <a:t>Available at Zenodo.</a:t>
            </a:r>
          </a:p>
          <a:p>
            <a:pPr>
              <a:buClr>
                <a:schemeClr val="accent1">
                  <a:lumMod val="75000"/>
                </a:schemeClr>
              </a:buClr>
            </a:pPr>
            <a:r>
              <a:rPr lang="en-US" sz="1800" dirty="0"/>
              <a:t>Contains 2290 mixture files.</a:t>
            </a:r>
          </a:p>
          <a:p>
            <a:pPr>
              <a:buClr>
                <a:schemeClr val="accent1">
                  <a:lumMod val="75000"/>
                </a:schemeClr>
              </a:buClr>
            </a:pPr>
            <a:r>
              <a:rPr lang="en-US" sz="1800" dirty="0"/>
              <a:t>Contains the isolated target sound events of each class, in a total of 18 classes. </a:t>
            </a:r>
          </a:p>
          <a:p>
            <a:pPr>
              <a:buClr>
                <a:schemeClr val="accent1">
                  <a:lumMod val="75000"/>
                </a:schemeClr>
              </a:buClr>
            </a:pPr>
            <a:r>
              <a:rPr lang="en-US" sz="1800" dirty="0"/>
              <a:t>The list of target acoustic event classes (18) is: </a:t>
            </a:r>
          </a:p>
          <a:p>
            <a:pPr lvl="1">
              <a:buClr>
                <a:schemeClr val="accent1">
                  <a:lumMod val="75000"/>
                </a:schemeClr>
              </a:buClr>
              <a:buFont typeface="Wingdings" panose="05000000000000000000" pitchFamily="2" charset="2"/>
              <a:buChar char="§"/>
            </a:pPr>
            <a:r>
              <a:rPr lang="el-GR" sz="1400" dirty="0"/>
              <a:t>“AlarmClock”, </a:t>
            </a:r>
            <a:endParaRPr lang="en-US" sz="1400" dirty="0"/>
          </a:p>
          <a:p>
            <a:pPr lvl="1">
              <a:buClr>
                <a:schemeClr val="accent1">
                  <a:lumMod val="75000"/>
                </a:schemeClr>
              </a:buClr>
              <a:buFont typeface="Wingdings" panose="05000000000000000000" pitchFamily="2" charset="2"/>
              <a:buChar char="§"/>
            </a:pPr>
            <a:r>
              <a:rPr lang="el-GR" sz="1400" dirty="0"/>
              <a:t>“BicycleBell”, </a:t>
            </a:r>
            <a:endParaRPr lang="en-US" sz="1400" dirty="0"/>
          </a:p>
          <a:p>
            <a:pPr lvl="1">
              <a:buClr>
                <a:schemeClr val="accent1">
                  <a:lumMod val="75000"/>
                </a:schemeClr>
              </a:buClr>
              <a:buFont typeface="Wingdings" panose="05000000000000000000" pitchFamily="2" charset="2"/>
              <a:buChar char="§"/>
            </a:pPr>
            <a:r>
              <a:rPr lang="el-GR" sz="1400" dirty="0"/>
              <a:t>“Blender”,</a:t>
            </a:r>
            <a:endParaRPr lang="en-US" sz="1400" dirty="0"/>
          </a:p>
          <a:p>
            <a:pPr lvl="1">
              <a:buClr>
                <a:schemeClr val="accent1">
                  <a:lumMod val="75000"/>
                </a:schemeClr>
              </a:buClr>
              <a:buFont typeface="Wingdings" panose="05000000000000000000" pitchFamily="2" charset="2"/>
              <a:buChar char="§"/>
            </a:pPr>
            <a:r>
              <a:rPr lang="el-GR" sz="1400" dirty="0"/>
              <a:t> “Buzzer”, </a:t>
            </a:r>
            <a:endParaRPr lang="en-US" sz="1400" dirty="0"/>
          </a:p>
          <a:p>
            <a:pPr lvl="1">
              <a:buClr>
                <a:schemeClr val="accent1">
                  <a:lumMod val="75000"/>
                </a:schemeClr>
              </a:buClr>
              <a:buFont typeface="Wingdings" panose="05000000000000000000" pitchFamily="2" charset="2"/>
              <a:buChar char="§"/>
            </a:pPr>
            <a:r>
              <a:rPr lang="el-GR" sz="1400" dirty="0"/>
              <a:t>“Clapping”, </a:t>
            </a:r>
            <a:endParaRPr lang="en-US" sz="1400" dirty="0"/>
          </a:p>
          <a:p>
            <a:pPr lvl="1">
              <a:buClr>
                <a:schemeClr val="accent1">
                  <a:lumMod val="75000"/>
                </a:schemeClr>
              </a:buClr>
              <a:buFont typeface="Wingdings" panose="05000000000000000000" pitchFamily="2" charset="2"/>
              <a:buChar char="§"/>
            </a:pPr>
            <a:r>
              <a:rPr lang="el-GR" sz="1400" dirty="0"/>
              <a:t>“Cough”, </a:t>
            </a:r>
            <a:endParaRPr lang="en-US" sz="1400" dirty="0"/>
          </a:p>
          <a:p>
            <a:pPr lvl="1">
              <a:buClr>
                <a:schemeClr val="accent1">
                  <a:lumMod val="75000"/>
                </a:schemeClr>
              </a:buClr>
              <a:buFont typeface="Wingdings" panose="05000000000000000000" pitchFamily="2" charset="2"/>
              <a:buChar char="§"/>
            </a:pPr>
            <a:r>
              <a:rPr lang="el-GR" sz="1400" dirty="0"/>
              <a:t>“CupboardOpenClose”, </a:t>
            </a:r>
            <a:endParaRPr lang="en-US" sz="1400" dirty="0"/>
          </a:p>
          <a:p>
            <a:pPr lvl="1">
              <a:buClr>
                <a:schemeClr val="accent1">
                  <a:lumMod val="75000"/>
                </a:schemeClr>
              </a:buClr>
              <a:buFont typeface="Wingdings" panose="05000000000000000000" pitchFamily="2" charset="2"/>
              <a:buChar char="§"/>
            </a:pPr>
            <a:r>
              <a:rPr lang="el-GR" sz="1400" dirty="0"/>
              <a:t>“Dishes”, </a:t>
            </a:r>
            <a:endParaRPr lang="en-US" sz="1400" dirty="0"/>
          </a:p>
          <a:p>
            <a:pPr lvl="1">
              <a:buClr>
                <a:schemeClr val="accent1">
                  <a:lumMod val="75000"/>
                </a:schemeClr>
              </a:buClr>
              <a:buFont typeface="Wingdings" panose="05000000000000000000" pitchFamily="2" charset="2"/>
              <a:buChar char="§"/>
            </a:pPr>
            <a:r>
              <a:rPr lang="el-GR" sz="1400" dirty="0"/>
              <a:t>“Doorbell”,</a:t>
            </a:r>
            <a:endParaRPr lang="en-US" sz="1800" dirty="0"/>
          </a:p>
        </p:txBody>
      </p:sp>
      <p:sp>
        <p:nvSpPr>
          <p:cNvPr id="9" name="Ορθογώνιο: Στρογγύλεμα διαγώνιων γωνιών 8">
            <a:extLst>
              <a:ext uri="{FF2B5EF4-FFF2-40B4-BE49-F238E27FC236}">
                <a16:creationId xmlns:a16="http://schemas.microsoft.com/office/drawing/2014/main" id="{B3FDD675-F164-0D0D-C1F0-81F43CD575AF}"/>
              </a:ext>
            </a:extLst>
          </p:cNvPr>
          <p:cNvSpPr/>
          <p:nvPr/>
        </p:nvSpPr>
        <p:spPr>
          <a:xfrm>
            <a:off x="421407" y="79615"/>
            <a:ext cx="11196786" cy="707886"/>
          </a:xfrm>
          <a:prstGeom prst="round2Diag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t>DCASE2025 Task4 Dataset</a:t>
            </a:r>
            <a:endParaRPr lang="el-GR" sz="3200" b="1" dirty="0"/>
          </a:p>
        </p:txBody>
      </p:sp>
      <p:sp>
        <p:nvSpPr>
          <p:cNvPr id="2" name="TextBox 1">
            <a:extLst>
              <a:ext uri="{FF2B5EF4-FFF2-40B4-BE49-F238E27FC236}">
                <a16:creationId xmlns:a16="http://schemas.microsoft.com/office/drawing/2014/main" id="{A6B5A298-DDD3-6686-1BEC-A4BFACFE098E}"/>
              </a:ext>
            </a:extLst>
          </p:cNvPr>
          <p:cNvSpPr txBox="1"/>
          <p:nvPr/>
        </p:nvSpPr>
        <p:spPr>
          <a:xfrm>
            <a:off x="3422209" y="4056262"/>
            <a:ext cx="3892990" cy="2308324"/>
          </a:xfrm>
          <a:prstGeom prst="rect">
            <a:avLst/>
          </a:prstGeom>
          <a:noFill/>
        </p:spPr>
        <p:txBody>
          <a:bodyPr wrap="square" rtlCol="0">
            <a:spAutoFit/>
          </a:bodyPr>
          <a:lstStyle/>
          <a:p>
            <a:pPr marL="285750" indent="-285750">
              <a:buClr>
                <a:schemeClr val="accent1"/>
              </a:buClr>
              <a:buFont typeface="Wingdings" panose="05000000000000000000" pitchFamily="2" charset="2"/>
              <a:buChar char="§"/>
            </a:pPr>
            <a:r>
              <a:rPr lang="el-GR" sz="1400" dirty="0"/>
              <a:t>“FootSteps”,</a:t>
            </a:r>
            <a:endParaRPr lang="en-US" sz="1400" dirty="0"/>
          </a:p>
          <a:p>
            <a:pPr marL="285750" indent="-285750">
              <a:buClr>
                <a:schemeClr val="accent1"/>
              </a:buClr>
              <a:buFont typeface="Wingdings" panose="05000000000000000000" pitchFamily="2" charset="2"/>
              <a:buChar char="§"/>
            </a:pPr>
            <a:r>
              <a:rPr lang="el-GR" sz="1400" dirty="0"/>
              <a:t> “HairDryer”, </a:t>
            </a:r>
            <a:endParaRPr lang="en-US" sz="1400" dirty="0"/>
          </a:p>
          <a:p>
            <a:pPr marL="285750" indent="-285750">
              <a:buClr>
                <a:schemeClr val="accent1"/>
              </a:buClr>
              <a:buFont typeface="Wingdings" panose="05000000000000000000" pitchFamily="2" charset="2"/>
              <a:buChar char="§"/>
            </a:pPr>
            <a:r>
              <a:rPr lang="el-GR" sz="1400" dirty="0"/>
              <a:t>“MechanicalFans”,</a:t>
            </a:r>
            <a:endParaRPr lang="en-US" sz="1400" dirty="0"/>
          </a:p>
          <a:p>
            <a:pPr marL="285750" indent="-285750">
              <a:buClr>
                <a:schemeClr val="accent1"/>
              </a:buClr>
              <a:buFont typeface="Wingdings" panose="05000000000000000000" pitchFamily="2" charset="2"/>
              <a:buChar char="§"/>
            </a:pPr>
            <a:r>
              <a:rPr lang="el-GR" sz="1400" dirty="0"/>
              <a:t> “MusicalKeyboard”, </a:t>
            </a:r>
            <a:endParaRPr lang="en-US" sz="1400" dirty="0"/>
          </a:p>
          <a:p>
            <a:pPr marL="285750" indent="-285750">
              <a:buClr>
                <a:schemeClr val="accent1"/>
              </a:buClr>
              <a:buFont typeface="Wingdings" panose="05000000000000000000" pitchFamily="2" charset="2"/>
              <a:buChar char="§"/>
            </a:pPr>
            <a:r>
              <a:rPr lang="el-GR" sz="1400" dirty="0"/>
              <a:t>“Percussion”,</a:t>
            </a:r>
            <a:endParaRPr lang="en-US" sz="1400" dirty="0"/>
          </a:p>
          <a:p>
            <a:pPr marL="285750" indent="-285750">
              <a:buClr>
                <a:schemeClr val="accent1"/>
              </a:buClr>
              <a:buFont typeface="Wingdings" panose="05000000000000000000" pitchFamily="2" charset="2"/>
              <a:buChar char="§"/>
            </a:pPr>
            <a:r>
              <a:rPr lang="el-GR" sz="1400" dirty="0"/>
              <a:t> “Pour”, </a:t>
            </a:r>
            <a:endParaRPr lang="en-US" sz="1400" dirty="0"/>
          </a:p>
          <a:p>
            <a:pPr marL="285750" indent="-285750">
              <a:buClr>
                <a:schemeClr val="accent1"/>
              </a:buClr>
              <a:buFont typeface="Wingdings" panose="05000000000000000000" pitchFamily="2" charset="2"/>
              <a:buChar char="§"/>
            </a:pPr>
            <a:r>
              <a:rPr lang="el-GR" sz="1400" dirty="0"/>
              <a:t>“Speech”, </a:t>
            </a:r>
            <a:endParaRPr lang="en-US" sz="1400" dirty="0"/>
          </a:p>
          <a:p>
            <a:pPr marL="285750" indent="-285750">
              <a:buClr>
                <a:schemeClr val="accent1"/>
              </a:buClr>
              <a:buFont typeface="Wingdings" panose="05000000000000000000" pitchFamily="2" charset="2"/>
              <a:buChar char="§"/>
            </a:pPr>
            <a:r>
              <a:rPr lang="el-GR" sz="1400" dirty="0"/>
              <a:t>“Typing”, and</a:t>
            </a:r>
            <a:endParaRPr lang="en-US" sz="1400" dirty="0"/>
          </a:p>
          <a:p>
            <a:pPr marL="285750" indent="-285750">
              <a:buClr>
                <a:schemeClr val="accent1"/>
              </a:buClr>
              <a:buFont typeface="Wingdings" panose="05000000000000000000" pitchFamily="2" charset="2"/>
              <a:buChar char="§"/>
            </a:pPr>
            <a:r>
              <a:rPr lang="el-GR" sz="1400" dirty="0"/>
              <a:t> “VacuumCleaner”</a:t>
            </a:r>
            <a:r>
              <a:rPr lang="en-US" sz="1400" dirty="0"/>
              <a:t>.</a:t>
            </a:r>
          </a:p>
          <a:p>
            <a:endParaRPr lang="el-GR" dirty="0"/>
          </a:p>
        </p:txBody>
      </p:sp>
    </p:spTree>
    <p:extLst>
      <p:ext uri="{BB962C8B-B14F-4D97-AF65-F5344CB8AC3E}">
        <p14:creationId xmlns:p14="http://schemas.microsoft.com/office/powerpoint/2010/main" val="22009547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F47586-EF65-00DE-BDBF-03037905E2A7}"/>
            </a:ext>
          </a:extLst>
        </p:cNvPr>
        <p:cNvGrpSpPr/>
        <p:nvPr/>
      </p:nvGrpSpPr>
      <p:grpSpPr>
        <a:xfrm>
          <a:off x="0" y="0"/>
          <a:ext cx="0" cy="0"/>
          <a:chOff x="0" y="0"/>
          <a:chExt cx="0" cy="0"/>
        </a:xfrm>
      </p:grpSpPr>
      <p:sp>
        <p:nvSpPr>
          <p:cNvPr id="9" name="Ορθογώνιο: Στρογγύλεμα διαγώνιων γωνιών 8">
            <a:extLst>
              <a:ext uri="{FF2B5EF4-FFF2-40B4-BE49-F238E27FC236}">
                <a16:creationId xmlns:a16="http://schemas.microsoft.com/office/drawing/2014/main" id="{D2537561-ED44-42DD-79B1-5A9BB4F0C496}"/>
              </a:ext>
            </a:extLst>
          </p:cNvPr>
          <p:cNvSpPr/>
          <p:nvPr/>
        </p:nvSpPr>
        <p:spPr>
          <a:xfrm>
            <a:off x="421407" y="79615"/>
            <a:ext cx="11196786" cy="707886"/>
          </a:xfrm>
          <a:prstGeom prst="round2Diag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a:t>DCASE2025 Task4 Dataset</a:t>
            </a:r>
            <a:endParaRPr lang="el-GR" sz="3200" b="1" dirty="0"/>
          </a:p>
        </p:txBody>
      </p:sp>
      <p:sp>
        <p:nvSpPr>
          <p:cNvPr id="3" name="TextBox 2">
            <a:extLst>
              <a:ext uri="{FF2B5EF4-FFF2-40B4-BE49-F238E27FC236}">
                <a16:creationId xmlns:a16="http://schemas.microsoft.com/office/drawing/2014/main" id="{95FBE5C5-46DD-7B02-489D-136E741DDBDB}"/>
              </a:ext>
            </a:extLst>
          </p:cNvPr>
          <p:cNvSpPr txBox="1"/>
          <p:nvPr/>
        </p:nvSpPr>
        <p:spPr>
          <a:xfrm>
            <a:off x="3341593" y="996176"/>
            <a:ext cx="5508811" cy="954107"/>
          </a:xfrm>
          <a:prstGeom prst="rect">
            <a:avLst/>
          </a:prstGeom>
          <a:noFill/>
        </p:spPr>
        <p:txBody>
          <a:bodyPr wrap="square" rtlCol="0">
            <a:spAutoFit/>
          </a:bodyPr>
          <a:lstStyle/>
          <a:p>
            <a:pPr algn="ctr"/>
            <a:r>
              <a:rPr lang="en-US" sz="2000" b="1" u="sng" dirty="0"/>
              <a:t>Development Dataset</a:t>
            </a:r>
          </a:p>
          <a:p>
            <a:pPr algn="ctr"/>
            <a:endParaRPr lang="en-US" b="1" dirty="0"/>
          </a:p>
          <a:p>
            <a:pPr algn="ctr"/>
            <a:endParaRPr lang="el-GR" b="1" dirty="0"/>
          </a:p>
        </p:txBody>
      </p:sp>
      <p:pic>
        <p:nvPicPr>
          <p:cNvPr id="10" name="Εικόνα 9">
            <a:extLst>
              <a:ext uri="{FF2B5EF4-FFF2-40B4-BE49-F238E27FC236}">
                <a16:creationId xmlns:a16="http://schemas.microsoft.com/office/drawing/2014/main" id="{33590127-3EEE-9B30-2ECD-827705D1C708}"/>
              </a:ext>
            </a:extLst>
          </p:cNvPr>
          <p:cNvPicPr>
            <a:picLocks noChangeAspect="1"/>
          </p:cNvPicPr>
          <p:nvPr/>
        </p:nvPicPr>
        <p:blipFill>
          <a:blip r:embed="rId2"/>
          <a:stretch>
            <a:fillRect/>
          </a:stretch>
        </p:blipFill>
        <p:spPr>
          <a:xfrm>
            <a:off x="6351424" y="1539927"/>
            <a:ext cx="5597494" cy="2341060"/>
          </a:xfrm>
          <a:prstGeom prst="rect">
            <a:avLst/>
          </a:prstGeom>
        </p:spPr>
      </p:pic>
      <p:pic>
        <p:nvPicPr>
          <p:cNvPr id="7" name="Εικόνα 6">
            <a:extLst>
              <a:ext uri="{FF2B5EF4-FFF2-40B4-BE49-F238E27FC236}">
                <a16:creationId xmlns:a16="http://schemas.microsoft.com/office/drawing/2014/main" id="{858C314B-2F64-E39F-23BE-A1C1CA53ED1A}"/>
              </a:ext>
            </a:extLst>
          </p:cNvPr>
          <p:cNvPicPr>
            <a:picLocks noChangeAspect="1"/>
          </p:cNvPicPr>
          <p:nvPr/>
        </p:nvPicPr>
        <p:blipFill>
          <a:blip r:embed="rId3"/>
          <a:stretch>
            <a:fillRect/>
          </a:stretch>
        </p:blipFill>
        <p:spPr>
          <a:xfrm>
            <a:off x="355904" y="1539927"/>
            <a:ext cx="5508811" cy="2341060"/>
          </a:xfrm>
          <a:prstGeom prst="rect">
            <a:avLst/>
          </a:prstGeom>
        </p:spPr>
      </p:pic>
      <p:cxnSp>
        <p:nvCxnSpPr>
          <p:cNvPr id="8" name="Ευθεία γραμμή σύνδεσης 7">
            <a:extLst>
              <a:ext uri="{FF2B5EF4-FFF2-40B4-BE49-F238E27FC236}">
                <a16:creationId xmlns:a16="http://schemas.microsoft.com/office/drawing/2014/main" id="{04D047F4-2995-204D-CC25-DBC3A78BEA28}"/>
              </a:ext>
            </a:extLst>
          </p:cNvPr>
          <p:cNvCxnSpPr>
            <a:cxnSpLocks/>
          </p:cNvCxnSpPr>
          <p:nvPr/>
        </p:nvCxnSpPr>
        <p:spPr>
          <a:xfrm>
            <a:off x="6108069" y="1475714"/>
            <a:ext cx="0" cy="2405273"/>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17" name="Εικόνα 16">
            <a:extLst>
              <a:ext uri="{FF2B5EF4-FFF2-40B4-BE49-F238E27FC236}">
                <a16:creationId xmlns:a16="http://schemas.microsoft.com/office/drawing/2014/main" id="{B3114F26-A742-50BE-DC82-95ACF1CBA2DB}"/>
              </a:ext>
            </a:extLst>
          </p:cNvPr>
          <p:cNvPicPr>
            <a:picLocks noChangeAspect="1"/>
          </p:cNvPicPr>
          <p:nvPr/>
        </p:nvPicPr>
        <p:blipFill>
          <a:blip r:embed="rId4"/>
          <a:stretch>
            <a:fillRect/>
          </a:stretch>
        </p:blipFill>
        <p:spPr>
          <a:xfrm>
            <a:off x="421407" y="4209861"/>
            <a:ext cx="5508812" cy="2537189"/>
          </a:xfrm>
          <a:prstGeom prst="rect">
            <a:avLst/>
          </a:prstGeom>
        </p:spPr>
      </p:pic>
      <p:sp>
        <p:nvSpPr>
          <p:cNvPr id="18" name="TextBox 17">
            <a:extLst>
              <a:ext uri="{FF2B5EF4-FFF2-40B4-BE49-F238E27FC236}">
                <a16:creationId xmlns:a16="http://schemas.microsoft.com/office/drawing/2014/main" id="{FA827810-0769-8FD2-EC3B-8090214CB835}"/>
              </a:ext>
            </a:extLst>
          </p:cNvPr>
          <p:cNvSpPr txBox="1"/>
          <p:nvPr/>
        </p:nvSpPr>
        <p:spPr>
          <a:xfrm>
            <a:off x="6437014" y="4424738"/>
            <a:ext cx="5597494" cy="1477328"/>
          </a:xfrm>
          <a:prstGeom prst="rect">
            <a:avLst/>
          </a:prstGeom>
          <a:noFill/>
        </p:spPr>
        <p:txBody>
          <a:bodyPr wrap="square" rtlCol="0">
            <a:spAutoFit/>
          </a:bodyPr>
          <a:lstStyle/>
          <a:p>
            <a:pPr marL="285750" indent="-285750">
              <a:buFont typeface="Wingdings" panose="05000000000000000000" pitchFamily="2" charset="2"/>
              <a:buChar char="Ø"/>
            </a:pPr>
            <a:r>
              <a:rPr lang="en-US" b="1" dirty="0"/>
              <a:t>The variability of the acoustic event classes in terms of temporal and spectral characteristics constitutes a more realistic and challenging benchmark for source separation and acoustic event analysis. </a:t>
            </a:r>
            <a:endParaRPr lang="el-GR" b="1" dirty="0"/>
          </a:p>
        </p:txBody>
      </p:sp>
    </p:spTree>
    <p:extLst>
      <p:ext uri="{BB962C8B-B14F-4D97-AF65-F5344CB8AC3E}">
        <p14:creationId xmlns:p14="http://schemas.microsoft.com/office/powerpoint/2010/main" val="1347081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2D6BFF-373B-C8E2-9DF9-0FF6D5F8C7A8}"/>
            </a:ext>
          </a:extLst>
        </p:cNvPr>
        <p:cNvGrpSpPr/>
        <p:nvPr/>
      </p:nvGrpSpPr>
      <p:grpSpPr>
        <a:xfrm>
          <a:off x="0" y="0"/>
          <a:ext cx="0" cy="0"/>
          <a:chOff x="0" y="0"/>
          <a:chExt cx="0" cy="0"/>
        </a:xfrm>
      </p:grpSpPr>
      <p:sp>
        <p:nvSpPr>
          <p:cNvPr id="9" name="Ορθογώνιο: Στρογγύλεμα διαγώνιων γωνιών 8">
            <a:extLst>
              <a:ext uri="{FF2B5EF4-FFF2-40B4-BE49-F238E27FC236}">
                <a16:creationId xmlns:a16="http://schemas.microsoft.com/office/drawing/2014/main" id="{6DBCED8E-DFB4-6F8F-E9AA-7C8EFF81E436}"/>
              </a:ext>
            </a:extLst>
          </p:cNvPr>
          <p:cNvSpPr/>
          <p:nvPr/>
        </p:nvSpPr>
        <p:spPr>
          <a:xfrm>
            <a:off x="421407" y="79615"/>
            <a:ext cx="11196786" cy="707886"/>
          </a:xfrm>
          <a:prstGeom prst="round2Diag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a:t>DCASE2025 Task4 Dataset</a:t>
            </a:r>
            <a:endParaRPr lang="el-GR" sz="3200" b="1" dirty="0"/>
          </a:p>
        </p:txBody>
      </p:sp>
      <p:sp>
        <p:nvSpPr>
          <p:cNvPr id="3" name="TextBox 2">
            <a:extLst>
              <a:ext uri="{FF2B5EF4-FFF2-40B4-BE49-F238E27FC236}">
                <a16:creationId xmlns:a16="http://schemas.microsoft.com/office/drawing/2014/main" id="{F68E47D4-D9B6-1854-217D-929E4F73DD8A}"/>
              </a:ext>
            </a:extLst>
          </p:cNvPr>
          <p:cNvSpPr txBox="1"/>
          <p:nvPr/>
        </p:nvSpPr>
        <p:spPr>
          <a:xfrm>
            <a:off x="0" y="998659"/>
            <a:ext cx="5508811" cy="1538883"/>
          </a:xfrm>
          <a:prstGeom prst="rect">
            <a:avLst/>
          </a:prstGeom>
          <a:noFill/>
        </p:spPr>
        <p:txBody>
          <a:bodyPr wrap="square" rtlCol="0">
            <a:spAutoFit/>
          </a:bodyPr>
          <a:lstStyle/>
          <a:p>
            <a:pPr algn="ctr"/>
            <a:r>
              <a:rPr lang="en-US" sz="2000" b="1" u="sng" dirty="0"/>
              <a:t>Evaluation Dataset</a:t>
            </a:r>
          </a:p>
          <a:p>
            <a:pPr algn="ctr"/>
            <a:endParaRPr lang="en-US" sz="2000" b="1" dirty="0"/>
          </a:p>
          <a:p>
            <a:pPr marL="285750" indent="-285750">
              <a:buFont typeface="Wingdings" panose="05000000000000000000" pitchFamily="2" charset="2"/>
              <a:buChar char="Ø"/>
            </a:pPr>
            <a:r>
              <a:rPr lang="en-US" dirty="0"/>
              <a:t>Includes all the multichannel spatial mixture signals.</a:t>
            </a:r>
          </a:p>
          <a:p>
            <a:pPr algn="ctr"/>
            <a:endParaRPr lang="el-GR" b="1" dirty="0"/>
          </a:p>
        </p:txBody>
      </p:sp>
      <p:cxnSp>
        <p:nvCxnSpPr>
          <p:cNvPr id="8" name="Ευθεία γραμμή σύνδεσης 7">
            <a:extLst>
              <a:ext uri="{FF2B5EF4-FFF2-40B4-BE49-F238E27FC236}">
                <a16:creationId xmlns:a16="http://schemas.microsoft.com/office/drawing/2014/main" id="{9407B201-4744-012A-EB80-C5BD080E619F}"/>
              </a:ext>
            </a:extLst>
          </p:cNvPr>
          <p:cNvCxnSpPr>
            <a:cxnSpLocks/>
          </p:cNvCxnSpPr>
          <p:nvPr/>
        </p:nvCxnSpPr>
        <p:spPr>
          <a:xfrm>
            <a:off x="6096000" y="1129419"/>
            <a:ext cx="0" cy="5413973"/>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413086AC-E414-37EF-1B3A-C9C742E5C078}"/>
              </a:ext>
            </a:extLst>
          </p:cNvPr>
          <p:cNvSpPr txBox="1"/>
          <p:nvPr/>
        </p:nvSpPr>
        <p:spPr>
          <a:xfrm>
            <a:off x="6266390" y="1062367"/>
            <a:ext cx="5508811" cy="1231106"/>
          </a:xfrm>
          <a:prstGeom prst="rect">
            <a:avLst/>
          </a:prstGeom>
          <a:noFill/>
        </p:spPr>
        <p:txBody>
          <a:bodyPr wrap="square" rtlCol="0">
            <a:spAutoFit/>
          </a:bodyPr>
          <a:lstStyle/>
          <a:p>
            <a:pPr algn="ctr"/>
            <a:r>
              <a:rPr lang="en-US" sz="2000" b="1" u="sng" dirty="0"/>
              <a:t>Evaluation Ground Truth Dataset</a:t>
            </a:r>
          </a:p>
          <a:p>
            <a:pPr algn="ctr"/>
            <a:endParaRPr lang="en-US" b="1" dirty="0"/>
          </a:p>
          <a:p>
            <a:pPr marL="285750" indent="-285750">
              <a:buFont typeface="Wingdings" panose="05000000000000000000" pitchFamily="2" charset="2"/>
              <a:buChar char="Ø"/>
            </a:pPr>
            <a:r>
              <a:rPr lang="en-US" dirty="0"/>
              <a:t>Contains the isolated ground truth signals of the evaluation multichannel mixture signals.</a:t>
            </a:r>
            <a:endParaRPr lang="el-GR" dirty="0"/>
          </a:p>
        </p:txBody>
      </p:sp>
      <p:pic>
        <p:nvPicPr>
          <p:cNvPr id="11" name="Εικόνα 10">
            <a:extLst>
              <a:ext uri="{FF2B5EF4-FFF2-40B4-BE49-F238E27FC236}">
                <a16:creationId xmlns:a16="http://schemas.microsoft.com/office/drawing/2014/main" id="{5118B211-ECB9-25F5-BDD1-6F20A2786C5C}"/>
              </a:ext>
            </a:extLst>
          </p:cNvPr>
          <p:cNvPicPr>
            <a:picLocks noChangeAspect="1"/>
          </p:cNvPicPr>
          <p:nvPr/>
        </p:nvPicPr>
        <p:blipFill>
          <a:blip r:embed="rId2"/>
          <a:stretch>
            <a:fillRect/>
          </a:stretch>
        </p:blipFill>
        <p:spPr>
          <a:xfrm>
            <a:off x="43418" y="2519992"/>
            <a:ext cx="5918351" cy="2660087"/>
          </a:xfrm>
          <a:prstGeom prst="rect">
            <a:avLst/>
          </a:prstGeom>
        </p:spPr>
      </p:pic>
      <p:pic>
        <p:nvPicPr>
          <p:cNvPr id="13" name="Εικόνα 12">
            <a:extLst>
              <a:ext uri="{FF2B5EF4-FFF2-40B4-BE49-F238E27FC236}">
                <a16:creationId xmlns:a16="http://schemas.microsoft.com/office/drawing/2014/main" id="{E5AEC295-48E4-B869-2576-0F6591C3F7A4}"/>
              </a:ext>
            </a:extLst>
          </p:cNvPr>
          <p:cNvPicPr>
            <a:picLocks noChangeAspect="1"/>
          </p:cNvPicPr>
          <p:nvPr/>
        </p:nvPicPr>
        <p:blipFill>
          <a:blip r:embed="rId3"/>
          <a:stretch>
            <a:fillRect/>
          </a:stretch>
        </p:blipFill>
        <p:spPr>
          <a:xfrm>
            <a:off x="6266390" y="2519992"/>
            <a:ext cx="5882191" cy="2660088"/>
          </a:xfrm>
          <a:prstGeom prst="rect">
            <a:avLst/>
          </a:prstGeom>
        </p:spPr>
      </p:pic>
    </p:spTree>
    <p:extLst>
      <p:ext uri="{BB962C8B-B14F-4D97-AF65-F5344CB8AC3E}">
        <p14:creationId xmlns:p14="http://schemas.microsoft.com/office/powerpoint/2010/main" val="28262680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7BC57-3947-3FE0-FA28-1F3AACE45F7F}"/>
            </a:ext>
          </a:extLst>
        </p:cNvPr>
        <p:cNvGrpSpPr/>
        <p:nvPr/>
      </p:nvGrpSpPr>
      <p:grpSpPr>
        <a:xfrm>
          <a:off x="0" y="0"/>
          <a:ext cx="0" cy="0"/>
          <a:chOff x="0" y="0"/>
          <a:chExt cx="0" cy="0"/>
        </a:xfrm>
      </p:grpSpPr>
      <p:sp>
        <p:nvSpPr>
          <p:cNvPr id="9" name="Ορθογώνιο: Στρογγύλεμα διαγώνιων γωνιών 8">
            <a:extLst>
              <a:ext uri="{FF2B5EF4-FFF2-40B4-BE49-F238E27FC236}">
                <a16:creationId xmlns:a16="http://schemas.microsoft.com/office/drawing/2014/main" id="{5B06C13B-C432-7403-E497-211ECF820273}"/>
              </a:ext>
            </a:extLst>
          </p:cNvPr>
          <p:cNvSpPr/>
          <p:nvPr/>
        </p:nvSpPr>
        <p:spPr>
          <a:xfrm>
            <a:off x="317670" y="68424"/>
            <a:ext cx="11196786" cy="707886"/>
          </a:xfrm>
          <a:prstGeom prst="round2Diag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t>Independent Vector Analysis (IVA)</a:t>
            </a:r>
            <a:endParaRPr lang="el-GR" sz="3200" b="1" dirty="0"/>
          </a:p>
        </p:txBody>
      </p:sp>
      <p:sp>
        <p:nvSpPr>
          <p:cNvPr id="3" name="TextBox 2">
            <a:extLst>
              <a:ext uri="{FF2B5EF4-FFF2-40B4-BE49-F238E27FC236}">
                <a16:creationId xmlns:a16="http://schemas.microsoft.com/office/drawing/2014/main" id="{65482D93-B1F0-A64D-FB56-A3007C32AF82}"/>
              </a:ext>
            </a:extLst>
          </p:cNvPr>
          <p:cNvSpPr txBox="1"/>
          <p:nvPr/>
        </p:nvSpPr>
        <p:spPr>
          <a:xfrm>
            <a:off x="239385" y="776310"/>
            <a:ext cx="11196786" cy="923330"/>
          </a:xfrm>
          <a:prstGeom prst="rect">
            <a:avLst/>
          </a:prstGeom>
          <a:noFill/>
        </p:spPr>
        <p:txBody>
          <a:bodyPr wrap="square" rtlCol="0">
            <a:spAutoFit/>
          </a:bodyPr>
          <a:lstStyle/>
          <a:p>
            <a:pPr>
              <a:buClr>
                <a:schemeClr val="accent1">
                  <a:lumMod val="75000"/>
                </a:schemeClr>
              </a:buClr>
            </a:pPr>
            <a:r>
              <a:rPr lang="en-US" b="1" dirty="0"/>
              <a:t>IVA is a statistical independence separation algorithm. It uses the statistical properties of the source signals bases on their spectral characteristics and their spatial relationships. It is applied to the frequency domain for multichannel mixture signals. </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4DA7038D-B34B-F215-6421-B36B275940E5}"/>
                  </a:ext>
                </a:extLst>
              </p:cNvPr>
              <p:cNvSpPr txBox="1"/>
              <p:nvPr/>
            </p:nvSpPr>
            <p:spPr>
              <a:xfrm>
                <a:off x="317670" y="1928388"/>
                <a:ext cx="5295479" cy="1477328"/>
              </a:xfrm>
              <a:prstGeom prst="rect">
                <a:avLst/>
              </a:prstGeom>
              <a:noFill/>
            </p:spPr>
            <p:txBody>
              <a:bodyPr wrap="square" rtlCol="0">
                <a:spAutoFit/>
              </a:bodyPr>
              <a:lstStyle/>
              <a:p>
                <a:pPr marL="342900" indent="-342900">
                  <a:buAutoNum type="arabicPeriod"/>
                </a:pPr>
                <a:r>
                  <a:rPr lang="en-US" b="1" u="sng" dirty="0"/>
                  <a:t>Input / Mixing Model</a:t>
                </a:r>
              </a:p>
              <a:p>
                <a:pPr marL="285750" indent="-285750">
                  <a:buClr>
                    <a:schemeClr val="accent1"/>
                  </a:buClr>
                  <a:buFont typeface="Arial" panose="020B0604020202020204" pitchFamily="34" charset="0"/>
                  <a:buChar char="•"/>
                </a:pPr>
                <a:r>
                  <a:rPr lang="en-US" dirty="0"/>
                  <a:t>Multichannel mixture: </a:t>
                </a:r>
                <a14:m>
                  <m:oMath xmlns:m="http://schemas.openxmlformats.org/officeDocument/2006/math">
                    <m:r>
                      <a:rPr lang="en-US" b="0" i="1" smtClean="0">
                        <a:latin typeface="Cambria Math" panose="02040503050406030204" pitchFamily="18" charset="0"/>
                      </a:rPr>
                      <m:t>𝑀</m:t>
                    </m:r>
                    <m:r>
                      <a:rPr lang="en-US" b="0" i="1" smtClean="0">
                        <a:latin typeface="Cambria Math" panose="02040503050406030204" pitchFamily="18" charset="0"/>
                      </a:rPr>
                      <m:t>=4</m:t>
                    </m:r>
                  </m:oMath>
                </a14:m>
                <a:r>
                  <a:rPr lang="en-US" dirty="0"/>
                  <a:t> channels</a:t>
                </a:r>
              </a:p>
              <a:p>
                <a:pPr marL="285750" indent="-285750">
                  <a:buClr>
                    <a:schemeClr val="accent1"/>
                  </a:buClr>
                  <a:buFont typeface="Arial" panose="020B0604020202020204" pitchFamily="34" charset="0"/>
                  <a:buChar char="•"/>
                </a:pPr>
                <a:r>
                  <a:rPr lang="en-US" dirty="0"/>
                  <a:t>Time-domain mixture: </a:t>
                </a:r>
                <a14:m>
                  <m:oMath xmlns:m="http://schemas.openxmlformats.org/officeDocument/2006/math">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𝐻𝑠</m:t>
                    </m:r>
                  </m:oMath>
                </a14:m>
                <a:endParaRPr lang="en-US" dirty="0"/>
              </a:p>
              <a:p>
                <a:pPr marL="285750" indent="-285750">
                  <a:buClr>
                    <a:schemeClr val="accent1"/>
                  </a:buClr>
                  <a:buFont typeface="Arial" panose="020B0604020202020204" pitchFamily="34" charset="0"/>
                  <a:buChar char="•"/>
                </a:pPr>
                <a:r>
                  <a:rPr lang="en-US" dirty="0"/>
                  <a:t>Transformation to time-frequence domain using STFT: </a:t>
                </a:r>
                <a14:m>
                  <m:oMath xmlns:m="http://schemas.openxmlformats.org/officeDocument/2006/math">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𝑘</m:t>
                        </m:r>
                        <m:r>
                          <a:rPr lang="en-US" b="0" i="1" smtClean="0">
                            <a:latin typeface="Cambria Math" panose="02040503050406030204" pitchFamily="18" charset="0"/>
                          </a:rPr>
                          <m:t>,</m:t>
                        </m:r>
                        <m:r>
                          <a:rPr lang="en-US" b="0" i="1" smtClean="0">
                            <a:latin typeface="Cambria Math" panose="02040503050406030204" pitchFamily="18" charset="0"/>
                          </a:rPr>
                          <m:t>𝑛</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𝑘</m:t>
                        </m:r>
                        <m:r>
                          <a:rPr lang="en-US" b="0" i="1" smtClean="0">
                            <a:latin typeface="Cambria Math" panose="02040503050406030204" pitchFamily="18" charset="0"/>
                          </a:rPr>
                          <m:t>,</m:t>
                        </m:r>
                        <m:r>
                          <a:rPr lang="en-US" b="0" i="1" smtClean="0">
                            <a:latin typeface="Cambria Math" panose="02040503050406030204" pitchFamily="18" charset="0"/>
                          </a:rPr>
                          <m:t>𝑛</m:t>
                        </m:r>
                      </m:e>
                    </m:d>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𝑘</m:t>
                        </m:r>
                        <m:r>
                          <a:rPr lang="en-US" b="0" i="1" smtClean="0">
                            <a:latin typeface="Cambria Math" panose="02040503050406030204" pitchFamily="18" charset="0"/>
                          </a:rPr>
                          <m:t>,</m:t>
                        </m:r>
                        <m:r>
                          <a:rPr lang="en-US" b="0" i="1" smtClean="0">
                            <a:latin typeface="Cambria Math" panose="02040503050406030204" pitchFamily="18" charset="0"/>
                          </a:rPr>
                          <m:t>𝑛</m:t>
                        </m:r>
                      </m:e>
                    </m:d>
                    <m:r>
                      <a:rPr lang="en-US" b="0" i="1" smtClean="0">
                        <a:latin typeface="Cambria Math" panose="02040503050406030204" pitchFamily="18" charset="0"/>
                      </a:rPr>
                      <m:t>, …,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𝑀</m:t>
                        </m:r>
                      </m:sub>
                    </m:sSub>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𝑘</m:t>
                            </m:r>
                            <m:r>
                              <a:rPr lang="en-US" b="0" i="1" smtClean="0">
                                <a:latin typeface="Cambria Math" panose="02040503050406030204" pitchFamily="18" charset="0"/>
                              </a:rPr>
                              <m:t>,</m:t>
                            </m:r>
                            <m:r>
                              <a:rPr lang="en-US" b="0" i="1" smtClean="0">
                                <a:latin typeface="Cambria Math" panose="02040503050406030204" pitchFamily="18" charset="0"/>
                              </a:rPr>
                              <m:t>𝑛</m:t>
                            </m:r>
                          </m:e>
                        </m:d>
                      </m:e>
                      <m:sup>
                        <m:r>
                          <a:rPr lang="en-US" b="0" i="1" smtClean="0">
                            <a:latin typeface="Cambria Math" panose="02040503050406030204" pitchFamily="18" charset="0"/>
                          </a:rPr>
                          <m:t>𝑇</m:t>
                        </m:r>
                      </m:sup>
                    </m:sSup>
                    <m:r>
                      <a:rPr lang="en-US" b="0" i="0" smtClean="0">
                        <a:latin typeface="Cambria Math" panose="02040503050406030204" pitchFamily="18" charset="0"/>
                      </a:rPr>
                      <m:t>]</m:t>
                    </m:r>
                  </m:oMath>
                </a14:m>
                <a:endParaRPr lang="en-US" dirty="0"/>
              </a:p>
            </p:txBody>
          </p:sp>
        </mc:Choice>
        <mc:Fallback xmlns="">
          <p:sp>
            <p:nvSpPr>
              <p:cNvPr id="4" name="TextBox 3">
                <a:extLst>
                  <a:ext uri="{FF2B5EF4-FFF2-40B4-BE49-F238E27FC236}">
                    <a16:creationId xmlns:a16="http://schemas.microsoft.com/office/drawing/2014/main" id="{4DA7038D-B34B-F215-6421-B36B275940E5}"/>
                  </a:ext>
                </a:extLst>
              </p:cNvPr>
              <p:cNvSpPr txBox="1">
                <a:spLocks noRot="1" noChangeAspect="1" noMove="1" noResize="1" noEditPoints="1" noAdjustHandles="1" noChangeArrowheads="1" noChangeShapeType="1" noTextEdit="1"/>
              </p:cNvSpPr>
              <p:nvPr/>
            </p:nvSpPr>
            <p:spPr>
              <a:xfrm>
                <a:off x="317670" y="1928388"/>
                <a:ext cx="5295479" cy="1477328"/>
              </a:xfrm>
              <a:prstGeom prst="rect">
                <a:avLst/>
              </a:prstGeom>
              <a:blipFill>
                <a:blip r:embed="rId2"/>
                <a:stretch>
                  <a:fillRect l="-1036" t="-2058" b="-5761"/>
                </a:stretch>
              </a:blipFill>
            </p:spPr>
            <p:txBody>
              <a:bodyPr/>
              <a:lstStyle/>
              <a:p>
                <a:r>
                  <a:rPr lang="el-GR">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473C06AA-ED16-ABB4-4DA3-0499524DC855}"/>
                  </a:ext>
                </a:extLst>
              </p:cNvPr>
              <p:cNvSpPr txBox="1"/>
              <p:nvPr/>
            </p:nvSpPr>
            <p:spPr>
              <a:xfrm>
                <a:off x="6218977" y="1928388"/>
                <a:ext cx="5295479" cy="1477328"/>
              </a:xfrm>
              <a:prstGeom prst="rect">
                <a:avLst/>
              </a:prstGeom>
              <a:noFill/>
            </p:spPr>
            <p:txBody>
              <a:bodyPr wrap="square" rtlCol="0">
                <a:spAutoFit/>
              </a:bodyPr>
              <a:lstStyle/>
              <a:p>
                <a:r>
                  <a:rPr lang="en-US" b="1" dirty="0"/>
                  <a:t>2. </a:t>
                </a:r>
                <a:r>
                  <a:rPr lang="en-US" b="1" u="sng" dirty="0"/>
                  <a:t>IVA Principle: Frequency-Domain Separation </a:t>
                </a:r>
              </a:p>
              <a:p>
                <a:pPr marL="285750" indent="-285750">
                  <a:buClr>
                    <a:schemeClr val="accent1"/>
                  </a:buClr>
                  <a:buFont typeface="Arial" panose="020B0604020202020204" pitchFamily="34" charset="0"/>
                  <a:buChar char="•"/>
                </a:pPr>
                <a14:m>
                  <m:oMath xmlns:m="http://schemas.openxmlformats.org/officeDocument/2006/math">
                    <m:r>
                      <a:rPr lang="en-US" b="0" i="1" smtClean="0">
                        <a:latin typeface="Cambria Math" panose="02040503050406030204" pitchFamily="18" charset="0"/>
                      </a:rPr>
                      <m:t>𝑦</m:t>
                    </m:r>
                    <m:d>
                      <m:dPr>
                        <m:ctrlPr>
                          <a:rPr lang="en-US" b="0" i="1" smtClean="0">
                            <a:latin typeface="Cambria Math" panose="02040503050406030204" pitchFamily="18" charset="0"/>
                          </a:rPr>
                        </m:ctrlPr>
                      </m:dPr>
                      <m:e>
                        <m:r>
                          <a:rPr lang="en-US" b="0" i="1" smtClean="0">
                            <a:latin typeface="Cambria Math" panose="02040503050406030204" pitchFamily="18" charset="0"/>
                          </a:rPr>
                          <m:t>𝑘</m:t>
                        </m:r>
                        <m:r>
                          <a:rPr lang="en-US" b="0" i="1" smtClean="0">
                            <a:latin typeface="Cambria Math" panose="02040503050406030204" pitchFamily="18" charset="0"/>
                          </a:rPr>
                          <m:t>,</m:t>
                        </m:r>
                        <m:r>
                          <a:rPr lang="en-US" b="0" i="1" smtClean="0">
                            <a:latin typeface="Cambria Math" panose="02040503050406030204" pitchFamily="18" charset="0"/>
                          </a:rPr>
                          <m:t>𝑛</m:t>
                        </m:r>
                      </m:e>
                    </m:d>
                    <m:r>
                      <a:rPr lang="en-US" b="0" i="1" smtClean="0">
                        <a:latin typeface="Cambria Math" panose="02040503050406030204" pitchFamily="18" charset="0"/>
                      </a:rPr>
                      <m:t>=</m:t>
                    </m:r>
                    <m:r>
                      <a:rPr lang="en-US" b="0" i="1" smtClean="0">
                        <a:latin typeface="Cambria Math" panose="02040503050406030204" pitchFamily="18" charset="0"/>
                      </a:rPr>
                      <m:t>𝑊</m:t>
                    </m:r>
                    <m:d>
                      <m:dPr>
                        <m:ctrlPr>
                          <a:rPr lang="en-US" b="0" i="1" smtClean="0">
                            <a:latin typeface="Cambria Math" panose="02040503050406030204" pitchFamily="18" charset="0"/>
                          </a:rPr>
                        </m:ctrlPr>
                      </m:dPr>
                      <m:e>
                        <m:r>
                          <a:rPr lang="en-US" b="0" i="1" smtClean="0">
                            <a:latin typeface="Cambria Math" panose="02040503050406030204" pitchFamily="18" charset="0"/>
                          </a:rPr>
                          <m:t>𝑘</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𝑘</m:t>
                        </m:r>
                        <m:r>
                          <a:rPr lang="en-US" b="0" i="1" smtClean="0">
                            <a:latin typeface="Cambria Math" panose="02040503050406030204" pitchFamily="18" charset="0"/>
                          </a:rPr>
                          <m:t>,</m:t>
                        </m:r>
                        <m:r>
                          <a:rPr lang="en-US" b="0" i="1" smtClean="0">
                            <a:latin typeface="Cambria Math" panose="02040503050406030204" pitchFamily="18" charset="0"/>
                          </a:rPr>
                          <m:t>𝑛</m:t>
                        </m:r>
                      </m:e>
                    </m:d>
                  </m:oMath>
                </a14:m>
                <a:endParaRPr lang="en-US" b="0" dirty="0"/>
              </a:p>
              <a:p>
                <a:pPr marL="742950" lvl="1" indent="-285750">
                  <a:buClr>
                    <a:schemeClr val="accent1"/>
                  </a:buClr>
                  <a:buFont typeface="Wingdings" panose="05000000000000000000" pitchFamily="2" charset="2"/>
                  <a:buChar char="§"/>
                </a:pPr>
                <a14:m>
                  <m:oMath xmlns:m="http://schemas.openxmlformats.org/officeDocument/2006/math">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𝑘</m:t>
                        </m:r>
                        <m:r>
                          <a:rPr lang="en-US" b="0" i="1" smtClean="0">
                            <a:latin typeface="Cambria Math" panose="02040503050406030204" pitchFamily="18" charset="0"/>
                          </a:rPr>
                          <m:t>,</m:t>
                        </m:r>
                        <m:r>
                          <a:rPr lang="en-US" b="0" i="1" smtClean="0">
                            <a:latin typeface="Cambria Math" panose="02040503050406030204" pitchFamily="18" charset="0"/>
                          </a:rPr>
                          <m:t>𝑛</m:t>
                        </m:r>
                      </m:e>
                    </m:d>
                  </m:oMath>
                </a14:m>
                <a:r>
                  <a:rPr lang="en-US" dirty="0"/>
                  <a:t>: microphone observations</a:t>
                </a:r>
              </a:p>
              <a:p>
                <a:pPr marL="742950" lvl="1" indent="-285750">
                  <a:buClr>
                    <a:schemeClr val="accent1"/>
                  </a:buClr>
                  <a:buFont typeface="Wingdings" panose="05000000000000000000" pitchFamily="2" charset="2"/>
                  <a:buChar char="§"/>
                </a:pPr>
                <a14:m>
                  <m:oMath xmlns:m="http://schemas.openxmlformats.org/officeDocument/2006/math">
                    <m:r>
                      <a:rPr lang="en-US" b="0" i="1" smtClean="0">
                        <a:latin typeface="Cambria Math" panose="02040503050406030204" pitchFamily="18" charset="0"/>
                      </a:rPr>
                      <m:t>𝑊</m:t>
                    </m:r>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m:t>
                    </m:r>
                  </m:oMath>
                </a14:m>
                <a:r>
                  <a:rPr lang="en-US" dirty="0"/>
                  <a:t>: demixing matrix</a:t>
                </a:r>
              </a:p>
              <a:p>
                <a:pPr marL="742950" lvl="1" indent="-285750">
                  <a:buClr>
                    <a:schemeClr val="accent1"/>
                  </a:buClr>
                  <a:buFont typeface="Wingdings" panose="05000000000000000000" pitchFamily="2" charset="2"/>
                  <a:buChar char="§"/>
                </a:pPr>
                <a14:m>
                  <m:oMath xmlns:m="http://schemas.openxmlformats.org/officeDocument/2006/math">
                    <m:r>
                      <a:rPr lang="en-US" b="0" i="1" smtClean="0">
                        <a:latin typeface="Cambria Math" panose="02040503050406030204" pitchFamily="18" charset="0"/>
                      </a:rPr>
                      <m:t>𝑦</m:t>
                    </m:r>
                    <m:d>
                      <m:dPr>
                        <m:ctrlPr>
                          <a:rPr lang="en-US" b="0" i="1" smtClean="0">
                            <a:latin typeface="Cambria Math" panose="02040503050406030204" pitchFamily="18" charset="0"/>
                          </a:rPr>
                        </m:ctrlPr>
                      </m:dPr>
                      <m:e>
                        <m:r>
                          <a:rPr lang="en-US" b="0" i="1" smtClean="0">
                            <a:latin typeface="Cambria Math" panose="02040503050406030204" pitchFamily="18" charset="0"/>
                          </a:rPr>
                          <m:t>𝑘</m:t>
                        </m:r>
                        <m:r>
                          <a:rPr lang="en-US" b="0" i="1" smtClean="0">
                            <a:latin typeface="Cambria Math" panose="02040503050406030204" pitchFamily="18" charset="0"/>
                          </a:rPr>
                          <m:t>,</m:t>
                        </m:r>
                        <m:r>
                          <a:rPr lang="en-US" b="0" i="1" smtClean="0">
                            <a:latin typeface="Cambria Math" panose="02040503050406030204" pitchFamily="18" charset="0"/>
                          </a:rPr>
                          <m:t>𝑛</m:t>
                        </m:r>
                      </m:e>
                    </m:d>
                  </m:oMath>
                </a14:m>
                <a:r>
                  <a:rPr lang="en-US" dirty="0"/>
                  <a:t>: separated outputs</a:t>
                </a:r>
              </a:p>
            </p:txBody>
          </p:sp>
        </mc:Choice>
        <mc:Fallback xmlns="">
          <p:sp>
            <p:nvSpPr>
              <p:cNvPr id="6" name="TextBox 5">
                <a:extLst>
                  <a:ext uri="{FF2B5EF4-FFF2-40B4-BE49-F238E27FC236}">
                    <a16:creationId xmlns:a16="http://schemas.microsoft.com/office/drawing/2014/main" id="{473C06AA-ED16-ABB4-4DA3-0499524DC855}"/>
                  </a:ext>
                </a:extLst>
              </p:cNvPr>
              <p:cNvSpPr txBox="1">
                <a:spLocks noRot="1" noChangeAspect="1" noMove="1" noResize="1" noEditPoints="1" noAdjustHandles="1" noChangeArrowheads="1" noChangeShapeType="1" noTextEdit="1"/>
              </p:cNvSpPr>
              <p:nvPr/>
            </p:nvSpPr>
            <p:spPr>
              <a:xfrm>
                <a:off x="6218977" y="1928388"/>
                <a:ext cx="5295479" cy="1477328"/>
              </a:xfrm>
              <a:prstGeom prst="rect">
                <a:avLst/>
              </a:prstGeom>
              <a:blipFill>
                <a:blip r:embed="rId3"/>
                <a:stretch>
                  <a:fillRect l="-921" t="-1646" b="-5761"/>
                </a:stretch>
              </a:blipFill>
            </p:spPr>
            <p:txBody>
              <a:bodyPr/>
              <a:lstStyle/>
              <a:p>
                <a:r>
                  <a:rPr lang="el-GR">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687CBB0F-F63A-0D38-435D-A3A18E508220}"/>
                  </a:ext>
                </a:extLst>
              </p:cNvPr>
              <p:cNvSpPr txBox="1"/>
              <p:nvPr/>
            </p:nvSpPr>
            <p:spPr>
              <a:xfrm>
                <a:off x="3448260" y="4307940"/>
                <a:ext cx="5295479" cy="1477328"/>
              </a:xfrm>
              <a:prstGeom prst="rect">
                <a:avLst/>
              </a:prstGeom>
              <a:noFill/>
            </p:spPr>
            <p:txBody>
              <a:bodyPr wrap="square" rtlCol="0">
                <a:spAutoFit/>
              </a:bodyPr>
              <a:lstStyle/>
              <a:p>
                <a:r>
                  <a:rPr lang="en-US" b="1" dirty="0"/>
                  <a:t>3. </a:t>
                </a:r>
                <a:r>
                  <a:rPr lang="en-US" b="1" u="sng" dirty="0"/>
                  <a:t>Output</a:t>
                </a:r>
              </a:p>
              <a:p>
                <a:pPr marL="285750" indent="-285750">
                  <a:buClr>
                    <a:schemeClr val="accent1"/>
                  </a:buClr>
                  <a:buFont typeface="Arial" panose="020B0604020202020204" pitchFamily="34" charset="0"/>
                  <a:buChar char="•"/>
                </a:pPr>
                <a14:m>
                  <m:oMath xmlns:m="http://schemas.openxmlformats.org/officeDocument/2006/math">
                    <m:r>
                      <a:rPr lang="en-US" b="0" i="1" smtClean="0">
                        <a:latin typeface="Cambria Math" panose="02040503050406030204" pitchFamily="18" charset="0"/>
                      </a:rPr>
                      <m:t>𝑦</m:t>
                    </m:r>
                    <m:d>
                      <m:dPr>
                        <m:ctrlPr>
                          <a:rPr lang="en-US" b="0" i="1" smtClean="0">
                            <a:latin typeface="Cambria Math" panose="02040503050406030204" pitchFamily="18" charset="0"/>
                          </a:rPr>
                        </m:ctrlPr>
                      </m:dPr>
                      <m:e>
                        <m:r>
                          <a:rPr lang="en-US" b="0" i="1" smtClean="0">
                            <a:latin typeface="Cambria Math" panose="02040503050406030204" pitchFamily="18" charset="0"/>
                          </a:rPr>
                          <m:t>𝑘</m:t>
                        </m:r>
                        <m:r>
                          <a:rPr lang="en-US" b="0" i="1" smtClean="0">
                            <a:latin typeface="Cambria Math" panose="02040503050406030204" pitchFamily="18" charset="0"/>
                          </a:rPr>
                          <m:t>,</m:t>
                        </m:r>
                        <m:r>
                          <a:rPr lang="en-US" b="0" i="1" smtClean="0">
                            <a:latin typeface="Cambria Math" panose="02040503050406030204" pitchFamily="18" charset="0"/>
                          </a:rPr>
                          <m:t>𝑛</m:t>
                        </m:r>
                      </m:e>
                    </m:d>
                    <m:r>
                      <a:rPr lang="en-US" b="0" i="1" smtClean="0">
                        <a:latin typeface="Cambria Math" panose="02040503050406030204" pitchFamily="18" charset="0"/>
                      </a:rPr>
                      <m:t> →</m:t>
                    </m:r>
                    <m:r>
                      <a:rPr lang="en-US" b="0" i="1" smtClean="0">
                        <a:latin typeface="Cambria Math" panose="02040503050406030204" pitchFamily="18" charset="0"/>
                      </a:rPr>
                      <m:t>𝐼𝑆𝑇𝐹𝑇</m:t>
                    </m:r>
                    <m:r>
                      <a:rPr lang="en-US" b="0" i="1" smtClean="0">
                        <a:latin typeface="Cambria Math" panose="02040503050406030204" pitchFamily="18" charset="0"/>
                      </a:rPr>
                      <m:t> →</m:t>
                    </m:r>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1</m:t>
                            </m:r>
                          </m:sub>
                        </m:sSub>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 …,</m:t>
                    </m:r>
                    <m:acc>
                      <m:accPr>
                        <m:chr m:val="̂"/>
                        <m:ctrlPr>
                          <a:rPr lang="en-US" b="0" i="1" smtClean="0">
                            <a:latin typeface="Cambria Math" panose="02040503050406030204" pitchFamily="18" charset="0"/>
                          </a:rPr>
                        </m:ctrlPr>
                      </m:acc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𝑀</m:t>
                            </m:r>
                          </m:sub>
                        </m:sSub>
                      </m:e>
                    </m:acc>
                    <m:d>
                      <m:dPr>
                        <m:ctrlPr>
                          <a:rPr lang="en-US" i="1">
                            <a:latin typeface="Cambria Math" panose="02040503050406030204" pitchFamily="18" charset="0"/>
                          </a:rPr>
                        </m:ctrlPr>
                      </m:dPr>
                      <m:e>
                        <m:r>
                          <a:rPr lang="en-US" i="1">
                            <a:latin typeface="Cambria Math" panose="02040503050406030204" pitchFamily="18" charset="0"/>
                          </a:rPr>
                          <m:t>𝑡</m:t>
                        </m:r>
                      </m:e>
                    </m:d>
                    <m:r>
                      <a:rPr lang="en-US" i="1">
                        <a:latin typeface="Cambria Math" panose="02040503050406030204" pitchFamily="18" charset="0"/>
                      </a:rPr>
                      <m:t>,</m:t>
                    </m:r>
                  </m:oMath>
                </a14:m>
                <a:endParaRPr lang="en-US" dirty="0"/>
              </a:p>
              <a:p>
                <a:pPr marL="285750" indent="-285750">
                  <a:buClr>
                    <a:schemeClr val="accent1"/>
                  </a:buClr>
                  <a:buFont typeface="Arial" panose="020B0604020202020204" pitchFamily="34" charset="0"/>
                  <a:buChar char="•"/>
                </a:pPr>
                <a:r>
                  <a:rPr lang="en-US" dirty="0"/>
                  <a:t>One separated output per channel. </a:t>
                </a:r>
              </a:p>
              <a:p>
                <a:pPr marL="285750" indent="-285750">
                  <a:buClr>
                    <a:schemeClr val="accent1"/>
                  </a:buClr>
                  <a:buFont typeface="Arial" panose="020B0604020202020204" pitchFamily="34" charset="0"/>
                  <a:buChar char="•"/>
                </a:pPr>
                <a:r>
                  <a:rPr lang="en-US" dirty="0"/>
                  <a:t>Spatial information is preserved for subsequent localization. </a:t>
                </a:r>
              </a:p>
            </p:txBody>
          </p:sp>
        </mc:Choice>
        <mc:Fallback xmlns="">
          <p:sp>
            <p:nvSpPr>
              <p:cNvPr id="8" name="TextBox 7">
                <a:extLst>
                  <a:ext uri="{FF2B5EF4-FFF2-40B4-BE49-F238E27FC236}">
                    <a16:creationId xmlns:a16="http://schemas.microsoft.com/office/drawing/2014/main" id="{687CBB0F-F63A-0D38-435D-A3A18E508220}"/>
                  </a:ext>
                </a:extLst>
              </p:cNvPr>
              <p:cNvSpPr txBox="1">
                <a:spLocks noRot="1" noChangeAspect="1" noMove="1" noResize="1" noEditPoints="1" noAdjustHandles="1" noChangeArrowheads="1" noChangeShapeType="1" noTextEdit="1"/>
              </p:cNvSpPr>
              <p:nvPr/>
            </p:nvSpPr>
            <p:spPr>
              <a:xfrm>
                <a:off x="3448260" y="4307940"/>
                <a:ext cx="5295479" cy="1477328"/>
              </a:xfrm>
              <a:prstGeom prst="rect">
                <a:avLst/>
              </a:prstGeom>
              <a:blipFill>
                <a:blip r:embed="rId4"/>
                <a:stretch>
                  <a:fillRect l="-1037" t="-2066" b="-6198"/>
                </a:stretch>
              </a:blipFill>
            </p:spPr>
            <p:txBody>
              <a:bodyPr/>
              <a:lstStyle/>
              <a:p>
                <a:r>
                  <a:rPr lang="el-GR">
                    <a:noFill/>
                  </a:rPr>
                  <a:t> </a:t>
                </a:r>
              </a:p>
            </p:txBody>
          </p:sp>
        </mc:Fallback>
      </mc:AlternateContent>
    </p:spTree>
    <p:extLst>
      <p:ext uri="{BB962C8B-B14F-4D97-AF65-F5344CB8AC3E}">
        <p14:creationId xmlns:p14="http://schemas.microsoft.com/office/powerpoint/2010/main" val="30440265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E4EEE9-DD35-5D38-0F2C-49F89BAFC2B3}"/>
            </a:ext>
          </a:extLst>
        </p:cNvPr>
        <p:cNvGrpSpPr/>
        <p:nvPr/>
      </p:nvGrpSpPr>
      <p:grpSpPr>
        <a:xfrm>
          <a:off x="0" y="0"/>
          <a:ext cx="0" cy="0"/>
          <a:chOff x="0" y="0"/>
          <a:chExt cx="0" cy="0"/>
        </a:xfrm>
      </p:grpSpPr>
      <p:sp>
        <p:nvSpPr>
          <p:cNvPr id="9" name="Ορθογώνιο: Στρογγύλεμα διαγώνιων γωνιών 8">
            <a:extLst>
              <a:ext uri="{FF2B5EF4-FFF2-40B4-BE49-F238E27FC236}">
                <a16:creationId xmlns:a16="http://schemas.microsoft.com/office/drawing/2014/main" id="{65EBAD12-8395-91E2-BFA3-7D34C41CF963}"/>
              </a:ext>
            </a:extLst>
          </p:cNvPr>
          <p:cNvSpPr/>
          <p:nvPr/>
        </p:nvSpPr>
        <p:spPr>
          <a:xfrm>
            <a:off x="317669" y="68424"/>
            <a:ext cx="11423167" cy="707886"/>
          </a:xfrm>
          <a:prstGeom prst="round2Diag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t>How does IVA perform the separation? – AuxIVA Optimization</a:t>
            </a:r>
            <a:endParaRPr lang="el-GR" sz="3200" b="1"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8B3F6673-DD0E-B215-E630-6F58664A7FF7}"/>
                  </a:ext>
                </a:extLst>
              </p:cNvPr>
              <p:cNvSpPr txBox="1"/>
              <p:nvPr/>
            </p:nvSpPr>
            <p:spPr>
              <a:xfrm>
                <a:off x="317670" y="1023041"/>
                <a:ext cx="5295479" cy="2065950"/>
              </a:xfrm>
              <a:prstGeom prst="rect">
                <a:avLst/>
              </a:prstGeom>
              <a:noFill/>
            </p:spPr>
            <p:txBody>
              <a:bodyPr wrap="square" rtlCol="0">
                <a:spAutoFit/>
              </a:bodyPr>
              <a:lstStyle/>
              <a:p>
                <a:pPr marL="342900" indent="-342900">
                  <a:buAutoNum type="arabicPeriod"/>
                </a:pPr>
                <a:r>
                  <a:rPr lang="en-US" sz="1600" b="1" u="sng" dirty="0"/>
                  <a:t>Source Statistical Model</a:t>
                </a:r>
              </a:p>
              <a:p>
                <a:pPr algn="ctr"/>
                <a:endParaRPr lang="el-GR" sz="1600" b="0" i="1" dirty="0">
                  <a:latin typeface="Cambria Math" panose="02040503050406030204" pitchFamily="18" charset="0"/>
                </a:endParaRPr>
              </a:p>
              <a:p>
                <a:pPr algn="ctr"/>
                <a14:m>
                  <m:oMathPara xmlns:m="http://schemas.openxmlformats.org/officeDocument/2006/math">
                    <m:oMath>
                      <m:sSub>
                        <m:sSubPr>
                          <m:ctrlPr>
                            <a:rPr lang="en-US" sz="1600" b="1" i="1" smtClean="0">
                              <a:latin typeface="Cambria Math" panose="02040503050406030204" pitchFamily="18" charset="0"/>
                            </a:rPr>
                          </m:ctrlPr>
                        </m:sSubPr>
                        <m:e>
                          <m:r>
                            <a:rPr lang="en-US" sz="1600" b="1" i="1" smtClean="0">
                              <a:latin typeface="Cambria Math" panose="02040503050406030204" pitchFamily="18" charset="0"/>
                            </a:rPr>
                            <m:t>𝒓</m:t>
                          </m:r>
                        </m:e>
                        <m:sub>
                          <m:r>
                            <a:rPr lang="en-US" sz="1600" b="1" i="1" smtClean="0">
                              <a:latin typeface="Cambria Math" panose="02040503050406030204" pitchFamily="18" charset="0"/>
                            </a:rPr>
                            <m:t>𝒒</m:t>
                          </m:r>
                        </m:sub>
                      </m:sSub>
                      <m:d>
                        <m:dPr>
                          <m:ctrlPr>
                            <a:rPr lang="en-US" sz="1600" b="1" i="1" smtClean="0">
                              <a:latin typeface="Cambria Math" panose="02040503050406030204" pitchFamily="18" charset="0"/>
                            </a:rPr>
                          </m:ctrlPr>
                        </m:dPr>
                        <m:e>
                          <m:r>
                            <a:rPr lang="en-US" sz="1600" b="1" i="1" smtClean="0">
                              <a:latin typeface="Cambria Math" panose="02040503050406030204" pitchFamily="18" charset="0"/>
                            </a:rPr>
                            <m:t>𝒏</m:t>
                          </m:r>
                        </m:e>
                      </m:d>
                      <m:r>
                        <a:rPr lang="en-US" sz="1600" b="1" i="1" smtClean="0">
                          <a:latin typeface="Cambria Math" panose="02040503050406030204" pitchFamily="18" charset="0"/>
                        </a:rPr>
                        <m:t>= </m:t>
                      </m:r>
                      <m:rad>
                        <m:radPr>
                          <m:degHide m:val="on"/>
                          <m:ctrlPr>
                            <a:rPr lang="en-US" sz="1600" b="1" i="1" smtClean="0">
                              <a:latin typeface="Cambria Math" panose="02040503050406030204" pitchFamily="18" charset="0"/>
                            </a:rPr>
                          </m:ctrlPr>
                        </m:radPr>
                        <m:deg/>
                        <m:e>
                          <m:nary>
                            <m:naryPr>
                              <m:chr m:val="∑"/>
                              <m:ctrlPr>
                                <a:rPr lang="en-US" sz="1600" b="1" i="1" smtClean="0">
                                  <a:latin typeface="Cambria Math" panose="02040503050406030204" pitchFamily="18" charset="0"/>
                                </a:rPr>
                              </m:ctrlPr>
                            </m:naryPr>
                            <m:sub>
                              <m:r>
                                <a:rPr lang="en-US" sz="1600" b="1" i="1" smtClean="0">
                                  <a:latin typeface="Cambria Math" panose="02040503050406030204" pitchFamily="18" charset="0"/>
                                </a:rPr>
                                <m:t>𝒌</m:t>
                              </m:r>
                              <m:r>
                                <a:rPr lang="en-US" sz="1600" b="1" i="1" smtClean="0">
                                  <a:latin typeface="Cambria Math" panose="02040503050406030204" pitchFamily="18" charset="0"/>
                                </a:rPr>
                                <m:t>=</m:t>
                              </m:r>
                              <m:r>
                                <a:rPr lang="en-US" sz="1600" b="1" i="1" smtClean="0">
                                  <a:latin typeface="Cambria Math" panose="02040503050406030204" pitchFamily="18" charset="0"/>
                                </a:rPr>
                                <m:t>𝟏</m:t>
                              </m:r>
                            </m:sub>
                            <m:sup>
                              <m:r>
                                <a:rPr lang="en-US" sz="1600" b="1" i="1" smtClean="0">
                                  <a:latin typeface="Cambria Math" panose="02040503050406030204" pitchFamily="18" charset="0"/>
                                </a:rPr>
                                <m:t>𝒌</m:t>
                              </m:r>
                            </m:sup>
                            <m:e>
                              <m:sSup>
                                <m:sSupPr>
                                  <m:ctrlPr>
                                    <a:rPr lang="en-US" sz="1600" b="1" i="1" smtClean="0">
                                      <a:latin typeface="Cambria Math" panose="02040503050406030204" pitchFamily="18" charset="0"/>
                                    </a:rPr>
                                  </m:ctrlPr>
                                </m:sSupPr>
                                <m:e>
                                  <m:d>
                                    <m:dPr>
                                      <m:begChr m:val="|"/>
                                      <m:endChr m:val="|"/>
                                      <m:ctrlPr>
                                        <a:rPr lang="en-US" sz="1600" b="1" i="1" smtClean="0">
                                          <a:latin typeface="Cambria Math" panose="02040503050406030204" pitchFamily="18" charset="0"/>
                                        </a:rPr>
                                      </m:ctrlPr>
                                    </m:dPr>
                                    <m:e>
                                      <m:sSub>
                                        <m:sSubPr>
                                          <m:ctrlPr>
                                            <a:rPr lang="en-US" sz="1600" b="1" i="1" smtClean="0">
                                              <a:latin typeface="Cambria Math" panose="02040503050406030204" pitchFamily="18" charset="0"/>
                                            </a:rPr>
                                          </m:ctrlPr>
                                        </m:sSubPr>
                                        <m:e>
                                          <m:r>
                                            <a:rPr lang="en-US" sz="1600" b="1" i="1" smtClean="0">
                                              <a:latin typeface="Cambria Math" panose="02040503050406030204" pitchFamily="18" charset="0"/>
                                            </a:rPr>
                                            <m:t>𝒚</m:t>
                                          </m:r>
                                        </m:e>
                                        <m:sub>
                                          <m:r>
                                            <a:rPr lang="en-US" sz="1600" b="1" i="1" smtClean="0">
                                              <a:latin typeface="Cambria Math" panose="02040503050406030204" pitchFamily="18" charset="0"/>
                                            </a:rPr>
                                            <m:t>𝒒</m:t>
                                          </m:r>
                                        </m:sub>
                                      </m:sSub>
                                      <m:d>
                                        <m:dPr>
                                          <m:ctrlPr>
                                            <a:rPr lang="en-US" sz="1600" b="1" i="1" smtClean="0">
                                              <a:latin typeface="Cambria Math" panose="02040503050406030204" pitchFamily="18" charset="0"/>
                                            </a:rPr>
                                          </m:ctrlPr>
                                        </m:dPr>
                                        <m:e>
                                          <m:r>
                                            <a:rPr lang="en-US" sz="1600" b="1" i="1" smtClean="0">
                                              <a:latin typeface="Cambria Math" panose="02040503050406030204" pitchFamily="18" charset="0"/>
                                            </a:rPr>
                                            <m:t>𝒌</m:t>
                                          </m:r>
                                          <m:r>
                                            <a:rPr lang="en-US" sz="1600" b="1" i="1" smtClean="0">
                                              <a:latin typeface="Cambria Math" panose="02040503050406030204" pitchFamily="18" charset="0"/>
                                            </a:rPr>
                                            <m:t>,</m:t>
                                          </m:r>
                                          <m:r>
                                            <a:rPr lang="en-US" sz="1600" b="1" i="1" smtClean="0">
                                              <a:latin typeface="Cambria Math" panose="02040503050406030204" pitchFamily="18" charset="0"/>
                                            </a:rPr>
                                            <m:t>𝒏</m:t>
                                          </m:r>
                                        </m:e>
                                      </m:d>
                                    </m:e>
                                  </m:d>
                                </m:e>
                                <m:sup>
                                  <m:r>
                                    <a:rPr lang="en-US" sz="1600" b="1" i="1" smtClean="0">
                                      <a:latin typeface="Cambria Math" panose="02040503050406030204" pitchFamily="18" charset="0"/>
                                    </a:rPr>
                                    <m:t>𝟐</m:t>
                                  </m:r>
                                </m:sup>
                              </m:sSup>
                              <m:r>
                                <a:rPr lang="en-US" sz="1600" b="1" i="1" smtClean="0">
                                  <a:latin typeface="Cambria Math" panose="02040503050406030204" pitchFamily="18" charset="0"/>
                                </a:rPr>
                                <m:t>+</m:t>
                              </m:r>
                              <m:r>
                                <a:rPr lang="el-GR" sz="1600" b="1" i="1" smtClean="0">
                                  <a:latin typeface="Cambria Math" panose="02040503050406030204" pitchFamily="18" charset="0"/>
                                </a:rPr>
                                <m:t>𝜺</m:t>
                              </m:r>
                            </m:e>
                          </m:nary>
                        </m:e>
                      </m:rad>
                    </m:oMath>
                  </m:oMathPara>
                </a14:m>
                <a:endParaRPr lang="el-GR" sz="1600" b="1" dirty="0"/>
              </a:p>
              <a:p>
                <a:pPr marL="285750" indent="-285750">
                  <a:buClr>
                    <a:schemeClr val="accent1"/>
                  </a:buClr>
                  <a:buFont typeface="Arial" panose="020B0604020202020204" pitchFamily="34" charset="0"/>
                  <a:buChar char="•"/>
                </a:pPr>
                <a:r>
                  <a:rPr lang="en-US" sz="1600" dirty="0"/>
                  <a:t>Measures the overall activity of source </a:t>
                </a:r>
                <a14:m>
                  <m:oMath xmlns:m="http://schemas.openxmlformats.org/officeDocument/2006/math">
                    <m:r>
                      <a:rPr lang="en-US" sz="1600" b="0" i="1" smtClean="0">
                        <a:latin typeface="Cambria Math" panose="02040503050406030204" pitchFamily="18" charset="0"/>
                      </a:rPr>
                      <m:t>𝑞</m:t>
                    </m:r>
                  </m:oMath>
                </a14:m>
                <a:r>
                  <a:rPr lang="en-US" sz="1600" dirty="0"/>
                  <a:t> across all frequency bins </a:t>
                </a:r>
                <a14:m>
                  <m:oMath xmlns:m="http://schemas.openxmlformats.org/officeDocument/2006/math">
                    <m:r>
                      <a:rPr lang="en-US" sz="1600" b="0" i="1" smtClean="0">
                        <a:latin typeface="Cambria Math" panose="02040503050406030204" pitchFamily="18" charset="0"/>
                      </a:rPr>
                      <m:t>𝑘</m:t>
                    </m:r>
                  </m:oMath>
                </a14:m>
                <a:r>
                  <a:rPr lang="en-US" sz="1600" dirty="0"/>
                  <a:t>.</a:t>
                </a:r>
              </a:p>
            </p:txBody>
          </p:sp>
        </mc:Choice>
        <mc:Fallback xmlns="">
          <p:sp>
            <p:nvSpPr>
              <p:cNvPr id="3" name="TextBox 2">
                <a:extLst>
                  <a:ext uri="{FF2B5EF4-FFF2-40B4-BE49-F238E27FC236}">
                    <a16:creationId xmlns:a16="http://schemas.microsoft.com/office/drawing/2014/main" id="{8B3F6673-DD0E-B215-E630-6F58664A7FF7}"/>
                  </a:ext>
                </a:extLst>
              </p:cNvPr>
              <p:cNvSpPr txBox="1">
                <a:spLocks noRot="1" noChangeAspect="1" noMove="1" noResize="1" noEditPoints="1" noAdjustHandles="1" noChangeArrowheads="1" noChangeShapeType="1" noTextEdit="1"/>
              </p:cNvSpPr>
              <p:nvPr/>
            </p:nvSpPr>
            <p:spPr>
              <a:xfrm>
                <a:off x="317670" y="1023041"/>
                <a:ext cx="5295479" cy="2065950"/>
              </a:xfrm>
              <a:prstGeom prst="rect">
                <a:avLst/>
              </a:prstGeom>
              <a:blipFill>
                <a:blip r:embed="rId2"/>
                <a:stretch>
                  <a:fillRect l="-575" t="-885" b="-1475"/>
                </a:stretch>
              </a:blipFill>
            </p:spPr>
            <p:txBody>
              <a:bodyPr/>
              <a:lstStyle/>
              <a:p>
                <a:r>
                  <a:rPr lang="el-GR">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3F559608-A827-3200-6C9A-F3E42F8C74D3}"/>
                  </a:ext>
                </a:extLst>
              </p:cNvPr>
              <p:cNvSpPr txBox="1"/>
              <p:nvPr/>
            </p:nvSpPr>
            <p:spPr>
              <a:xfrm>
                <a:off x="5857593" y="1023041"/>
                <a:ext cx="5883244" cy="1981889"/>
              </a:xfrm>
              <a:prstGeom prst="rect">
                <a:avLst/>
              </a:prstGeom>
              <a:noFill/>
            </p:spPr>
            <p:txBody>
              <a:bodyPr wrap="square" rtlCol="0">
                <a:spAutoFit/>
              </a:bodyPr>
              <a:lstStyle/>
              <a:p>
                <a:r>
                  <a:rPr lang="el-GR" sz="1600" b="1" dirty="0"/>
                  <a:t>2. </a:t>
                </a:r>
                <a:r>
                  <a:rPr lang="en-US" sz="1600" b="1" u="sng" dirty="0"/>
                  <a:t>Optimization Objective</a:t>
                </a:r>
              </a:p>
              <a:p>
                <a:pPr algn="ctr"/>
                <a:endParaRPr lang="en-US" sz="1600" b="0" i="1" dirty="0">
                  <a:latin typeface="Cambria Math" panose="02040503050406030204" pitchFamily="18" charset="0"/>
                </a:endParaRPr>
              </a:p>
              <a:p>
                <a:pPr algn="ctr"/>
                <a14:m>
                  <m:oMathPara xmlns:m="http://schemas.openxmlformats.org/officeDocument/2006/math">
                    <m:oMath>
                      <m:sSub>
                        <m:sSubPr>
                          <m:ctrlPr>
                            <a:rPr lang="en-US" sz="1600" b="1" i="1" smtClean="0">
                              <a:latin typeface="Cambria Math" panose="02040503050406030204" pitchFamily="18" charset="0"/>
                            </a:rPr>
                          </m:ctrlPr>
                        </m:sSubPr>
                        <m:e>
                          <m:r>
                            <a:rPr lang="en-US" sz="1600" b="1" i="1" smtClean="0">
                              <a:latin typeface="Cambria Math" panose="02040503050406030204" pitchFamily="18" charset="0"/>
                            </a:rPr>
                            <m:t>𝑪</m:t>
                          </m:r>
                        </m:e>
                        <m:sub>
                          <m:r>
                            <a:rPr lang="en-US" sz="1600" b="1" i="1" smtClean="0">
                              <a:latin typeface="Cambria Math" panose="02040503050406030204" pitchFamily="18" charset="0"/>
                            </a:rPr>
                            <m:t>𝑰𝑽𝑨</m:t>
                          </m:r>
                        </m:sub>
                      </m:sSub>
                      <m:r>
                        <a:rPr lang="en-US" sz="1600" b="1" i="1" smtClean="0">
                          <a:latin typeface="Cambria Math" panose="02040503050406030204" pitchFamily="18" charset="0"/>
                        </a:rPr>
                        <m:t>=</m:t>
                      </m:r>
                      <m:nary>
                        <m:naryPr>
                          <m:chr m:val="∑"/>
                          <m:supHide m:val="on"/>
                          <m:ctrlPr>
                            <a:rPr lang="en-US" sz="1600" b="1" i="1" smtClean="0">
                              <a:latin typeface="Cambria Math" panose="02040503050406030204" pitchFamily="18" charset="0"/>
                            </a:rPr>
                          </m:ctrlPr>
                        </m:naryPr>
                        <m:sub>
                          <m:r>
                            <a:rPr lang="en-US" sz="1600" b="1" i="1" smtClean="0">
                              <a:latin typeface="Cambria Math" panose="02040503050406030204" pitchFamily="18" charset="0"/>
                            </a:rPr>
                            <m:t>𝒒</m:t>
                          </m:r>
                        </m:sub>
                        <m:sup/>
                        <m:e>
                          <m:f>
                            <m:fPr>
                              <m:ctrlPr>
                                <a:rPr lang="en-US" sz="1600" b="1" i="1" smtClean="0">
                                  <a:latin typeface="Cambria Math" panose="02040503050406030204" pitchFamily="18" charset="0"/>
                                </a:rPr>
                              </m:ctrlPr>
                            </m:fPr>
                            <m:num>
                              <m:r>
                                <a:rPr lang="en-US" sz="1600" b="1" i="1" smtClean="0">
                                  <a:latin typeface="Cambria Math" panose="02040503050406030204" pitchFamily="18" charset="0"/>
                                </a:rPr>
                                <m:t>𝟏</m:t>
                              </m:r>
                            </m:num>
                            <m:den>
                              <m:r>
                                <a:rPr lang="en-US" sz="1600" b="1" i="1" smtClean="0">
                                  <a:latin typeface="Cambria Math" panose="02040503050406030204" pitchFamily="18" charset="0"/>
                                </a:rPr>
                                <m:t>𝑵</m:t>
                              </m:r>
                            </m:den>
                          </m:f>
                          <m:r>
                            <a:rPr lang="en-US" sz="1600" b="1" i="1" smtClean="0">
                              <a:latin typeface="Cambria Math" panose="02040503050406030204" pitchFamily="18" charset="0"/>
                            </a:rPr>
                            <m:t> </m:t>
                          </m:r>
                          <m:nary>
                            <m:naryPr>
                              <m:chr m:val="∑"/>
                              <m:supHide m:val="on"/>
                              <m:ctrlPr>
                                <a:rPr lang="en-US" sz="1600" b="1" i="1" smtClean="0">
                                  <a:latin typeface="Cambria Math" panose="02040503050406030204" pitchFamily="18" charset="0"/>
                                </a:rPr>
                              </m:ctrlPr>
                            </m:naryPr>
                            <m:sub>
                              <m:r>
                                <a:rPr lang="en-US" sz="1600" b="1" i="1" smtClean="0">
                                  <a:latin typeface="Cambria Math" panose="02040503050406030204" pitchFamily="18" charset="0"/>
                                </a:rPr>
                                <m:t>𝒏</m:t>
                              </m:r>
                            </m:sub>
                            <m:sup/>
                            <m:e>
                              <m:sSub>
                                <m:sSubPr>
                                  <m:ctrlPr>
                                    <a:rPr lang="en-US" sz="1600" b="1" i="1" smtClean="0">
                                      <a:latin typeface="Cambria Math" panose="02040503050406030204" pitchFamily="18" charset="0"/>
                                    </a:rPr>
                                  </m:ctrlPr>
                                </m:sSubPr>
                                <m:e>
                                  <m:r>
                                    <a:rPr lang="en-US" sz="1600" b="1" i="1" smtClean="0">
                                      <a:latin typeface="Cambria Math" panose="02040503050406030204" pitchFamily="18" charset="0"/>
                                    </a:rPr>
                                    <m:t>𝒓</m:t>
                                  </m:r>
                                </m:e>
                                <m:sub>
                                  <m:r>
                                    <a:rPr lang="en-US" sz="1600" b="1" i="1" smtClean="0">
                                      <a:latin typeface="Cambria Math" panose="02040503050406030204" pitchFamily="18" charset="0"/>
                                    </a:rPr>
                                    <m:t>𝒒</m:t>
                                  </m:r>
                                </m:sub>
                              </m:sSub>
                              <m:r>
                                <a:rPr lang="en-US" sz="1600" b="1" i="1">
                                  <a:latin typeface="Cambria Math" panose="02040503050406030204" pitchFamily="18" charset="0"/>
                                </a:rPr>
                                <m:t>(</m:t>
                              </m:r>
                              <m:r>
                                <a:rPr lang="en-US" sz="1600" b="1" i="1">
                                  <a:latin typeface="Cambria Math" panose="02040503050406030204" pitchFamily="18" charset="0"/>
                                </a:rPr>
                                <m:t>𝒏</m:t>
                              </m:r>
                              <m:r>
                                <a:rPr lang="en-US" sz="1600" b="1" i="1">
                                  <a:latin typeface="Cambria Math" panose="02040503050406030204" pitchFamily="18" charset="0"/>
                                </a:rPr>
                                <m:t>)−</m:t>
                              </m:r>
                              <m:r>
                                <a:rPr lang="en-US" sz="1600" b="1" i="1">
                                  <a:latin typeface="Cambria Math" panose="02040503050406030204" pitchFamily="18" charset="0"/>
                                </a:rPr>
                                <m:t>𝟐</m:t>
                              </m:r>
                              <m:r>
                                <a:rPr lang="en-US" sz="1600" b="1" i="1">
                                  <a:latin typeface="Cambria Math" panose="02040503050406030204" pitchFamily="18" charset="0"/>
                                </a:rPr>
                                <m:t> </m:t>
                              </m:r>
                              <m:nary>
                                <m:naryPr>
                                  <m:chr m:val="∑"/>
                                  <m:supHide m:val="on"/>
                                  <m:ctrlPr>
                                    <a:rPr lang="en-US" sz="1600" b="1" i="1">
                                      <a:latin typeface="Cambria Math" panose="02040503050406030204" pitchFamily="18" charset="0"/>
                                    </a:rPr>
                                  </m:ctrlPr>
                                </m:naryPr>
                                <m:sub>
                                  <m:r>
                                    <a:rPr lang="en-US" sz="1600" b="1" i="1">
                                      <a:latin typeface="Cambria Math" panose="02040503050406030204" pitchFamily="18" charset="0"/>
                                    </a:rPr>
                                    <m:t>𝒌</m:t>
                                  </m:r>
                                </m:sub>
                                <m:sup/>
                                <m:e>
                                  <m:func>
                                    <m:funcPr>
                                      <m:ctrlPr>
                                        <a:rPr lang="en-US" sz="1600" b="1">
                                          <a:latin typeface="Cambria Math" panose="02040503050406030204" pitchFamily="18" charset="0"/>
                                        </a:rPr>
                                      </m:ctrlPr>
                                    </m:funcPr>
                                    <m:fName>
                                      <m:r>
                                        <a:rPr lang="en-US" sz="1600" b="1">
                                          <a:latin typeface="Cambria Math" panose="02040503050406030204" pitchFamily="18" charset="0"/>
                                        </a:rPr>
                                        <m:t>𝐥𝐨𝐠</m:t>
                                      </m:r>
                                    </m:fName>
                                    <m:e>
                                      <m:r>
                                        <a:rPr lang="en-US" sz="1600" b="1" i="1">
                                          <a:latin typeface="Cambria Math" panose="02040503050406030204" pitchFamily="18" charset="0"/>
                                        </a:rPr>
                                        <m:t>|</m:t>
                                      </m:r>
                                      <m:func>
                                        <m:funcPr>
                                          <m:ctrlPr>
                                            <a:rPr lang="en-US" sz="1600" b="1">
                                              <a:latin typeface="Cambria Math" panose="02040503050406030204" pitchFamily="18" charset="0"/>
                                            </a:rPr>
                                          </m:ctrlPr>
                                        </m:funcPr>
                                        <m:fName>
                                          <m:r>
                                            <a:rPr lang="en-US" sz="1600" b="1">
                                              <a:latin typeface="Cambria Math" panose="02040503050406030204" pitchFamily="18" charset="0"/>
                                            </a:rPr>
                                            <m:t>𝐝𝐞𝐭</m:t>
                                          </m:r>
                                        </m:fName>
                                        <m:e>
                                          <m:r>
                                            <a:rPr lang="en-US" sz="1600" b="1" i="1">
                                              <a:latin typeface="Cambria Math" panose="02040503050406030204" pitchFamily="18" charset="0"/>
                                            </a:rPr>
                                            <m:t>𝑾</m:t>
                                          </m:r>
                                          <m:d>
                                            <m:dPr>
                                              <m:ctrlPr>
                                                <a:rPr lang="en-US" sz="1600" b="1" i="1">
                                                  <a:latin typeface="Cambria Math" panose="02040503050406030204" pitchFamily="18" charset="0"/>
                                                </a:rPr>
                                              </m:ctrlPr>
                                            </m:dPr>
                                            <m:e>
                                              <m:r>
                                                <a:rPr lang="en-US" sz="1600" b="1" i="1">
                                                  <a:latin typeface="Cambria Math" panose="02040503050406030204" pitchFamily="18" charset="0"/>
                                                </a:rPr>
                                                <m:t>𝒌</m:t>
                                              </m:r>
                                            </m:e>
                                          </m:d>
                                          <m:r>
                                            <a:rPr lang="en-US" sz="1600" b="1" i="1">
                                              <a:latin typeface="Cambria Math" panose="02040503050406030204" pitchFamily="18" charset="0"/>
                                            </a:rPr>
                                            <m:t>|</m:t>
                                          </m:r>
                                        </m:e>
                                      </m:func>
                                    </m:e>
                                  </m:func>
                                </m:e>
                              </m:nary>
                            </m:e>
                          </m:nary>
                        </m:e>
                      </m:nary>
                    </m:oMath>
                  </m:oMathPara>
                </a14:m>
                <a:endParaRPr lang="en-US" sz="1600" b="1" dirty="0"/>
              </a:p>
              <a:p>
                <a:pPr marL="285750" indent="-285750">
                  <a:buClr>
                    <a:schemeClr val="accent1"/>
                  </a:buClr>
                  <a:buFont typeface="Arial" panose="020B0604020202020204" pitchFamily="34" charset="0"/>
                  <a:buChar char="•"/>
                </a:pPr>
                <a:r>
                  <a:rPr lang="en-US" sz="1600" b="0" dirty="0"/>
                  <a:t>Measures the separation objective.</a:t>
                </a:r>
              </a:p>
              <a:p>
                <a:pPr marL="285750" indent="-285750">
                  <a:buClr>
                    <a:schemeClr val="accent1"/>
                  </a:buClr>
                  <a:buFont typeface="Arial" panose="020B0604020202020204" pitchFamily="34" charset="0"/>
                  <a:buChar char="•"/>
                </a:pPr>
                <a:endParaRPr lang="en-US" sz="1600" dirty="0"/>
              </a:p>
              <a:p>
                <a:pPr algn="ctr"/>
                <a:endParaRPr lang="en-US" dirty="0"/>
              </a:p>
            </p:txBody>
          </p:sp>
        </mc:Choice>
        <mc:Fallback xmlns="">
          <p:sp>
            <p:nvSpPr>
              <p:cNvPr id="7" name="TextBox 6">
                <a:extLst>
                  <a:ext uri="{FF2B5EF4-FFF2-40B4-BE49-F238E27FC236}">
                    <a16:creationId xmlns:a16="http://schemas.microsoft.com/office/drawing/2014/main" id="{3F559608-A827-3200-6C9A-F3E42F8C74D3}"/>
                  </a:ext>
                </a:extLst>
              </p:cNvPr>
              <p:cNvSpPr txBox="1">
                <a:spLocks noRot="1" noChangeAspect="1" noMove="1" noResize="1" noEditPoints="1" noAdjustHandles="1" noChangeArrowheads="1" noChangeShapeType="1" noTextEdit="1"/>
              </p:cNvSpPr>
              <p:nvPr/>
            </p:nvSpPr>
            <p:spPr>
              <a:xfrm>
                <a:off x="5857593" y="1023041"/>
                <a:ext cx="5883244" cy="1981889"/>
              </a:xfrm>
              <a:prstGeom prst="rect">
                <a:avLst/>
              </a:prstGeom>
              <a:blipFill>
                <a:blip r:embed="rId3"/>
                <a:stretch>
                  <a:fillRect l="-622" t="-923"/>
                </a:stretch>
              </a:blipFill>
            </p:spPr>
            <p:txBody>
              <a:bodyPr/>
              <a:lstStyle/>
              <a:p>
                <a:r>
                  <a:rPr lang="el-GR">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D9DAFDD-1966-101D-67C2-A2D90787254E}"/>
                  </a:ext>
                </a:extLst>
              </p:cNvPr>
              <p:cNvSpPr txBox="1"/>
              <p:nvPr/>
            </p:nvSpPr>
            <p:spPr>
              <a:xfrm>
                <a:off x="317670" y="3429000"/>
                <a:ext cx="5295479" cy="2431435"/>
              </a:xfrm>
              <a:prstGeom prst="rect">
                <a:avLst/>
              </a:prstGeom>
              <a:noFill/>
            </p:spPr>
            <p:txBody>
              <a:bodyPr wrap="square" rtlCol="0">
                <a:spAutoFit/>
              </a:bodyPr>
              <a:lstStyle/>
              <a:p>
                <a:r>
                  <a:rPr lang="en-US" b="1" dirty="0"/>
                  <a:t>3. </a:t>
                </a:r>
                <a:r>
                  <a:rPr lang="en-US" sz="1600" b="1" u="sng" dirty="0"/>
                  <a:t>AuxIVA Optimization Technique</a:t>
                </a:r>
              </a:p>
              <a:p>
                <a:pPr marL="285750" indent="-285750">
                  <a:buClr>
                    <a:schemeClr val="accent1"/>
                  </a:buClr>
                  <a:buFont typeface="Arial" panose="020B0604020202020204" pitchFamily="34" charset="0"/>
                  <a:buChar char="•"/>
                </a:pPr>
                <a:r>
                  <a:rPr lang="en-US" sz="1600" dirty="0"/>
                  <a:t>Minimizes the IVA objective iteratively.</a:t>
                </a:r>
              </a:p>
              <a:p>
                <a:pPr marL="285750" indent="-285750">
                  <a:buClr>
                    <a:schemeClr val="accent1"/>
                  </a:buClr>
                  <a:buFont typeface="Arial" panose="020B0604020202020204" pitchFamily="34" charset="0"/>
                  <a:buChar char="•"/>
                </a:pPr>
                <a:r>
                  <a:rPr lang="en-US" sz="1600" dirty="0"/>
                  <a:t>Update the demixing matrix, </a:t>
                </a:r>
                <a14:m>
                  <m:oMath xmlns:m="http://schemas.openxmlformats.org/officeDocument/2006/math">
                    <m:r>
                      <a:rPr lang="en-US" sz="1600" b="0" i="1" smtClean="0">
                        <a:latin typeface="Cambria Math" panose="02040503050406030204" pitchFamily="18" charset="0"/>
                      </a:rPr>
                      <m:t>𝑊</m:t>
                    </m:r>
                  </m:oMath>
                </a14:m>
                <a:r>
                  <a:rPr lang="en-US" sz="1600" dirty="0"/>
                  <a:t>, through weighted covariance matrices.</a:t>
                </a:r>
              </a:p>
              <a:p>
                <a:pPr marL="285750" indent="-285750">
                  <a:buClr>
                    <a:schemeClr val="accent1"/>
                  </a:buClr>
                  <a:buFont typeface="Arial" panose="020B0604020202020204" pitchFamily="34" charset="0"/>
                  <a:buChar char="•"/>
                </a:pPr>
                <a:r>
                  <a:rPr lang="en-US" sz="1600" dirty="0"/>
                  <a:t>Repeat until convergence:</a:t>
                </a:r>
              </a:p>
              <a:p>
                <a:pPr marL="742950" lvl="1" indent="-285750">
                  <a:buClr>
                    <a:schemeClr val="accent1"/>
                  </a:buClr>
                  <a:buFont typeface="Wingdings" panose="05000000000000000000" pitchFamily="2" charset="2"/>
                  <a:buChar char="Ø"/>
                </a:pPr>
                <a14:m>
                  <m:oMath xmlns:m="http://schemas.openxmlformats.org/officeDocument/2006/math">
                    <m:r>
                      <a:rPr lang="en-US" sz="1600" b="0" i="1" smtClean="0">
                        <a:latin typeface="Cambria Math" panose="02040503050406030204" pitchFamily="18" charset="0"/>
                      </a:rPr>
                      <m:t>𝑌</m:t>
                    </m:r>
                    <m:r>
                      <a:rPr lang="en-US" sz="1600" b="0" i="1" smtClean="0">
                        <a:latin typeface="Cambria Math" panose="02040503050406030204" pitchFamily="18" charset="0"/>
                      </a:rPr>
                      <m:t> →</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𝑟</m:t>
                        </m:r>
                      </m:e>
                      <m:sub>
                        <m:r>
                          <a:rPr lang="en-US" sz="1600" b="0" i="1" smtClean="0">
                            <a:latin typeface="Cambria Math" panose="02040503050406030204" pitchFamily="18" charset="0"/>
                          </a:rPr>
                          <m:t>𝑞</m:t>
                        </m:r>
                      </m:sub>
                    </m:sSub>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𝑉</m:t>
                        </m:r>
                      </m:e>
                      <m:sub>
                        <m:r>
                          <a:rPr lang="en-US" sz="1600" b="0" i="1" smtClean="0">
                            <a:latin typeface="Cambria Math" panose="02040503050406030204" pitchFamily="18" charset="0"/>
                          </a:rPr>
                          <m:t>𝑞</m:t>
                        </m:r>
                      </m:sub>
                    </m:sSub>
                    <m:r>
                      <a:rPr lang="en-US" sz="1600" b="0" i="1" smtClean="0">
                        <a:latin typeface="Cambria Math" panose="02040503050406030204" pitchFamily="18" charset="0"/>
                      </a:rPr>
                      <m:t> →</m:t>
                    </m:r>
                    <m:r>
                      <a:rPr lang="en-US" sz="1600" b="0" i="1" smtClean="0">
                        <a:latin typeface="Cambria Math" panose="02040503050406030204" pitchFamily="18" charset="0"/>
                      </a:rPr>
                      <m:t>𝑊</m:t>
                    </m:r>
                    <m:r>
                      <a:rPr lang="en-US" sz="1600" b="0" i="1" smtClean="0">
                        <a:latin typeface="Cambria Math" panose="02040503050406030204" pitchFamily="18" charset="0"/>
                      </a:rPr>
                      <m:t> →</m:t>
                    </m:r>
                    <m:r>
                      <a:rPr lang="en-US" sz="1600" b="0" i="1" smtClean="0">
                        <a:latin typeface="Cambria Math" panose="02040503050406030204" pitchFamily="18" charset="0"/>
                      </a:rPr>
                      <m:t>𝑌</m:t>
                    </m:r>
                  </m:oMath>
                </a14:m>
                <a:r>
                  <a:rPr lang="en-US" dirty="0"/>
                  <a:t> </a:t>
                </a:r>
              </a:p>
              <a:p>
                <a:pPr algn="ctr"/>
                <a:endParaRPr lang="en-US" b="0" i="1" dirty="0">
                  <a:latin typeface="Cambria Math" panose="02040503050406030204" pitchFamily="18" charset="0"/>
                </a:endParaRPr>
              </a:p>
              <a:p>
                <a:pPr algn="ctr"/>
                <a:endParaRPr lang="en-US" sz="1600" b="1" dirty="0"/>
              </a:p>
              <a:p>
                <a:pPr algn="ctr"/>
                <a:endParaRPr lang="en-US" dirty="0"/>
              </a:p>
            </p:txBody>
          </p:sp>
        </mc:Choice>
        <mc:Fallback xmlns="">
          <p:sp>
            <p:nvSpPr>
              <p:cNvPr id="10" name="TextBox 9">
                <a:extLst>
                  <a:ext uri="{FF2B5EF4-FFF2-40B4-BE49-F238E27FC236}">
                    <a16:creationId xmlns:a16="http://schemas.microsoft.com/office/drawing/2014/main" id="{8D9DAFDD-1966-101D-67C2-A2D90787254E}"/>
                  </a:ext>
                </a:extLst>
              </p:cNvPr>
              <p:cNvSpPr txBox="1">
                <a:spLocks noRot="1" noChangeAspect="1" noMove="1" noResize="1" noEditPoints="1" noAdjustHandles="1" noChangeArrowheads="1" noChangeShapeType="1" noTextEdit="1"/>
              </p:cNvSpPr>
              <p:nvPr/>
            </p:nvSpPr>
            <p:spPr>
              <a:xfrm>
                <a:off x="317670" y="3429000"/>
                <a:ext cx="5295479" cy="2431435"/>
              </a:xfrm>
              <a:prstGeom prst="rect">
                <a:avLst/>
              </a:prstGeom>
              <a:blipFill>
                <a:blip r:embed="rId4"/>
                <a:stretch>
                  <a:fillRect l="-921" t="-1256"/>
                </a:stretch>
              </a:blipFill>
            </p:spPr>
            <p:txBody>
              <a:bodyPr/>
              <a:lstStyle/>
              <a:p>
                <a:r>
                  <a:rPr lang="el-GR">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6162E7C-9234-A1EB-7548-196A2B7A5EF4}"/>
                  </a:ext>
                </a:extLst>
              </p:cNvPr>
              <p:cNvSpPr txBox="1"/>
              <p:nvPr/>
            </p:nvSpPr>
            <p:spPr>
              <a:xfrm>
                <a:off x="5857593" y="3430900"/>
                <a:ext cx="5883244" cy="3604898"/>
              </a:xfrm>
              <a:prstGeom prst="rect">
                <a:avLst/>
              </a:prstGeom>
              <a:noFill/>
            </p:spPr>
            <p:txBody>
              <a:bodyPr wrap="square" rtlCol="0">
                <a:spAutoFit/>
              </a:bodyPr>
              <a:lstStyle/>
              <a:p>
                <a:r>
                  <a:rPr lang="en-US" sz="1600" b="1" dirty="0"/>
                  <a:t>4. </a:t>
                </a:r>
                <a:r>
                  <a:rPr lang="en-US" sz="1600" b="1" u="sng" dirty="0"/>
                  <a:t>Update rules</a:t>
                </a:r>
              </a:p>
              <a:p>
                <a:pPr algn="ctr"/>
                <a14:m>
                  <m:oMathPara xmlns:m="http://schemas.openxmlformats.org/officeDocument/2006/math">
                    <m:oMath>
                      <m:sSub>
                        <m:sSubPr>
                          <m:ctrlPr>
                            <a:rPr lang="en-US" sz="1600" b="1" i="1" smtClean="0">
                              <a:latin typeface="Cambria Math" panose="02040503050406030204" pitchFamily="18" charset="0"/>
                            </a:rPr>
                          </m:ctrlPr>
                        </m:sSubPr>
                        <m:e>
                          <m:r>
                            <a:rPr lang="en-US" sz="1600" b="1" i="1" smtClean="0">
                              <a:latin typeface="Cambria Math" panose="02040503050406030204" pitchFamily="18" charset="0"/>
                            </a:rPr>
                            <m:t>𝑽</m:t>
                          </m:r>
                        </m:e>
                        <m:sub>
                          <m:r>
                            <a:rPr lang="en-US" sz="1600" b="1" i="1" smtClean="0">
                              <a:latin typeface="Cambria Math" panose="02040503050406030204" pitchFamily="18" charset="0"/>
                            </a:rPr>
                            <m:t>𝒒</m:t>
                          </m:r>
                        </m:sub>
                      </m:sSub>
                      <m:d>
                        <m:dPr>
                          <m:ctrlPr>
                            <a:rPr lang="en-US" sz="1600" b="1" i="1" smtClean="0">
                              <a:latin typeface="Cambria Math" panose="02040503050406030204" pitchFamily="18" charset="0"/>
                            </a:rPr>
                          </m:ctrlPr>
                        </m:dPr>
                        <m:e>
                          <m:r>
                            <a:rPr lang="en-US" sz="1600" b="1" i="1" smtClean="0">
                              <a:latin typeface="Cambria Math" panose="02040503050406030204" pitchFamily="18" charset="0"/>
                            </a:rPr>
                            <m:t>𝒌</m:t>
                          </m:r>
                        </m:e>
                      </m:d>
                      <m:r>
                        <a:rPr lang="en-US" sz="1600" b="1" i="1" smtClean="0">
                          <a:latin typeface="Cambria Math" panose="02040503050406030204" pitchFamily="18" charset="0"/>
                        </a:rPr>
                        <m:t>=</m:t>
                      </m:r>
                      <m:f>
                        <m:fPr>
                          <m:ctrlPr>
                            <a:rPr lang="en-US" sz="1600" b="1" i="1" smtClean="0">
                              <a:latin typeface="Cambria Math" panose="02040503050406030204" pitchFamily="18" charset="0"/>
                            </a:rPr>
                          </m:ctrlPr>
                        </m:fPr>
                        <m:num>
                          <m:r>
                            <a:rPr lang="en-US" sz="1600" b="1" i="1" smtClean="0">
                              <a:latin typeface="Cambria Math" panose="02040503050406030204" pitchFamily="18" charset="0"/>
                            </a:rPr>
                            <m:t>𝟏</m:t>
                          </m:r>
                        </m:num>
                        <m:den>
                          <m:r>
                            <a:rPr lang="en-US" sz="1600" b="1" i="1" smtClean="0">
                              <a:latin typeface="Cambria Math" panose="02040503050406030204" pitchFamily="18" charset="0"/>
                            </a:rPr>
                            <m:t>𝑵</m:t>
                          </m:r>
                        </m:den>
                      </m:f>
                      <m:nary>
                        <m:naryPr>
                          <m:chr m:val="∑"/>
                          <m:supHide m:val="on"/>
                          <m:ctrlPr>
                            <a:rPr lang="en-US" sz="1600" b="1" i="1" smtClean="0">
                              <a:latin typeface="Cambria Math" panose="02040503050406030204" pitchFamily="18" charset="0"/>
                            </a:rPr>
                          </m:ctrlPr>
                        </m:naryPr>
                        <m:sub>
                          <m:r>
                            <a:rPr lang="en-US" sz="1600" b="1" i="1" smtClean="0">
                              <a:latin typeface="Cambria Math" panose="02040503050406030204" pitchFamily="18" charset="0"/>
                            </a:rPr>
                            <m:t>𝒏</m:t>
                          </m:r>
                        </m:sub>
                        <m:sup/>
                        <m:e>
                          <m:r>
                            <a:rPr lang="en-US" sz="1600" b="1" i="1" smtClean="0">
                              <a:latin typeface="Cambria Math" panose="02040503050406030204" pitchFamily="18" charset="0"/>
                            </a:rPr>
                            <m:t>𝝓</m:t>
                          </m:r>
                          <m:d>
                            <m:dPr>
                              <m:ctrlPr>
                                <a:rPr lang="en-US" sz="1600" b="1" i="1" smtClean="0">
                                  <a:latin typeface="Cambria Math" panose="02040503050406030204" pitchFamily="18" charset="0"/>
                                </a:rPr>
                              </m:ctrlPr>
                            </m:dPr>
                            <m:e>
                              <m:sSub>
                                <m:sSubPr>
                                  <m:ctrlPr>
                                    <a:rPr lang="en-US" sz="1600" b="1" i="1" smtClean="0">
                                      <a:latin typeface="Cambria Math" panose="02040503050406030204" pitchFamily="18" charset="0"/>
                                    </a:rPr>
                                  </m:ctrlPr>
                                </m:sSubPr>
                                <m:e>
                                  <m:r>
                                    <a:rPr lang="en-US" sz="1600" b="1" i="1" smtClean="0">
                                      <a:latin typeface="Cambria Math" panose="02040503050406030204" pitchFamily="18" charset="0"/>
                                    </a:rPr>
                                    <m:t>𝒓</m:t>
                                  </m:r>
                                </m:e>
                                <m:sub>
                                  <m:r>
                                    <a:rPr lang="en-US" sz="1600" b="1" i="1" smtClean="0">
                                      <a:latin typeface="Cambria Math" panose="02040503050406030204" pitchFamily="18" charset="0"/>
                                    </a:rPr>
                                    <m:t>𝒒</m:t>
                                  </m:r>
                                </m:sub>
                              </m:sSub>
                              <m:d>
                                <m:dPr>
                                  <m:ctrlPr>
                                    <a:rPr lang="en-US" sz="1600" b="1" i="1" smtClean="0">
                                      <a:latin typeface="Cambria Math" panose="02040503050406030204" pitchFamily="18" charset="0"/>
                                    </a:rPr>
                                  </m:ctrlPr>
                                </m:dPr>
                                <m:e>
                                  <m:r>
                                    <a:rPr lang="en-US" sz="1600" b="1" i="1" smtClean="0">
                                      <a:latin typeface="Cambria Math" panose="02040503050406030204" pitchFamily="18" charset="0"/>
                                    </a:rPr>
                                    <m:t>𝒏</m:t>
                                  </m:r>
                                </m:e>
                              </m:d>
                            </m:e>
                          </m:d>
                          <m:r>
                            <a:rPr lang="en-US" sz="1600" b="1" i="1" smtClean="0">
                              <a:latin typeface="Cambria Math" panose="02040503050406030204" pitchFamily="18" charset="0"/>
                            </a:rPr>
                            <m:t>  </m:t>
                          </m:r>
                          <m:r>
                            <a:rPr lang="en-US" sz="1600" b="1" i="1" smtClean="0">
                              <a:latin typeface="Cambria Math" panose="02040503050406030204" pitchFamily="18" charset="0"/>
                            </a:rPr>
                            <m:t>𝒙</m:t>
                          </m:r>
                          <m:d>
                            <m:dPr>
                              <m:ctrlPr>
                                <a:rPr lang="en-US" sz="1600" b="1" i="1" smtClean="0">
                                  <a:latin typeface="Cambria Math" panose="02040503050406030204" pitchFamily="18" charset="0"/>
                                </a:rPr>
                              </m:ctrlPr>
                            </m:dPr>
                            <m:e>
                              <m:r>
                                <a:rPr lang="en-US" sz="1600" b="1" i="1" smtClean="0">
                                  <a:latin typeface="Cambria Math" panose="02040503050406030204" pitchFamily="18" charset="0"/>
                                </a:rPr>
                                <m:t>𝒌</m:t>
                              </m:r>
                              <m:r>
                                <a:rPr lang="en-US" sz="1600" b="1" i="1" smtClean="0">
                                  <a:latin typeface="Cambria Math" panose="02040503050406030204" pitchFamily="18" charset="0"/>
                                </a:rPr>
                                <m:t>,</m:t>
                              </m:r>
                              <m:r>
                                <a:rPr lang="en-US" sz="1600" b="1" i="1" smtClean="0">
                                  <a:latin typeface="Cambria Math" panose="02040503050406030204" pitchFamily="18" charset="0"/>
                                </a:rPr>
                                <m:t>𝒏</m:t>
                              </m:r>
                            </m:e>
                          </m:d>
                          <m:sSup>
                            <m:sSupPr>
                              <m:ctrlPr>
                                <a:rPr lang="en-US" sz="1600" b="1" i="1" smtClean="0">
                                  <a:latin typeface="Cambria Math" panose="02040503050406030204" pitchFamily="18" charset="0"/>
                                </a:rPr>
                              </m:ctrlPr>
                            </m:sSupPr>
                            <m:e>
                              <m:r>
                                <a:rPr lang="en-US" sz="1600" b="1" i="1" smtClean="0">
                                  <a:latin typeface="Cambria Math" panose="02040503050406030204" pitchFamily="18" charset="0"/>
                                </a:rPr>
                                <m:t>𝒙</m:t>
                              </m:r>
                            </m:e>
                            <m:sup>
                              <m:r>
                                <a:rPr lang="en-US" sz="1600" b="1" i="1" smtClean="0">
                                  <a:latin typeface="Cambria Math" panose="02040503050406030204" pitchFamily="18" charset="0"/>
                                </a:rPr>
                                <m:t>𝑯</m:t>
                              </m:r>
                            </m:sup>
                          </m:sSup>
                          <m:r>
                            <a:rPr lang="en-US" sz="1600" b="1" i="1" smtClean="0">
                              <a:latin typeface="Cambria Math" panose="02040503050406030204" pitchFamily="18" charset="0"/>
                            </a:rPr>
                            <m:t>(</m:t>
                          </m:r>
                          <m:r>
                            <a:rPr lang="en-US" sz="1600" b="1" i="1" smtClean="0">
                              <a:latin typeface="Cambria Math" panose="02040503050406030204" pitchFamily="18" charset="0"/>
                            </a:rPr>
                            <m:t>𝒌</m:t>
                          </m:r>
                          <m:r>
                            <a:rPr lang="en-US" sz="1600" b="1" i="1" smtClean="0">
                              <a:latin typeface="Cambria Math" panose="02040503050406030204" pitchFamily="18" charset="0"/>
                            </a:rPr>
                            <m:t>,</m:t>
                          </m:r>
                          <m:r>
                            <a:rPr lang="en-US" sz="1600" b="1" i="1" smtClean="0">
                              <a:latin typeface="Cambria Math" panose="02040503050406030204" pitchFamily="18" charset="0"/>
                            </a:rPr>
                            <m:t>𝒏</m:t>
                          </m:r>
                          <m:r>
                            <a:rPr lang="en-US" sz="1600" b="1" i="1" smtClean="0">
                              <a:latin typeface="Cambria Math" panose="02040503050406030204" pitchFamily="18" charset="0"/>
                            </a:rPr>
                            <m:t>)</m:t>
                          </m:r>
                        </m:e>
                      </m:nary>
                    </m:oMath>
                  </m:oMathPara>
                </a14:m>
                <a:endParaRPr lang="en-US" sz="1600" b="1" dirty="0"/>
              </a:p>
              <a:p>
                <a:pPr algn="ctr"/>
                <a:endParaRPr lang="en-US" sz="1600" dirty="0"/>
              </a:p>
              <a:p>
                <a:pPr algn="ctr"/>
                <a14:m>
                  <m:oMathPara xmlns:m="http://schemas.openxmlformats.org/officeDocument/2006/math">
                    <m:oMath>
                      <m:sSub>
                        <m:sSubPr>
                          <m:ctrlPr>
                            <a:rPr lang="en-US" sz="1600" b="1" i="1" smtClean="0">
                              <a:latin typeface="Cambria Math" panose="02040503050406030204" pitchFamily="18" charset="0"/>
                            </a:rPr>
                          </m:ctrlPr>
                        </m:sSubPr>
                        <m:e>
                          <m:r>
                            <a:rPr lang="en-US" sz="1600" b="1" i="1" smtClean="0">
                              <a:latin typeface="Cambria Math" panose="02040503050406030204" pitchFamily="18" charset="0"/>
                            </a:rPr>
                            <m:t>𝒘</m:t>
                          </m:r>
                        </m:e>
                        <m:sub>
                          <m:r>
                            <a:rPr lang="en-US" sz="1600" b="1" i="1" smtClean="0">
                              <a:latin typeface="Cambria Math" panose="02040503050406030204" pitchFamily="18" charset="0"/>
                            </a:rPr>
                            <m:t>𝒒</m:t>
                          </m:r>
                        </m:sub>
                      </m:sSub>
                      <m:d>
                        <m:dPr>
                          <m:ctrlPr>
                            <a:rPr lang="en-US" sz="1600" b="1" i="1" smtClean="0">
                              <a:latin typeface="Cambria Math" panose="02040503050406030204" pitchFamily="18" charset="0"/>
                            </a:rPr>
                          </m:ctrlPr>
                        </m:dPr>
                        <m:e>
                          <m:r>
                            <a:rPr lang="en-US" sz="1600" b="1" i="1" smtClean="0">
                              <a:latin typeface="Cambria Math" panose="02040503050406030204" pitchFamily="18" charset="0"/>
                            </a:rPr>
                            <m:t>𝒌</m:t>
                          </m:r>
                        </m:e>
                      </m:d>
                      <m:r>
                        <a:rPr lang="en-US" sz="1600" b="1" i="1" smtClean="0">
                          <a:latin typeface="Cambria Math" panose="02040503050406030204" pitchFamily="18" charset="0"/>
                        </a:rPr>
                        <m:t>→</m:t>
                      </m:r>
                      <m:sSup>
                        <m:sSupPr>
                          <m:ctrlPr>
                            <a:rPr lang="en-US" sz="1600" b="1" i="1" smtClean="0">
                              <a:latin typeface="Cambria Math" panose="02040503050406030204" pitchFamily="18" charset="0"/>
                            </a:rPr>
                          </m:ctrlPr>
                        </m:sSupPr>
                        <m:e>
                          <m:d>
                            <m:dPr>
                              <m:begChr m:val="["/>
                              <m:endChr m:val="]"/>
                              <m:ctrlPr>
                                <a:rPr lang="en-US" sz="1600" b="1" i="1" smtClean="0">
                                  <a:latin typeface="Cambria Math" panose="02040503050406030204" pitchFamily="18" charset="0"/>
                                </a:rPr>
                              </m:ctrlPr>
                            </m:dPr>
                            <m:e>
                              <m:r>
                                <a:rPr lang="en-US" sz="1600" b="1" i="1" smtClean="0">
                                  <a:latin typeface="Cambria Math" panose="02040503050406030204" pitchFamily="18" charset="0"/>
                                </a:rPr>
                                <m:t>𝑾</m:t>
                              </m:r>
                              <m:d>
                                <m:dPr>
                                  <m:ctrlPr>
                                    <a:rPr lang="en-US" sz="1600" b="1" i="1" smtClean="0">
                                      <a:latin typeface="Cambria Math" panose="02040503050406030204" pitchFamily="18" charset="0"/>
                                    </a:rPr>
                                  </m:ctrlPr>
                                </m:dPr>
                                <m:e>
                                  <m:r>
                                    <a:rPr lang="en-US" sz="1600" b="1" i="1" smtClean="0">
                                      <a:latin typeface="Cambria Math" panose="02040503050406030204" pitchFamily="18" charset="0"/>
                                    </a:rPr>
                                    <m:t>𝒌</m:t>
                                  </m:r>
                                </m:e>
                              </m:d>
                              <m:sSub>
                                <m:sSubPr>
                                  <m:ctrlPr>
                                    <a:rPr lang="en-US" sz="1600" b="1" i="1" smtClean="0">
                                      <a:latin typeface="Cambria Math" panose="02040503050406030204" pitchFamily="18" charset="0"/>
                                    </a:rPr>
                                  </m:ctrlPr>
                                </m:sSubPr>
                                <m:e>
                                  <m:r>
                                    <a:rPr lang="en-US" sz="1600" b="1" i="1" smtClean="0">
                                      <a:latin typeface="Cambria Math" panose="02040503050406030204" pitchFamily="18" charset="0"/>
                                    </a:rPr>
                                    <m:t>𝑽</m:t>
                                  </m:r>
                                </m:e>
                                <m:sub>
                                  <m:r>
                                    <a:rPr lang="en-US" sz="1600" b="1" i="1" smtClean="0">
                                      <a:latin typeface="Cambria Math" panose="02040503050406030204" pitchFamily="18" charset="0"/>
                                    </a:rPr>
                                    <m:t>𝒒</m:t>
                                  </m:r>
                                </m:sub>
                              </m:sSub>
                              <m:d>
                                <m:dPr>
                                  <m:ctrlPr>
                                    <a:rPr lang="en-US" sz="1600" b="1" i="1" smtClean="0">
                                      <a:latin typeface="Cambria Math" panose="02040503050406030204" pitchFamily="18" charset="0"/>
                                    </a:rPr>
                                  </m:ctrlPr>
                                </m:dPr>
                                <m:e>
                                  <m:r>
                                    <a:rPr lang="en-US" sz="1600" b="1" i="1" smtClean="0">
                                      <a:latin typeface="Cambria Math" panose="02040503050406030204" pitchFamily="18" charset="0"/>
                                    </a:rPr>
                                    <m:t>𝒌</m:t>
                                  </m:r>
                                </m:e>
                              </m:d>
                            </m:e>
                          </m:d>
                        </m:e>
                        <m:sup>
                          <m:r>
                            <a:rPr lang="en-US" sz="1600" b="1" i="1" smtClean="0">
                              <a:latin typeface="Cambria Math" panose="02040503050406030204" pitchFamily="18" charset="0"/>
                            </a:rPr>
                            <m:t>−</m:t>
                          </m:r>
                          <m:r>
                            <a:rPr lang="en-US" sz="1600" b="1" i="1" smtClean="0">
                              <a:latin typeface="Cambria Math" panose="02040503050406030204" pitchFamily="18" charset="0"/>
                            </a:rPr>
                            <m:t>𝟏</m:t>
                          </m:r>
                        </m:sup>
                      </m:sSup>
                      <m:sSub>
                        <m:sSubPr>
                          <m:ctrlPr>
                            <a:rPr lang="en-US" sz="1600" b="1" i="1" smtClean="0">
                              <a:latin typeface="Cambria Math" panose="02040503050406030204" pitchFamily="18" charset="0"/>
                            </a:rPr>
                          </m:ctrlPr>
                        </m:sSubPr>
                        <m:e>
                          <m:r>
                            <a:rPr lang="en-US" sz="1600" b="1" i="1" smtClean="0">
                              <a:latin typeface="Cambria Math" panose="02040503050406030204" pitchFamily="18" charset="0"/>
                            </a:rPr>
                            <m:t>𝒆</m:t>
                          </m:r>
                        </m:e>
                        <m:sub>
                          <m:r>
                            <a:rPr lang="en-US" sz="1600" b="1" i="1" smtClean="0">
                              <a:latin typeface="Cambria Math" panose="02040503050406030204" pitchFamily="18" charset="0"/>
                            </a:rPr>
                            <m:t>𝒒</m:t>
                          </m:r>
                        </m:sub>
                      </m:sSub>
                    </m:oMath>
                  </m:oMathPara>
                </a14:m>
                <a:endParaRPr lang="en-US" sz="1600" b="1" dirty="0"/>
              </a:p>
              <a:p>
                <a:pPr algn="ctr"/>
                <a14:m>
                  <m:oMathPara xmlns:m="http://schemas.openxmlformats.org/officeDocument/2006/math">
                    <m:oMath>
                      <m:sSub>
                        <m:sSubPr>
                          <m:ctrlPr>
                            <a:rPr lang="en-US" sz="1600" b="1" i="1" smtClean="0">
                              <a:latin typeface="Cambria Math" panose="02040503050406030204" pitchFamily="18" charset="0"/>
                            </a:rPr>
                          </m:ctrlPr>
                        </m:sSubPr>
                        <m:e>
                          <m:r>
                            <a:rPr lang="en-US" sz="1600" b="1" i="1" smtClean="0">
                              <a:latin typeface="Cambria Math" panose="02040503050406030204" pitchFamily="18" charset="0"/>
                            </a:rPr>
                            <m:t>𝒘</m:t>
                          </m:r>
                        </m:e>
                        <m:sub>
                          <m:r>
                            <a:rPr lang="en-US" sz="1600" b="1" i="1" smtClean="0">
                              <a:latin typeface="Cambria Math" panose="02040503050406030204" pitchFamily="18" charset="0"/>
                            </a:rPr>
                            <m:t>𝒒</m:t>
                          </m:r>
                        </m:sub>
                      </m:sSub>
                      <m:d>
                        <m:dPr>
                          <m:ctrlPr>
                            <a:rPr lang="en-US" sz="1600" b="1" i="1" smtClean="0">
                              <a:latin typeface="Cambria Math" panose="02040503050406030204" pitchFamily="18" charset="0"/>
                            </a:rPr>
                          </m:ctrlPr>
                        </m:dPr>
                        <m:e>
                          <m:r>
                            <a:rPr lang="en-US" sz="1600" b="1" i="1" smtClean="0">
                              <a:latin typeface="Cambria Math" panose="02040503050406030204" pitchFamily="18" charset="0"/>
                            </a:rPr>
                            <m:t>𝒌</m:t>
                          </m:r>
                        </m:e>
                      </m:d>
                      <m:r>
                        <a:rPr lang="en-US" sz="1600" b="1" i="1" smtClean="0">
                          <a:latin typeface="Cambria Math" panose="02040503050406030204" pitchFamily="18" charset="0"/>
                        </a:rPr>
                        <m:t>→</m:t>
                      </m:r>
                      <m:f>
                        <m:fPr>
                          <m:ctrlPr>
                            <a:rPr lang="en-US" sz="1600" b="1" i="1" smtClean="0">
                              <a:latin typeface="Cambria Math" panose="02040503050406030204" pitchFamily="18" charset="0"/>
                            </a:rPr>
                          </m:ctrlPr>
                        </m:fPr>
                        <m:num>
                          <m:sSub>
                            <m:sSubPr>
                              <m:ctrlPr>
                                <a:rPr lang="en-US" sz="1600" b="1" i="1" smtClean="0">
                                  <a:latin typeface="Cambria Math" panose="02040503050406030204" pitchFamily="18" charset="0"/>
                                </a:rPr>
                              </m:ctrlPr>
                            </m:sSubPr>
                            <m:e>
                              <m:r>
                                <a:rPr lang="en-US" sz="1600" b="1" i="1" smtClean="0">
                                  <a:latin typeface="Cambria Math" panose="02040503050406030204" pitchFamily="18" charset="0"/>
                                </a:rPr>
                                <m:t>𝒘</m:t>
                              </m:r>
                            </m:e>
                            <m:sub>
                              <m:r>
                                <a:rPr lang="en-US" sz="1600" b="1" i="1" smtClean="0">
                                  <a:latin typeface="Cambria Math" panose="02040503050406030204" pitchFamily="18" charset="0"/>
                                </a:rPr>
                                <m:t>𝒒</m:t>
                              </m:r>
                            </m:sub>
                          </m:sSub>
                          <m:d>
                            <m:dPr>
                              <m:ctrlPr>
                                <a:rPr lang="en-US" sz="1600" b="1" i="1" smtClean="0">
                                  <a:latin typeface="Cambria Math" panose="02040503050406030204" pitchFamily="18" charset="0"/>
                                </a:rPr>
                              </m:ctrlPr>
                            </m:dPr>
                            <m:e>
                              <m:r>
                                <a:rPr lang="en-US" sz="1600" b="1" i="1" smtClean="0">
                                  <a:latin typeface="Cambria Math" panose="02040503050406030204" pitchFamily="18" charset="0"/>
                                </a:rPr>
                                <m:t>𝒌</m:t>
                              </m:r>
                            </m:e>
                          </m:d>
                        </m:num>
                        <m:den>
                          <m:r>
                            <m:rPr>
                              <m:lit/>
                            </m:rPr>
                            <a:rPr lang="en-US" sz="1600" b="1" i="1" smtClean="0">
                              <a:latin typeface="Cambria Math" panose="02040503050406030204" pitchFamily="18" charset="0"/>
                            </a:rPr>
                            <m:t> </m:t>
                          </m:r>
                          <m:rad>
                            <m:radPr>
                              <m:degHide m:val="on"/>
                              <m:ctrlPr>
                                <a:rPr lang="en-US" sz="1600" b="1" i="1" smtClean="0">
                                  <a:latin typeface="Cambria Math" panose="02040503050406030204" pitchFamily="18" charset="0"/>
                                </a:rPr>
                              </m:ctrlPr>
                            </m:radPr>
                            <m:deg/>
                            <m:e>
                              <m:sSubSup>
                                <m:sSubSupPr>
                                  <m:ctrlPr>
                                    <a:rPr lang="en-US" sz="1600" b="1" i="1" smtClean="0">
                                      <a:latin typeface="Cambria Math" panose="02040503050406030204" pitchFamily="18" charset="0"/>
                                    </a:rPr>
                                  </m:ctrlPr>
                                </m:sSubSupPr>
                                <m:e>
                                  <m:r>
                                    <a:rPr lang="en-US" sz="1600" b="1" i="1" smtClean="0">
                                      <a:latin typeface="Cambria Math" panose="02040503050406030204" pitchFamily="18" charset="0"/>
                                    </a:rPr>
                                    <m:t>𝒘</m:t>
                                  </m:r>
                                </m:e>
                                <m:sub>
                                  <m:r>
                                    <a:rPr lang="en-US" sz="1600" b="1" i="1" smtClean="0">
                                      <a:latin typeface="Cambria Math" panose="02040503050406030204" pitchFamily="18" charset="0"/>
                                    </a:rPr>
                                    <m:t>𝒒</m:t>
                                  </m:r>
                                </m:sub>
                                <m:sup>
                                  <m:r>
                                    <a:rPr lang="en-US" sz="1600" b="1" i="1" smtClean="0">
                                      <a:latin typeface="Cambria Math" panose="02040503050406030204" pitchFamily="18" charset="0"/>
                                    </a:rPr>
                                    <m:t>𝑯</m:t>
                                  </m:r>
                                </m:sup>
                              </m:sSubSup>
                              <m:d>
                                <m:dPr>
                                  <m:ctrlPr>
                                    <a:rPr lang="en-US" sz="1600" b="1" i="1" smtClean="0">
                                      <a:latin typeface="Cambria Math" panose="02040503050406030204" pitchFamily="18" charset="0"/>
                                    </a:rPr>
                                  </m:ctrlPr>
                                </m:dPr>
                                <m:e>
                                  <m:r>
                                    <a:rPr lang="en-US" sz="1600" b="1" i="1" smtClean="0">
                                      <a:latin typeface="Cambria Math" panose="02040503050406030204" pitchFamily="18" charset="0"/>
                                    </a:rPr>
                                    <m:t>𝒌</m:t>
                                  </m:r>
                                </m:e>
                              </m:d>
                              <m:r>
                                <a:rPr lang="en-US" sz="1600" b="1" i="1" smtClean="0">
                                  <a:latin typeface="Cambria Math" panose="02040503050406030204" pitchFamily="18" charset="0"/>
                                </a:rPr>
                                <m:t> </m:t>
                              </m:r>
                              <m:sSub>
                                <m:sSubPr>
                                  <m:ctrlPr>
                                    <a:rPr lang="en-US" sz="1600" b="1" i="1" smtClean="0">
                                      <a:latin typeface="Cambria Math" panose="02040503050406030204" pitchFamily="18" charset="0"/>
                                    </a:rPr>
                                  </m:ctrlPr>
                                </m:sSubPr>
                                <m:e>
                                  <m:r>
                                    <a:rPr lang="en-US" sz="1600" b="1" i="1" smtClean="0">
                                      <a:latin typeface="Cambria Math" panose="02040503050406030204" pitchFamily="18" charset="0"/>
                                    </a:rPr>
                                    <m:t>𝑽</m:t>
                                  </m:r>
                                </m:e>
                                <m:sub>
                                  <m:r>
                                    <a:rPr lang="en-US" sz="1600" b="1" i="1" smtClean="0">
                                      <a:latin typeface="Cambria Math" panose="02040503050406030204" pitchFamily="18" charset="0"/>
                                    </a:rPr>
                                    <m:t>𝒒</m:t>
                                  </m:r>
                                </m:sub>
                              </m:sSub>
                              <m:d>
                                <m:dPr>
                                  <m:ctrlPr>
                                    <a:rPr lang="en-US" sz="1600" b="1" i="1" smtClean="0">
                                      <a:latin typeface="Cambria Math" panose="02040503050406030204" pitchFamily="18" charset="0"/>
                                    </a:rPr>
                                  </m:ctrlPr>
                                </m:dPr>
                                <m:e>
                                  <m:r>
                                    <a:rPr lang="en-US" sz="1600" b="1" i="1" smtClean="0">
                                      <a:latin typeface="Cambria Math" panose="02040503050406030204" pitchFamily="18" charset="0"/>
                                    </a:rPr>
                                    <m:t>𝒌</m:t>
                                  </m:r>
                                </m:e>
                              </m:d>
                              <m:sSub>
                                <m:sSubPr>
                                  <m:ctrlPr>
                                    <a:rPr lang="en-US" sz="1600" b="1" i="1" smtClean="0">
                                      <a:latin typeface="Cambria Math" panose="02040503050406030204" pitchFamily="18" charset="0"/>
                                    </a:rPr>
                                  </m:ctrlPr>
                                </m:sSubPr>
                                <m:e>
                                  <m:r>
                                    <a:rPr lang="en-US" sz="1600" b="1" i="1" smtClean="0">
                                      <a:latin typeface="Cambria Math" panose="02040503050406030204" pitchFamily="18" charset="0"/>
                                    </a:rPr>
                                    <m:t>𝒘</m:t>
                                  </m:r>
                                </m:e>
                                <m:sub>
                                  <m:r>
                                    <a:rPr lang="en-US" sz="1600" b="1" i="1" smtClean="0">
                                      <a:latin typeface="Cambria Math" panose="02040503050406030204" pitchFamily="18" charset="0"/>
                                    </a:rPr>
                                    <m:t>𝒒</m:t>
                                  </m:r>
                                </m:sub>
                              </m:sSub>
                              <m:r>
                                <a:rPr lang="en-US" sz="1600" b="1" i="1" smtClean="0">
                                  <a:latin typeface="Cambria Math" panose="02040503050406030204" pitchFamily="18" charset="0"/>
                                </a:rPr>
                                <m:t>(</m:t>
                              </m:r>
                              <m:r>
                                <a:rPr lang="en-US" sz="1600" b="1" i="1" smtClean="0">
                                  <a:latin typeface="Cambria Math" panose="02040503050406030204" pitchFamily="18" charset="0"/>
                                </a:rPr>
                                <m:t>𝒌</m:t>
                              </m:r>
                              <m:r>
                                <a:rPr lang="en-US" sz="1600" b="1" i="1" smtClean="0">
                                  <a:latin typeface="Cambria Math" panose="02040503050406030204" pitchFamily="18" charset="0"/>
                                </a:rPr>
                                <m:t>) </m:t>
                              </m:r>
                            </m:e>
                          </m:rad>
                          <m:r>
                            <a:rPr lang="en-US" sz="1600" b="1" i="1" smtClean="0">
                              <a:latin typeface="Cambria Math" panose="02040503050406030204" pitchFamily="18" charset="0"/>
                            </a:rPr>
                            <m:t> </m:t>
                          </m:r>
                        </m:den>
                      </m:f>
                    </m:oMath>
                  </m:oMathPara>
                </a14:m>
                <a:endParaRPr lang="en-US" sz="1600" b="1" dirty="0"/>
              </a:p>
              <a:p>
                <a:pPr marL="285750" indent="-285750">
                  <a:buClr>
                    <a:schemeClr val="accent1"/>
                  </a:buClr>
                  <a:buFont typeface="Arial" panose="020B0604020202020204" pitchFamily="34" charset="0"/>
                  <a:buChar char="•"/>
                </a:pPr>
                <a14:m>
                  <m:oMath xmlns:m="http://schemas.openxmlformats.org/officeDocument/2006/math">
                    <m:sSub>
                      <m:sSubPr>
                        <m:ctrlPr>
                          <a:rPr lang="en-US" sz="1600" b="1" i="1" smtClean="0">
                            <a:latin typeface="Cambria Math" panose="02040503050406030204" pitchFamily="18" charset="0"/>
                          </a:rPr>
                        </m:ctrlPr>
                      </m:sSubPr>
                      <m:e>
                        <m:r>
                          <a:rPr lang="en-US" sz="1600" b="1" i="1" smtClean="0">
                            <a:latin typeface="Cambria Math" panose="02040503050406030204" pitchFamily="18" charset="0"/>
                          </a:rPr>
                          <m:t>𝑽</m:t>
                        </m:r>
                      </m:e>
                      <m:sub>
                        <m:r>
                          <a:rPr lang="en-US" sz="1600" b="1" i="1" smtClean="0">
                            <a:latin typeface="Cambria Math" panose="02040503050406030204" pitchFamily="18" charset="0"/>
                          </a:rPr>
                          <m:t>𝒒</m:t>
                        </m:r>
                      </m:sub>
                    </m:sSub>
                    <m:r>
                      <a:rPr lang="en-US" sz="1600" b="1" i="1" smtClean="0">
                        <a:latin typeface="Cambria Math" panose="02040503050406030204" pitchFamily="18" charset="0"/>
                      </a:rPr>
                      <m:t>(</m:t>
                    </m:r>
                    <m:r>
                      <a:rPr lang="en-US" sz="1600" b="1" i="1" smtClean="0">
                        <a:latin typeface="Cambria Math" panose="02040503050406030204" pitchFamily="18" charset="0"/>
                      </a:rPr>
                      <m:t>𝒌</m:t>
                    </m:r>
                    <m:r>
                      <a:rPr lang="en-US" sz="1600" b="1" i="1" smtClean="0">
                        <a:latin typeface="Cambria Math" panose="02040503050406030204" pitchFamily="18" charset="0"/>
                      </a:rPr>
                      <m:t>)</m:t>
                    </m:r>
                  </m:oMath>
                </a14:m>
                <a:r>
                  <a:rPr lang="en-US" sz="1600" dirty="0">
                    <a:latin typeface="Cambria Math" panose="02040503050406030204" pitchFamily="18" charset="0"/>
                  </a:rPr>
                  <a:t>: Source-weighted spatial covariance matrix.</a:t>
                </a:r>
                <a:endParaRPr lang="en-US" sz="1600" b="1" i="1" dirty="0">
                  <a:latin typeface="Cambria Math" panose="02040503050406030204" pitchFamily="18" charset="0"/>
                </a:endParaRPr>
              </a:p>
              <a:p>
                <a:pPr marL="285750" indent="-285750">
                  <a:buClr>
                    <a:schemeClr val="accent1"/>
                  </a:buClr>
                  <a:buFont typeface="Arial" panose="020B0604020202020204" pitchFamily="34" charset="0"/>
                  <a:buChar char="•"/>
                </a:pPr>
                <a14:m>
                  <m:oMath xmlns:m="http://schemas.openxmlformats.org/officeDocument/2006/math">
                    <m:r>
                      <a:rPr lang="en-US" sz="1600" b="1" i="1" smtClean="0">
                        <a:latin typeface="Cambria Math" panose="02040503050406030204" pitchFamily="18" charset="0"/>
                      </a:rPr>
                      <m:t>𝝓</m:t>
                    </m:r>
                    <m:r>
                      <a:rPr lang="en-US" sz="1600" b="1" i="1" smtClean="0">
                        <a:latin typeface="Cambria Math" panose="02040503050406030204" pitchFamily="18" charset="0"/>
                      </a:rPr>
                      <m:t>(</m:t>
                    </m:r>
                    <m:sSub>
                      <m:sSubPr>
                        <m:ctrlPr>
                          <a:rPr lang="en-US" sz="1600" b="1" i="1" smtClean="0">
                            <a:latin typeface="Cambria Math" panose="02040503050406030204" pitchFamily="18" charset="0"/>
                          </a:rPr>
                        </m:ctrlPr>
                      </m:sSubPr>
                      <m:e>
                        <m:r>
                          <a:rPr lang="en-US" sz="1600" b="1" i="1" smtClean="0">
                            <a:latin typeface="Cambria Math" panose="02040503050406030204" pitchFamily="18" charset="0"/>
                          </a:rPr>
                          <m:t>𝒓</m:t>
                        </m:r>
                      </m:e>
                      <m:sub>
                        <m:r>
                          <a:rPr lang="en-US" sz="1600" b="1" i="1" smtClean="0">
                            <a:latin typeface="Cambria Math" panose="02040503050406030204" pitchFamily="18" charset="0"/>
                          </a:rPr>
                          <m:t>𝒒</m:t>
                        </m:r>
                      </m:sub>
                    </m:sSub>
                    <m:d>
                      <m:dPr>
                        <m:ctrlPr>
                          <a:rPr lang="en-US" sz="1600" b="1" i="1" smtClean="0">
                            <a:latin typeface="Cambria Math" panose="02040503050406030204" pitchFamily="18" charset="0"/>
                          </a:rPr>
                        </m:ctrlPr>
                      </m:dPr>
                      <m:e>
                        <m:r>
                          <a:rPr lang="en-US" sz="1600" b="1" i="1" smtClean="0">
                            <a:latin typeface="Cambria Math" panose="02040503050406030204" pitchFamily="18" charset="0"/>
                          </a:rPr>
                          <m:t>𝒏</m:t>
                        </m:r>
                      </m:e>
                    </m:d>
                    <m:r>
                      <a:rPr lang="en-US" sz="1600" b="1" i="0" smtClean="0">
                        <a:latin typeface="Cambria Math" panose="02040503050406030204" pitchFamily="18" charset="0"/>
                      </a:rPr>
                      <m:t>)</m:t>
                    </m:r>
                  </m:oMath>
                </a14:m>
                <a:r>
                  <a:rPr lang="en-US" sz="1600" dirty="0"/>
                  <a:t>: source-dependent weight </a:t>
                </a:r>
                <a14:m>
                  <m:oMath xmlns:m="http://schemas.openxmlformats.org/officeDocument/2006/math">
                    <m:r>
                      <a:rPr lang="en-US" sz="1600" b="0" i="1" smtClean="0">
                        <a:latin typeface="Cambria Math" panose="02040503050406030204" pitchFamily="18" charset="0"/>
                      </a:rPr>
                      <m:t>→ </m:t>
                    </m:r>
                  </m:oMath>
                </a14:m>
                <a:r>
                  <a:rPr lang="en-US" sz="1600" dirty="0"/>
                  <a:t>which frames matter.</a:t>
                </a:r>
              </a:p>
              <a:p>
                <a:pPr marL="285750" indent="-285750">
                  <a:buClr>
                    <a:schemeClr val="accent1"/>
                  </a:buClr>
                  <a:buFont typeface="Arial" panose="020B0604020202020204" pitchFamily="34" charset="0"/>
                  <a:buChar char="•"/>
                </a:pPr>
                <a14:m>
                  <m:oMath xmlns:m="http://schemas.openxmlformats.org/officeDocument/2006/math">
                    <m:r>
                      <a:rPr lang="en-US" sz="1600" b="1" i="1">
                        <a:latin typeface="Cambria Math" panose="02040503050406030204" pitchFamily="18" charset="0"/>
                      </a:rPr>
                      <m:t>𝒙</m:t>
                    </m:r>
                    <m:d>
                      <m:dPr>
                        <m:ctrlPr>
                          <a:rPr lang="en-US" sz="1600" b="1" i="1">
                            <a:latin typeface="Cambria Math" panose="02040503050406030204" pitchFamily="18" charset="0"/>
                          </a:rPr>
                        </m:ctrlPr>
                      </m:dPr>
                      <m:e>
                        <m:r>
                          <a:rPr lang="en-US" sz="1600" b="1" i="1">
                            <a:latin typeface="Cambria Math" panose="02040503050406030204" pitchFamily="18" charset="0"/>
                          </a:rPr>
                          <m:t>𝒌</m:t>
                        </m:r>
                        <m:r>
                          <a:rPr lang="en-US" sz="1600" b="1" i="1">
                            <a:latin typeface="Cambria Math" panose="02040503050406030204" pitchFamily="18" charset="0"/>
                          </a:rPr>
                          <m:t>,</m:t>
                        </m:r>
                        <m:r>
                          <a:rPr lang="en-US" sz="1600" b="1" i="1">
                            <a:latin typeface="Cambria Math" panose="02040503050406030204" pitchFamily="18" charset="0"/>
                          </a:rPr>
                          <m:t>𝒏</m:t>
                        </m:r>
                      </m:e>
                    </m:d>
                    <m:sSup>
                      <m:sSupPr>
                        <m:ctrlPr>
                          <a:rPr lang="en-US" sz="1600" b="1" i="1">
                            <a:latin typeface="Cambria Math" panose="02040503050406030204" pitchFamily="18" charset="0"/>
                          </a:rPr>
                        </m:ctrlPr>
                      </m:sSupPr>
                      <m:e>
                        <m:r>
                          <a:rPr lang="en-US" sz="1600" b="1" i="1">
                            <a:latin typeface="Cambria Math" panose="02040503050406030204" pitchFamily="18" charset="0"/>
                          </a:rPr>
                          <m:t>𝒙</m:t>
                        </m:r>
                      </m:e>
                      <m:sup>
                        <m:r>
                          <a:rPr lang="en-US" sz="1600" b="1" i="1">
                            <a:latin typeface="Cambria Math" panose="02040503050406030204" pitchFamily="18" charset="0"/>
                          </a:rPr>
                          <m:t>𝑯</m:t>
                        </m:r>
                      </m:sup>
                    </m:sSup>
                    <m:r>
                      <a:rPr lang="en-US" sz="1600" b="1" i="1">
                        <a:latin typeface="Cambria Math" panose="02040503050406030204" pitchFamily="18" charset="0"/>
                      </a:rPr>
                      <m:t>(</m:t>
                    </m:r>
                    <m:r>
                      <a:rPr lang="en-US" sz="1600" b="1" i="1">
                        <a:latin typeface="Cambria Math" panose="02040503050406030204" pitchFamily="18" charset="0"/>
                      </a:rPr>
                      <m:t>𝒌</m:t>
                    </m:r>
                    <m:r>
                      <a:rPr lang="en-US" sz="1600" b="1" i="1">
                        <a:latin typeface="Cambria Math" panose="02040503050406030204" pitchFamily="18" charset="0"/>
                      </a:rPr>
                      <m:t>,</m:t>
                    </m:r>
                    <m:r>
                      <a:rPr lang="en-US" sz="1600" b="1" i="1">
                        <a:latin typeface="Cambria Math" panose="02040503050406030204" pitchFamily="18" charset="0"/>
                      </a:rPr>
                      <m:t>𝒏</m:t>
                    </m:r>
                    <m:r>
                      <a:rPr lang="en-US" sz="1600" b="1" i="1" smtClean="0">
                        <a:latin typeface="Cambria Math" panose="02040503050406030204" pitchFamily="18" charset="0"/>
                      </a:rPr>
                      <m:t>)</m:t>
                    </m:r>
                  </m:oMath>
                </a14:m>
                <a:r>
                  <a:rPr lang="en-US" sz="1600" dirty="0"/>
                  <a:t>: captures inter-channel spatial relationships of the mixture.</a:t>
                </a:r>
              </a:p>
              <a:p>
                <a:pPr marL="285750" indent="-285750">
                  <a:buClr>
                    <a:schemeClr val="accent1"/>
                  </a:buClr>
                  <a:buFont typeface="Arial" panose="020B0604020202020204" pitchFamily="34" charset="0"/>
                  <a:buChar char="•"/>
                </a:pPr>
                <a:endParaRPr lang="en-US" dirty="0"/>
              </a:p>
            </p:txBody>
          </p:sp>
        </mc:Choice>
        <mc:Fallback xmlns="">
          <p:sp>
            <p:nvSpPr>
              <p:cNvPr id="12" name="TextBox 11">
                <a:extLst>
                  <a:ext uri="{FF2B5EF4-FFF2-40B4-BE49-F238E27FC236}">
                    <a16:creationId xmlns:a16="http://schemas.microsoft.com/office/drawing/2014/main" id="{36162E7C-9234-A1EB-7548-196A2B7A5EF4}"/>
                  </a:ext>
                </a:extLst>
              </p:cNvPr>
              <p:cNvSpPr txBox="1">
                <a:spLocks noRot="1" noChangeAspect="1" noMove="1" noResize="1" noEditPoints="1" noAdjustHandles="1" noChangeArrowheads="1" noChangeShapeType="1" noTextEdit="1"/>
              </p:cNvSpPr>
              <p:nvPr/>
            </p:nvSpPr>
            <p:spPr>
              <a:xfrm>
                <a:off x="5857593" y="3430900"/>
                <a:ext cx="5883244" cy="3604898"/>
              </a:xfrm>
              <a:prstGeom prst="rect">
                <a:avLst/>
              </a:prstGeom>
              <a:blipFill>
                <a:blip r:embed="rId5"/>
                <a:stretch>
                  <a:fillRect l="-622" t="-508"/>
                </a:stretch>
              </a:blipFill>
            </p:spPr>
            <p:txBody>
              <a:bodyPr/>
              <a:lstStyle/>
              <a:p>
                <a:r>
                  <a:rPr lang="el-GR">
                    <a:noFill/>
                  </a:rPr>
                  <a:t> </a:t>
                </a:r>
              </a:p>
            </p:txBody>
          </p:sp>
        </mc:Fallback>
      </mc:AlternateContent>
    </p:spTree>
    <p:extLst>
      <p:ext uri="{BB962C8B-B14F-4D97-AF65-F5344CB8AC3E}">
        <p14:creationId xmlns:p14="http://schemas.microsoft.com/office/powerpoint/2010/main" val="30338133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CF7E81-6A13-0D3F-0EFD-4FBA707C02F2}"/>
            </a:ext>
          </a:extLst>
        </p:cNvPr>
        <p:cNvGrpSpPr/>
        <p:nvPr/>
      </p:nvGrpSpPr>
      <p:grpSpPr>
        <a:xfrm>
          <a:off x="0" y="0"/>
          <a:ext cx="0" cy="0"/>
          <a:chOff x="0" y="0"/>
          <a:chExt cx="0" cy="0"/>
        </a:xfrm>
      </p:grpSpPr>
      <p:sp>
        <p:nvSpPr>
          <p:cNvPr id="9" name="Ορθογώνιο: Στρογγύλεμα διαγώνιων γωνιών 8">
            <a:extLst>
              <a:ext uri="{FF2B5EF4-FFF2-40B4-BE49-F238E27FC236}">
                <a16:creationId xmlns:a16="http://schemas.microsoft.com/office/drawing/2014/main" id="{6E410B3D-B715-E9CF-5559-0072B0338AC0}"/>
              </a:ext>
            </a:extLst>
          </p:cNvPr>
          <p:cNvSpPr/>
          <p:nvPr/>
        </p:nvSpPr>
        <p:spPr>
          <a:xfrm>
            <a:off x="317670" y="68424"/>
            <a:ext cx="11196786" cy="707886"/>
          </a:xfrm>
          <a:prstGeom prst="round2Diag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t>Acoustic Source Localization</a:t>
            </a:r>
            <a:endParaRPr lang="el-GR" sz="3200" b="1" dirty="0"/>
          </a:p>
        </p:txBody>
      </p:sp>
      <p:pic>
        <p:nvPicPr>
          <p:cNvPr id="13" name="Εικόνα 12">
            <a:extLst>
              <a:ext uri="{FF2B5EF4-FFF2-40B4-BE49-F238E27FC236}">
                <a16:creationId xmlns:a16="http://schemas.microsoft.com/office/drawing/2014/main" id="{6EEE3854-7603-FEA3-F256-5E1AA0DC3422}"/>
              </a:ext>
            </a:extLst>
          </p:cNvPr>
          <p:cNvPicPr>
            <a:picLocks noChangeAspect="1"/>
          </p:cNvPicPr>
          <p:nvPr/>
        </p:nvPicPr>
        <p:blipFill>
          <a:blip r:embed="rId2"/>
          <a:stretch>
            <a:fillRect/>
          </a:stretch>
        </p:blipFill>
        <p:spPr>
          <a:xfrm>
            <a:off x="5916063" y="2579356"/>
            <a:ext cx="2877233" cy="2116585"/>
          </a:xfrm>
          <a:prstGeom prst="rect">
            <a:avLst/>
          </a:prstGeom>
        </p:spPr>
      </p:pic>
      <p:sp>
        <p:nvSpPr>
          <p:cNvPr id="14" name="TextBox 13">
            <a:extLst>
              <a:ext uri="{FF2B5EF4-FFF2-40B4-BE49-F238E27FC236}">
                <a16:creationId xmlns:a16="http://schemas.microsoft.com/office/drawing/2014/main" id="{AF501915-BC56-C78D-0794-2941F44D79E1}"/>
              </a:ext>
            </a:extLst>
          </p:cNvPr>
          <p:cNvSpPr txBox="1"/>
          <p:nvPr/>
        </p:nvSpPr>
        <p:spPr>
          <a:xfrm>
            <a:off x="3201736" y="851439"/>
            <a:ext cx="4734962" cy="923330"/>
          </a:xfrm>
          <a:prstGeom prst="rect">
            <a:avLst/>
          </a:prstGeom>
          <a:noFill/>
        </p:spPr>
        <p:txBody>
          <a:bodyPr wrap="square" rtlCol="0">
            <a:spAutoFit/>
          </a:bodyPr>
          <a:lstStyle/>
          <a:p>
            <a:pPr marL="285750" indent="-285750" algn="ctr">
              <a:buClr>
                <a:schemeClr val="accent1"/>
              </a:buClr>
              <a:buFont typeface="Wingdings" panose="05000000000000000000" pitchFamily="2" charset="2"/>
              <a:buChar char="Ø"/>
            </a:pPr>
            <a:r>
              <a:rPr lang="en-US" b="1" u="sng" dirty="0"/>
              <a:t>Source-Specific Spatial Analysis</a:t>
            </a:r>
          </a:p>
          <a:p>
            <a:pPr algn="ctr">
              <a:buClr>
                <a:schemeClr val="accent1"/>
              </a:buClr>
            </a:pPr>
            <a:endParaRPr lang="en-US" b="1" u="sng" dirty="0"/>
          </a:p>
          <a:p>
            <a:pPr marL="342900" indent="-342900">
              <a:buClr>
                <a:schemeClr val="accent1"/>
              </a:buClr>
              <a:buAutoNum type="arabicPeriod"/>
            </a:pPr>
            <a:endParaRPr lang="pt-BR" dirty="0"/>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3B98EB52-E561-AF66-79E1-B5ECA0B536AA}"/>
                  </a:ext>
                </a:extLst>
              </p:cNvPr>
              <p:cNvSpPr txBox="1"/>
              <p:nvPr/>
            </p:nvSpPr>
            <p:spPr>
              <a:xfrm>
                <a:off x="238546" y="2105479"/>
                <a:ext cx="4909336" cy="2707088"/>
              </a:xfrm>
              <a:prstGeom prst="rect">
                <a:avLst/>
              </a:prstGeom>
              <a:noFill/>
            </p:spPr>
            <p:txBody>
              <a:bodyPr wrap="square">
                <a:spAutoFit/>
              </a:bodyPr>
              <a:lstStyle/>
              <a:p>
                <a:pPr marL="342900" indent="-342900">
                  <a:buClr>
                    <a:schemeClr val="accent1"/>
                  </a:buClr>
                  <a:buFont typeface="+mj-lt"/>
                  <a:buAutoNum type="arabicPeriod"/>
                </a:pPr>
                <a:r>
                  <a:rPr lang="en-US" sz="1800" b="0" dirty="0"/>
                  <a:t> </a:t>
                </a:r>
                <a14:m>
                  <m:oMath xmlns:m="http://schemas.openxmlformats.org/officeDocument/2006/math">
                    <m:r>
                      <a:rPr lang="en-US" sz="1800" b="0" i="1" smtClean="0">
                        <a:latin typeface="Cambria Math" panose="02040503050406030204" pitchFamily="18" charset="0"/>
                      </a:rPr>
                      <m:t>𝐴</m:t>
                    </m:r>
                    <m:r>
                      <a:rPr lang="en-US" sz="1800" b="0" i="1" smtClean="0">
                        <a:latin typeface="Cambria Math" panose="02040503050406030204" pitchFamily="18" charset="0"/>
                      </a:rPr>
                      <m:t>=</m:t>
                    </m:r>
                    <m:sSup>
                      <m:sSupPr>
                        <m:ctrlPr>
                          <a:rPr lang="en-US" sz="1800" b="0" i="1" smtClean="0">
                            <a:latin typeface="Cambria Math" panose="02040503050406030204" pitchFamily="18" charset="0"/>
                          </a:rPr>
                        </m:ctrlPr>
                      </m:sSupPr>
                      <m:e>
                        <m:r>
                          <a:rPr lang="en-US" sz="1800" b="0" i="1" smtClean="0">
                            <a:latin typeface="Cambria Math" panose="02040503050406030204" pitchFamily="18" charset="0"/>
                          </a:rPr>
                          <m:t>𝑊</m:t>
                        </m:r>
                      </m:e>
                      <m:sup>
                        <m:r>
                          <a:rPr lang="en-US" sz="1800" b="0" i="1" smtClean="0">
                            <a:latin typeface="Cambria Math" panose="02040503050406030204" pitchFamily="18" charset="0"/>
                          </a:rPr>
                          <m:t>−1</m:t>
                        </m:r>
                      </m:sup>
                    </m:sSup>
                  </m:oMath>
                </a14:m>
                <a:endParaRPr lang="en-US" sz="1800" b="0" dirty="0"/>
              </a:p>
              <a:p>
                <a:pPr marL="342900" indent="-342900">
                  <a:buClr>
                    <a:schemeClr val="accent1"/>
                  </a:buClr>
                  <a:buFont typeface="+mj-lt"/>
                  <a:buAutoNum type="arabicPeriod"/>
                </a:pPr>
                <a14:m>
                  <m:oMath xmlns:m="http://schemas.openxmlformats.org/officeDocument/2006/math">
                    <m:r>
                      <a:rPr lang="en-US" sz="1800" b="0" i="1" smtClean="0">
                        <a:latin typeface="Cambria Math" panose="02040503050406030204" pitchFamily="18" charset="0"/>
                      </a:rPr>
                      <m:t>𝐴</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𝑘</m:t>
                        </m:r>
                      </m:e>
                    </m:d>
                    <m:r>
                      <a:rPr lang="en-US" sz="1800" b="0" i="1" smtClean="0">
                        <a:latin typeface="Cambria Math" panose="02040503050406030204" pitchFamily="18" charset="0"/>
                      </a:rPr>
                      <m:t>=</m:t>
                    </m:r>
                    <m:sSup>
                      <m:sSupPr>
                        <m:ctrlPr>
                          <a:rPr lang="en-US" sz="1800" b="0" i="1" smtClean="0">
                            <a:latin typeface="Cambria Math" panose="02040503050406030204" pitchFamily="18" charset="0"/>
                          </a:rPr>
                        </m:ctrlPr>
                      </m:sSupPr>
                      <m:e>
                        <m:d>
                          <m:dPr>
                            <m:begChr m:val="["/>
                            <m:endChr m:val="]"/>
                            <m:ctrlPr>
                              <a:rPr lang="en-US" sz="1800" b="0" i="1" smtClean="0">
                                <a:latin typeface="Cambria Math" panose="02040503050406030204" pitchFamily="18" charset="0"/>
                              </a:rPr>
                            </m:ctrlPr>
                          </m:d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𝑎</m:t>
                                </m:r>
                              </m:e>
                              <m:sub>
                                <m:r>
                                  <a:rPr lang="en-US" sz="1800" b="0" i="1" smtClean="0">
                                    <a:latin typeface="Cambria Math" panose="02040503050406030204" pitchFamily="18" charset="0"/>
                                  </a:rPr>
                                  <m:t>1</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𝑘</m:t>
                                </m:r>
                              </m:e>
                            </m:d>
                            <m:r>
                              <a:rPr lang="en-US" sz="1800" b="0" i="1" smtClean="0">
                                <a:latin typeface="Cambria Math" panose="02040503050406030204" pitchFamily="18" charset="0"/>
                              </a:rPr>
                              <m:t>, </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𝑎</m:t>
                                </m:r>
                              </m:e>
                              <m:sub>
                                <m:r>
                                  <a:rPr lang="en-US" sz="1800" b="0" i="1" smtClean="0">
                                    <a:latin typeface="Cambria Math" panose="02040503050406030204" pitchFamily="18" charset="0"/>
                                  </a:rPr>
                                  <m:t>2</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𝑘</m:t>
                                </m:r>
                              </m:e>
                            </m:d>
                            <m:r>
                              <a:rPr lang="en-US" sz="1800" b="0" i="1" smtClean="0">
                                <a:latin typeface="Cambria Math" panose="02040503050406030204" pitchFamily="18" charset="0"/>
                              </a:rPr>
                              <m:t>, </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𝑎</m:t>
                                </m:r>
                              </m:e>
                              <m:sub>
                                <m:r>
                                  <a:rPr lang="en-US" sz="1800" b="0" i="1" smtClean="0">
                                    <a:latin typeface="Cambria Math" panose="02040503050406030204" pitchFamily="18" charset="0"/>
                                  </a:rPr>
                                  <m:t>3</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𝑘</m:t>
                                </m:r>
                              </m:e>
                            </m:d>
                            <m:r>
                              <a:rPr lang="en-US" sz="1800" b="0" i="1" smtClean="0">
                                <a:latin typeface="Cambria Math" panose="02040503050406030204" pitchFamily="18" charset="0"/>
                              </a:rPr>
                              <m:t>, </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𝑎</m:t>
                                </m:r>
                              </m:e>
                              <m:sub>
                                <m:r>
                                  <a:rPr lang="en-US" sz="1800" b="0" i="1" smtClean="0">
                                    <a:latin typeface="Cambria Math" panose="02040503050406030204" pitchFamily="18" charset="0"/>
                                  </a:rPr>
                                  <m:t>4</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𝑘</m:t>
                                </m:r>
                              </m:e>
                            </m:d>
                          </m:e>
                        </m:d>
                      </m:e>
                      <m:sup>
                        <m:r>
                          <a:rPr lang="en-US" sz="1800" b="0" i="1" smtClean="0">
                            <a:latin typeface="Cambria Math" panose="02040503050406030204" pitchFamily="18" charset="0"/>
                          </a:rPr>
                          <m:t>𝑇</m:t>
                        </m:r>
                      </m:sup>
                    </m:sSup>
                  </m:oMath>
                </a14:m>
                <a:endParaRPr lang="en-US" sz="1800" b="0" dirty="0"/>
              </a:p>
              <a:p>
                <a:pPr marL="342900" indent="-342900">
                  <a:buClr>
                    <a:schemeClr val="accent1"/>
                  </a:buClr>
                  <a:buFont typeface="+mj-lt"/>
                  <a:buAutoNum type="arabicPeriod"/>
                </a:pPr>
                <a:r>
                  <a:rPr lang="en-US" sz="1800" b="0" dirty="0"/>
                  <a:t> </a:t>
                </a:r>
                <a14:m>
                  <m:oMath xmlns:m="http://schemas.openxmlformats.org/officeDocument/2006/math">
                    <m:sSubSup>
                      <m:sSubSupPr>
                        <m:ctrlPr>
                          <a:rPr lang="en-US" sz="1800" b="0" i="1" smtClean="0">
                            <a:latin typeface="Cambria Math" panose="02040503050406030204" pitchFamily="18" charset="0"/>
                          </a:rPr>
                        </m:ctrlPr>
                      </m:sSubSupPr>
                      <m:e>
                        <m:r>
                          <a:rPr lang="en-US" sz="1800" b="0" i="1" smtClean="0">
                            <a:latin typeface="Cambria Math" panose="02040503050406030204" pitchFamily="18" charset="0"/>
                          </a:rPr>
                          <m:t>𝑦</m:t>
                        </m:r>
                      </m:e>
                      <m:sub>
                        <m:r>
                          <a:rPr lang="en-US" sz="1800" b="0" i="1" smtClean="0">
                            <a:latin typeface="Cambria Math" panose="02040503050406030204" pitchFamily="18" charset="0"/>
                          </a:rPr>
                          <m:t>𝑞</m:t>
                        </m:r>
                      </m:sub>
                      <m:sup>
                        <m:r>
                          <a:rPr lang="en-US" sz="1800" b="0" i="1" smtClean="0">
                            <a:latin typeface="Cambria Math" panose="02040503050406030204" pitchFamily="18" charset="0"/>
                          </a:rPr>
                          <m:t>𝑖𝑚𝑔</m:t>
                        </m:r>
                      </m:sup>
                    </m:sSubSup>
                    <m:r>
                      <a:rPr lang="en-US" sz="1800" b="0" i="1" smtClean="0">
                        <a:latin typeface="Cambria Math" panose="02040503050406030204" pitchFamily="18" charset="0"/>
                      </a:rPr>
                      <m:t>(</m:t>
                    </m:r>
                    <m:r>
                      <a:rPr lang="en-US" sz="1800" b="0" i="1" smtClean="0">
                        <a:latin typeface="Cambria Math" panose="02040503050406030204" pitchFamily="18" charset="0"/>
                      </a:rPr>
                      <m:t>𝑘</m:t>
                    </m:r>
                    <m:r>
                      <a:rPr lang="en-US" sz="1800" b="0" i="1" smtClean="0">
                        <a:latin typeface="Cambria Math" panose="02040503050406030204" pitchFamily="18" charset="0"/>
                      </a:rPr>
                      <m:t>,</m:t>
                    </m:r>
                    <m:r>
                      <a:rPr lang="en-US" sz="1800" b="0" i="1" smtClean="0">
                        <a:latin typeface="Cambria Math" panose="02040503050406030204" pitchFamily="18" charset="0"/>
                      </a:rPr>
                      <m:t>𝑛</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𝑎</m:t>
                        </m:r>
                      </m:e>
                      <m:sub>
                        <m:r>
                          <a:rPr lang="en-US" sz="1800" b="0" i="1" smtClean="0">
                            <a:latin typeface="Cambria Math" panose="02040503050406030204" pitchFamily="18" charset="0"/>
                          </a:rPr>
                          <m:t>𝑞</m:t>
                        </m:r>
                      </m:sub>
                    </m:sSub>
                    <m:r>
                      <a:rPr lang="en-US" sz="1800" b="0" i="1" smtClean="0">
                        <a:latin typeface="Cambria Math" panose="02040503050406030204" pitchFamily="18" charset="0"/>
                      </a:rPr>
                      <m:t>(</m:t>
                    </m:r>
                    <m:r>
                      <a:rPr lang="en-US" sz="1800" b="0" i="1" smtClean="0">
                        <a:latin typeface="Cambria Math" panose="02040503050406030204" pitchFamily="18" charset="0"/>
                      </a:rPr>
                      <m:t>𝑘</m:t>
                    </m:r>
                    <m:r>
                      <a:rPr lang="en-US" sz="1800" b="0" i="1" smtClean="0">
                        <a:latin typeface="Cambria Math" panose="02040503050406030204" pitchFamily="18" charset="0"/>
                      </a:rPr>
                      <m:t>) </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𝑦</m:t>
                        </m:r>
                      </m:e>
                      <m:sub>
                        <m:r>
                          <a:rPr lang="en-US" sz="1800" b="0" i="1" smtClean="0">
                            <a:latin typeface="Cambria Math" panose="02040503050406030204" pitchFamily="18" charset="0"/>
                          </a:rPr>
                          <m:t>𝑞</m:t>
                        </m:r>
                      </m:sub>
                    </m:sSub>
                    <m:r>
                      <a:rPr lang="en-US" sz="1800" b="0" i="1" smtClean="0">
                        <a:latin typeface="Cambria Math" panose="02040503050406030204" pitchFamily="18" charset="0"/>
                      </a:rPr>
                      <m:t>(</m:t>
                    </m:r>
                    <m:r>
                      <a:rPr lang="en-US" sz="1800" b="0" i="1" smtClean="0">
                        <a:latin typeface="Cambria Math" panose="02040503050406030204" pitchFamily="18" charset="0"/>
                      </a:rPr>
                      <m:t>𝑘</m:t>
                    </m:r>
                    <m:r>
                      <a:rPr lang="en-US" sz="1800" b="0" i="1" smtClean="0">
                        <a:latin typeface="Cambria Math" panose="02040503050406030204" pitchFamily="18" charset="0"/>
                      </a:rPr>
                      <m:t>,</m:t>
                    </m:r>
                    <m:r>
                      <a:rPr lang="en-US" sz="1800" b="0" i="1" smtClean="0">
                        <a:latin typeface="Cambria Math" panose="02040503050406030204" pitchFamily="18" charset="0"/>
                      </a:rPr>
                      <m:t>𝑛</m:t>
                    </m:r>
                    <m:r>
                      <a:rPr lang="en-US" sz="1800" b="0" i="1" smtClean="0">
                        <a:latin typeface="Cambria Math" panose="02040503050406030204" pitchFamily="18" charset="0"/>
                      </a:rPr>
                      <m:t>)</m:t>
                    </m:r>
                  </m:oMath>
                </a14:m>
                <a:endParaRPr lang="en-US" sz="1800" b="0" dirty="0"/>
              </a:p>
              <a:p>
                <a:pPr marL="342900" indent="-342900">
                  <a:buClr>
                    <a:schemeClr val="accent1"/>
                  </a:buClr>
                  <a:buFont typeface="+mj-lt"/>
                  <a:buAutoNum type="arabicPeriod"/>
                </a:pPr>
                <a14:m>
                  <m:oMath xmlns:m="http://schemas.openxmlformats.org/officeDocument/2006/math">
                    <m:sSub>
                      <m:sSubPr>
                        <m:ctrlPr>
                          <a:rPr lang="en-US" sz="1800" b="1" i="1" smtClean="0">
                            <a:latin typeface="Cambria Math" panose="02040503050406030204" pitchFamily="18" charset="0"/>
                          </a:rPr>
                        </m:ctrlPr>
                      </m:sSubPr>
                      <m:e>
                        <m:r>
                          <a:rPr lang="en-US" sz="1800" b="1" i="1" smtClean="0">
                            <a:latin typeface="Cambria Math" panose="02040503050406030204" pitchFamily="18" charset="0"/>
                          </a:rPr>
                          <m:t>𝑹</m:t>
                        </m:r>
                      </m:e>
                      <m:sub>
                        <m:r>
                          <a:rPr lang="en-US" sz="1800" b="1" i="1" smtClean="0">
                            <a:latin typeface="Cambria Math" panose="02040503050406030204" pitchFamily="18" charset="0"/>
                          </a:rPr>
                          <m:t>𝒒</m:t>
                        </m:r>
                      </m:sub>
                    </m:sSub>
                    <m:r>
                      <a:rPr lang="en-US" sz="1800" b="1" i="1" smtClean="0">
                        <a:latin typeface="Cambria Math" panose="02040503050406030204" pitchFamily="18" charset="0"/>
                      </a:rPr>
                      <m:t>(</m:t>
                    </m:r>
                    <m:r>
                      <a:rPr lang="en-US" sz="1800" b="1" i="1" smtClean="0">
                        <a:latin typeface="Cambria Math" panose="02040503050406030204" pitchFamily="18" charset="0"/>
                      </a:rPr>
                      <m:t>𝒌</m:t>
                    </m:r>
                    <m:r>
                      <a:rPr lang="en-US" sz="1800" b="1" i="1" smtClean="0">
                        <a:latin typeface="Cambria Math" panose="02040503050406030204" pitchFamily="18" charset="0"/>
                      </a:rPr>
                      <m:t>)=</m:t>
                    </m:r>
                    <m:f>
                      <m:fPr>
                        <m:ctrlPr>
                          <a:rPr lang="en-US" sz="1800" b="1" i="1" smtClean="0">
                            <a:latin typeface="Cambria Math" panose="02040503050406030204" pitchFamily="18" charset="0"/>
                          </a:rPr>
                        </m:ctrlPr>
                      </m:fPr>
                      <m:num>
                        <m:r>
                          <a:rPr lang="en-US" sz="1800" b="1" i="1" smtClean="0">
                            <a:latin typeface="Cambria Math" panose="02040503050406030204" pitchFamily="18" charset="0"/>
                          </a:rPr>
                          <m:t>𝟏</m:t>
                        </m:r>
                      </m:num>
                      <m:den>
                        <m:r>
                          <a:rPr lang="en-US" sz="1800" b="1" i="1" smtClean="0">
                            <a:latin typeface="Cambria Math" panose="02040503050406030204" pitchFamily="18" charset="0"/>
                          </a:rPr>
                          <m:t>𝑵</m:t>
                        </m:r>
                      </m:den>
                    </m:f>
                    <m:r>
                      <a:rPr lang="en-US" sz="1800" b="1" i="1" smtClean="0">
                        <a:latin typeface="Cambria Math" panose="02040503050406030204" pitchFamily="18" charset="0"/>
                      </a:rPr>
                      <m:t> </m:t>
                    </m:r>
                    <m:nary>
                      <m:naryPr>
                        <m:chr m:val="∑"/>
                        <m:ctrlPr>
                          <a:rPr lang="en-US" sz="1800" b="1" i="1" smtClean="0">
                            <a:latin typeface="Cambria Math" panose="02040503050406030204" pitchFamily="18" charset="0"/>
                          </a:rPr>
                        </m:ctrlPr>
                      </m:naryPr>
                      <m:sub>
                        <m:r>
                          <a:rPr lang="en-US" sz="1800" b="1" i="1" smtClean="0">
                            <a:latin typeface="Cambria Math" panose="02040503050406030204" pitchFamily="18" charset="0"/>
                          </a:rPr>
                          <m:t>𝒏</m:t>
                        </m:r>
                        <m:r>
                          <a:rPr lang="en-US" sz="1800" b="1" i="1" smtClean="0">
                            <a:latin typeface="Cambria Math" panose="02040503050406030204" pitchFamily="18" charset="0"/>
                          </a:rPr>
                          <m:t>=</m:t>
                        </m:r>
                        <m:r>
                          <a:rPr lang="en-US" sz="1800" b="1" i="1" smtClean="0">
                            <a:latin typeface="Cambria Math" panose="02040503050406030204" pitchFamily="18" charset="0"/>
                          </a:rPr>
                          <m:t>𝟏</m:t>
                        </m:r>
                      </m:sub>
                      <m:sup>
                        <m:r>
                          <a:rPr lang="en-US" sz="1800" b="1" i="1" smtClean="0">
                            <a:latin typeface="Cambria Math" panose="02040503050406030204" pitchFamily="18" charset="0"/>
                          </a:rPr>
                          <m:t>𝑵</m:t>
                        </m:r>
                      </m:sup>
                      <m:e>
                        <m:sSubSup>
                          <m:sSubSupPr>
                            <m:ctrlPr>
                              <a:rPr lang="en-US" sz="1800" b="1" i="1" smtClean="0">
                                <a:latin typeface="Cambria Math" panose="02040503050406030204" pitchFamily="18" charset="0"/>
                              </a:rPr>
                            </m:ctrlPr>
                          </m:sSubSupPr>
                          <m:e>
                            <m:r>
                              <a:rPr lang="en-US" sz="1800" b="1" i="1" smtClean="0">
                                <a:latin typeface="Cambria Math" panose="02040503050406030204" pitchFamily="18" charset="0"/>
                              </a:rPr>
                              <m:t>𝒚</m:t>
                            </m:r>
                          </m:e>
                          <m:sub>
                            <m:r>
                              <a:rPr lang="en-US" sz="1800" b="1" i="1" smtClean="0">
                                <a:latin typeface="Cambria Math" panose="02040503050406030204" pitchFamily="18" charset="0"/>
                              </a:rPr>
                              <m:t>𝒒</m:t>
                            </m:r>
                          </m:sub>
                          <m:sup>
                            <m:r>
                              <a:rPr lang="en-US" sz="1800" b="1" i="1" smtClean="0">
                                <a:latin typeface="Cambria Math" panose="02040503050406030204" pitchFamily="18" charset="0"/>
                              </a:rPr>
                              <m:t>𝒊𝒎𝒈</m:t>
                            </m:r>
                          </m:sup>
                        </m:sSubSup>
                        <m:d>
                          <m:dPr>
                            <m:ctrlPr>
                              <a:rPr lang="en-US" sz="1800" b="1" i="1" smtClean="0">
                                <a:latin typeface="Cambria Math" panose="02040503050406030204" pitchFamily="18" charset="0"/>
                              </a:rPr>
                            </m:ctrlPr>
                          </m:dPr>
                          <m:e>
                            <m:r>
                              <a:rPr lang="en-US" sz="1800" b="1" i="1" smtClean="0">
                                <a:latin typeface="Cambria Math" panose="02040503050406030204" pitchFamily="18" charset="0"/>
                              </a:rPr>
                              <m:t>𝒌</m:t>
                            </m:r>
                            <m:r>
                              <a:rPr lang="en-US" sz="1800" b="1" i="1" smtClean="0">
                                <a:latin typeface="Cambria Math" panose="02040503050406030204" pitchFamily="18" charset="0"/>
                              </a:rPr>
                              <m:t>,</m:t>
                            </m:r>
                            <m:r>
                              <a:rPr lang="en-US" sz="1800" b="1" i="1" smtClean="0">
                                <a:latin typeface="Cambria Math" panose="02040503050406030204" pitchFamily="18" charset="0"/>
                              </a:rPr>
                              <m:t>𝒏</m:t>
                            </m:r>
                          </m:e>
                        </m:d>
                        <m:sSup>
                          <m:sSupPr>
                            <m:ctrlPr>
                              <a:rPr lang="en-US" sz="1800" b="1" i="1" smtClean="0">
                                <a:latin typeface="Cambria Math" panose="02040503050406030204" pitchFamily="18" charset="0"/>
                              </a:rPr>
                            </m:ctrlPr>
                          </m:sSupPr>
                          <m:e>
                            <m:sSubSup>
                              <m:sSubSupPr>
                                <m:ctrlPr>
                                  <a:rPr lang="en-US" sz="1800" b="1" i="1" smtClean="0">
                                    <a:latin typeface="Cambria Math" panose="02040503050406030204" pitchFamily="18" charset="0"/>
                                  </a:rPr>
                                </m:ctrlPr>
                              </m:sSubSupPr>
                              <m:e>
                                <m:r>
                                  <a:rPr lang="en-US" sz="1800" b="1" i="1" smtClean="0">
                                    <a:latin typeface="Cambria Math" panose="02040503050406030204" pitchFamily="18" charset="0"/>
                                  </a:rPr>
                                  <m:t>𝒚</m:t>
                                </m:r>
                              </m:e>
                              <m:sub>
                                <m:r>
                                  <a:rPr lang="en-US" sz="1800" b="1" i="1" smtClean="0">
                                    <a:latin typeface="Cambria Math" panose="02040503050406030204" pitchFamily="18" charset="0"/>
                                  </a:rPr>
                                  <m:t>𝒒</m:t>
                                </m:r>
                              </m:sub>
                              <m:sup>
                                <m:r>
                                  <a:rPr lang="en-US" sz="1800" b="1" i="1" smtClean="0">
                                    <a:latin typeface="Cambria Math" panose="02040503050406030204" pitchFamily="18" charset="0"/>
                                  </a:rPr>
                                  <m:t>𝒊𝒎𝒈</m:t>
                                </m:r>
                              </m:sup>
                            </m:sSubSup>
                          </m:e>
                          <m:sup>
                            <m:r>
                              <a:rPr lang="en-US" sz="1800" b="1" i="1" smtClean="0">
                                <a:latin typeface="Cambria Math" panose="02040503050406030204" pitchFamily="18" charset="0"/>
                              </a:rPr>
                              <m:t>𝑯</m:t>
                            </m:r>
                          </m:sup>
                        </m:sSup>
                        <m:d>
                          <m:dPr>
                            <m:ctrlPr>
                              <a:rPr lang="en-US" sz="1800" b="1" i="1" smtClean="0">
                                <a:latin typeface="Cambria Math" panose="02040503050406030204" pitchFamily="18" charset="0"/>
                              </a:rPr>
                            </m:ctrlPr>
                          </m:dPr>
                          <m:e>
                            <m:r>
                              <a:rPr lang="en-US" sz="1800" b="1" i="1" smtClean="0">
                                <a:latin typeface="Cambria Math" panose="02040503050406030204" pitchFamily="18" charset="0"/>
                              </a:rPr>
                              <m:t>𝒌</m:t>
                            </m:r>
                            <m:r>
                              <a:rPr lang="en-US" sz="1800" b="1" i="1" smtClean="0">
                                <a:latin typeface="Cambria Math" panose="02040503050406030204" pitchFamily="18" charset="0"/>
                              </a:rPr>
                              <m:t>,</m:t>
                            </m:r>
                            <m:r>
                              <a:rPr lang="en-US" sz="1800" b="1" i="1" smtClean="0">
                                <a:latin typeface="Cambria Math" panose="02040503050406030204" pitchFamily="18" charset="0"/>
                              </a:rPr>
                              <m:t>𝒏</m:t>
                            </m:r>
                          </m:e>
                        </m:d>
                      </m:e>
                    </m:nary>
                  </m:oMath>
                </a14:m>
                <a:endParaRPr lang="en-US" sz="1800" b="1" dirty="0"/>
              </a:p>
              <a:p>
                <a:pPr marL="342900" indent="-342900">
                  <a:buClr>
                    <a:schemeClr val="accent1"/>
                  </a:buClr>
                  <a:buFont typeface="+mj-lt"/>
                  <a:buAutoNum type="arabicPeriod"/>
                </a:pPr>
                <a14:m>
                  <m:oMath xmlns:m="http://schemas.openxmlformats.org/officeDocument/2006/math">
                    <m:sSub>
                      <m:sSubPr>
                        <m:ctrlPr>
                          <a:rPr lang="en-US" sz="1800" b="1" i="1" smtClean="0">
                            <a:latin typeface="Cambria Math" panose="02040503050406030204" pitchFamily="18" charset="0"/>
                          </a:rPr>
                        </m:ctrlPr>
                      </m:sSubPr>
                      <m:e>
                        <m:r>
                          <a:rPr lang="en-US" sz="1800" b="1" i="1" smtClean="0">
                            <a:latin typeface="Cambria Math" panose="02040503050406030204" pitchFamily="18" charset="0"/>
                          </a:rPr>
                          <m:t>𝑬</m:t>
                        </m:r>
                      </m:e>
                      <m:sub>
                        <m:r>
                          <a:rPr lang="en-US" sz="1800" b="1" i="1" smtClean="0">
                            <a:latin typeface="Cambria Math" panose="02040503050406030204" pitchFamily="18" charset="0"/>
                          </a:rPr>
                          <m:t>𝒒𝒎</m:t>
                        </m:r>
                      </m:sub>
                    </m:sSub>
                    <m:r>
                      <a:rPr lang="en-US" sz="1800" b="1" i="1" smtClean="0">
                        <a:latin typeface="Cambria Math" panose="02040503050406030204" pitchFamily="18" charset="0"/>
                      </a:rPr>
                      <m:t>=</m:t>
                    </m:r>
                    <m:f>
                      <m:fPr>
                        <m:ctrlPr>
                          <a:rPr lang="en-US" sz="1800" b="1" i="1" smtClean="0">
                            <a:latin typeface="Cambria Math" panose="02040503050406030204" pitchFamily="18" charset="0"/>
                          </a:rPr>
                        </m:ctrlPr>
                      </m:fPr>
                      <m:num>
                        <m:r>
                          <a:rPr lang="en-US" sz="1800" b="1" i="1" smtClean="0">
                            <a:latin typeface="Cambria Math" panose="02040503050406030204" pitchFamily="18" charset="0"/>
                          </a:rPr>
                          <m:t>𝟏</m:t>
                        </m:r>
                      </m:num>
                      <m:den>
                        <m:r>
                          <a:rPr lang="en-US" sz="1800" b="1" i="1" smtClean="0">
                            <a:latin typeface="Cambria Math" panose="02040503050406030204" pitchFamily="18" charset="0"/>
                          </a:rPr>
                          <m:t>𝑲</m:t>
                        </m:r>
                      </m:den>
                    </m:f>
                    <m:r>
                      <a:rPr lang="en-US" sz="1800" b="1" i="1" smtClean="0">
                        <a:latin typeface="Cambria Math" panose="02040503050406030204" pitchFamily="18" charset="0"/>
                      </a:rPr>
                      <m:t> </m:t>
                    </m:r>
                    <m:nary>
                      <m:naryPr>
                        <m:chr m:val="∑"/>
                        <m:ctrlPr>
                          <a:rPr lang="en-US" sz="1800" b="1" i="1" smtClean="0">
                            <a:latin typeface="Cambria Math" panose="02040503050406030204" pitchFamily="18" charset="0"/>
                          </a:rPr>
                        </m:ctrlPr>
                      </m:naryPr>
                      <m:sub>
                        <m:r>
                          <a:rPr lang="en-US" sz="1800" b="1" i="1" smtClean="0">
                            <a:latin typeface="Cambria Math" panose="02040503050406030204" pitchFamily="18" charset="0"/>
                          </a:rPr>
                          <m:t>𝒌</m:t>
                        </m:r>
                        <m:r>
                          <a:rPr lang="en-US" sz="1800" b="1" i="1" smtClean="0">
                            <a:latin typeface="Cambria Math" panose="02040503050406030204" pitchFamily="18" charset="0"/>
                          </a:rPr>
                          <m:t>=</m:t>
                        </m:r>
                        <m:r>
                          <a:rPr lang="en-US" sz="1800" b="1" i="1" smtClean="0">
                            <a:latin typeface="Cambria Math" panose="02040503050406030204" pitchFamily="18" charset="0"/>
                          </a:rPr>
                          <m:t>𝟏</m:t>
                        </m:r>
                      </m:sub>
                      <m:sup>
                        <m:r>
                          <a:rPr lang="en-US" sz="1800" b="1" i="1" smtClean="0">
                            <a:latin typeface="Cambria Math" panose="02040503050406030204" pitchFamily="18" charset="0"/>
                          </a:rPr>
                          <m:t>𝑲</m:t>
                        </m:r>
                      </m:sup>
                      <m:e>
                        <m:sSub>
                          <m:sSubPr>
                            <m:ctrlPr>
                              <a:rPr lang="en-US" sz="1800" b="1" i="1" smtClean="0">
                                <a:latin typeface="Cambria Math" panose="02040503050406030204" pitchFamily="18" charset="0"/>
                              </a:rPr>
                            </m:ctrlPr>
                          </m:sSubPr>
                          <m:e>
                            <m:r>
                              <a:rPr lang="en-US" sz="1800" b="1" i="1" smtClean="0">
                                <a:latin typeface="Cambria Math" panose="02040503050406030204" pitchFamily="18" charset="0"/>
                              </a:rPr>
                              <m:t>𝑹</m:t>
                            </m:r>
                          </m:e>
                          <m:sub>
                            <m:r>
                              <a:rPr lang="en-US" sz="1800" b="1" i="1" smtClean="0">
                                <a:latin typeface="Cambria Math" panose="02040503050406030204" pitchFamily="18" charset="0"/>
                              </a:rPr>
                              <m:t>𝒒</m:t>
                            </m:r>
                          </m:sub>
                        </m:sSub>
                        <m:sSub>
                          <m:sSubPr>
                            <m:ctrlPr>
                              <a:rPr lang="en-US" sz="1800" b="1" i="1" smtClean="0">
                                <a:latin typeface="Cambria Math" panose="02040503050406030204" pitchFamily="18" charset="0"/>
                              </a:rPr>
                            </m:ctrlPr>
                          </m:sSubPr>
                          <m:e>
                            <m:d>
                              <m:dPr>
                                <m:ctrlPr>
                                  <a:rPr lang="en-US" sz="1800" b="1" i="1" smtClean="0">
                                    <a:latin typeface="Cambria Math" panose="02040503050406030204" pitchFamily="18" charset="0"/>
                                  </a:rPr>
                                </m:ctrlPr>
                              </m:dPr>
                              <m:e>
                                <m:r>
                                  <a:rPr lang="en-US" sz="1800" b="1" i="1" smtClean="0">
                                    <a:latin typeface="Cambria Math" panose="02040503050406030204" pitchFamily="18" charset="0"/>
                                  </a:rPr>
                                  <m:t>𝒌</m:t>
                                </m:r>
                              </m:e>
                            </m:d>
                          </m:e>
                          <m:sub>
                            <m:r>
                              <a:rPr lang="en-US" sz="1800" b="1" i="1" smtClean="0">
                                <a:latin typeface="Cambria Math" panose="02040503050406030204" pitchFamily="18" charset="0"/>
                              </a:rPr>
                              <m:t>𝒎𝒎</m:t>
                            </m:r>
                          </m:sub>
                        </m:sSub>
                      </m:e>
                    </m:nary>
                  </m:oMath>
                </a14:m>
                <a:endParaRPr lang="en-US" sz="1800" b="1" dirty="0"/>
              </a:p>
              <a:p>
                <a:pPr marL="342900" indent="-342900">
                  <a:buClr>
                    <a:schemeClr val="accent1"/>
                  </a:buClr>
                  <a:buFont typeface="+mj-lt"/>
                  <a:buAutoNum type="arabicPeriod"/>
                </a:pPr>
                <a14:m>
                  <m:oMath xmlns:m="http://schemas.openxmlformats.org/officeDocument/2006/math">
                    <m:sSubSup>
                      <m:sSubSupPr>
                        <m:ctrlPr>
                          <a:rPr lang="en-US" sz="1800" b="1" i="1" smtClean="0">
                            <a:latin typeface="Cambria Math" panose="02040503050406030204" pitchFamily="18" charset="0"/>
                          </a:rPr>
                        </m:ctrlPr>
                      </m:sSubSupPr>
                      <m:e>
                        <m:r>
                          <a:rPr lang="en-US" sz="1800" b="1" i="1" smtClean="0">
                            <a:latin typeface="Cambria Math" panose="02040503050406030204" pitchFamily="18" charset="0"/>
                          </a:rPr>
                          <m:t>𝒎</m:t>
                        </m:r>
                      </m:e>
                      <m:sub>
                        <m:r>
                          <a:rPr lang="en-US" sz="1800" b="1" i="1" smtClean="0">
                            <a:latin typeface="Cambria Math" panose="02040503050406030204" pitchFamily="18" charset="0"/>
                          </a:rPr>
                          <m:t>𝒒</m:t>
                        </m:r>
                      </m:sub>
                      <m:sup>
                        <m:r>
                          <a:rPr lang="en-US" sz="1800" b="1" i="1" smtClean="0">
                            <a:latin typeface="Cambria Math" panose="02040503050406030204" pitchFamily="18" charset="0"/>
                          </a:rPr>
                          <m:t>∗</m:t>
                        </m:r>
                      </m:sup>
                    </m:sSubSup>
                    <m:r>
                      <a:rPr lang="en-US" sz="1800" b="1" i="1" smtClean="0">
                        <a:latin typeface="Cambria Math" panose="02040503050406030204" pitchFamily="18" charset="0"/>
                      </a:rPr>
                      <m:t>=</m:t>
                    </m:r>
                    <m:r>
                      <a:rPr lang="en-US" sz="1800" b="1" i="1" smtClean="0">
                        <a:latin typeface="Cambria Math" panose="02040503050406030204" pitchFamily="18" charset="0"/>
                      </a:rPr>
                      <m:t>𝒂𝒓𝒈𝒎𝒂</m:t>
                    </m:r>
                    <m:sSub>
                      <m:sSubPr>
                        <m:ctrlPr>
                          <a:rPr lang="en-US" sz="1800" b="1" i="1" smtClean="0">
                            <a:latin typeface="Cambria Math" panose="02040503050406030204" pitchFamily="18" charset="0"/>
                          </a:rPr>
                        </m:ctrlPr>
                      </m:sSubPr>
                      <m:e>
                        <m:r>
                          <a:rPr lang="en-US" sz="1800" b="1" i="1" smtClean="0">
                            <a:latin typeface="Cambria Math" panose="02040503050406030204" pitchFamily="18" charset="0"/>
                          </a:rPr>
                          <m:t>𝒙</m:t>
                        </m:r>
                      </m:e>
                      <m:sub>
                        <m:r>
                          <a:rPr lang="en-US" sz="1800" b="1" i="1" smtClean="0">
                            <a:latin typeface="Cambria Math" panose="02040503050406030204" pitchFamily="18" charset="0"/>
                          </a:rPr>
                          <m:t>𝒎</m:t>
                        </m:r>
                      </m:sub>
                    </m:sSub>
                    <m:r>
                      <a:rPr lang="en-US" sz="1800" b="1" i="1" smtClean="0">
                        <a:latin typeface="Cambria Math" panose="02040503050406030204" pitchFamily="18" charset="0"/>
                      </a:rPr>
                      <m:t> </m:t>
                    </m:r>
                    <m:sSub>
                      <m:sSubPr>
                        <m:ctrlPr>
                          <a:rPr lang="en-US" sz="1800" b="1" i="1" smtClean="0">
                            <a:latin typeface="Cambria Math" panose="02040503050406030204" pitchFamily="18" charset="0"/>
                          </a:rPr>
                        </m:ctrlPr>
                      </m:sSubPr>
                      <m:e>
                        <m:r>
                          <a:rPr lang="en-US" sz="1800" b="1" i="1" smtClean="0">
                            <a:latin typeface="Cambria Math" panose="02040503050406030204" pitchFamily="18" charset="0"/>
                          </a:rPr>
                          <m:t>𝑬</m:t>
                        </m:r>
                      </m:e>
                      <m:sub>
                        <m:r>
                          <a:rPr lang="en-US" sz="1800" b="1" i="1" smtClean="0">
                            <a:latin typeface="Cambria Math" panose="02040503050406030204" pitchFamily="18" charset="0"/>
                          </a:rPr>
                          <m:t>𝒒𝒎</m:t>
                        </m:r>
                      </m:sub>
                    </m:sSub>
                  </m:oMath>
                </a14:m>
                <a:endParaRPr lang="en-US" sz="1800" b="1" dirty="0"/>
              </a:p>
              <a:p>
                <a:pPr marL="342900" indent="-342900">
                  <a:buClr>
                    <a:schemeClr val="accent1"/>
                  </a:buClr>
                  <a:buFont typeface="+mj-lt"/>
                  <a:buAutoNum type="arabicPeriod"/>
                </a:pPr>
                <a:endParaRPr lang="en-US" sz="1800" b="0" dirty="0"/>
              </a:p>
              <a:p>
                <a:pPr marL="342900" indent="-342900">
                  <a:buClr>
                    <a:schemeClr val="accent1"/>
                  </a:buClr>
                  <a:buFont typeface="+mj-lt"/>
                  <a:buAutoNum type="arabicPeriod"/>
                </a:pPr>
                <a:endParaRPr lang="el-GR" dirty="0"/>
              </a:p>
            </p:txBody>
          </p:sp>
        </mc:Choice>
        <mc:Fallback xmlns="">
          <p:sp>
            <p:nvSpPr>
              <p:cNvPr id="21" name="TextBox 20">
                <a:extLst>
                  <a:ext uri="{FF2B5EF4-FFF2-40B4-BE49-F238E27FC236}">
                    <a16:creationId xmlns:a16="http://schemas.microsoft.com/office/drawing/2014/main" id="{3B98EB52-E561-AF66-79E1-B5ECA0B536AA}"/>
                  </a:ext>
                </a:extLst>
              </p:cNvPr>
              <p:cNvSpPr txBox="1">
                <a:spLocks noRot="1" noChangeAspect="1" noMove="1" noResize="1" noEditPoints="1" noAdjustHandles="1" noChangeArrowheads="1" noChangeShapeType="1" noTextEdit="1"/>
              </p:cNvSpPr>
              <p:nvPr/>
            </p:nvSpPr>
            <p:spPr>
              <a:xfrm>
                <a:off x="238546" y="2105479"/>
                <a:ext cx="4909336" cy="2707088"/>
              </a:xfrm>
              <a:prstGeom prst="rect">
                <a:avLst/>
              </a:prstGeom>
              <a:blipFill>
                <a:blip r:embed="rId3"/>
                <a:stretch>
                  <a:fillRect l="-1118" t="-1126"/>
                </a:stretch>
              </a:blipFill>
            </p:spPr>
            <p:txBody>
              <a:bodyPr/>
              <a:lstStyle/>
              <a:p>
                <a:r>
                  <a:rPr lang="el-GR">
                    <a:noFill/>
                  </a:rPr>
                  <a:t> </a:t>
                </a:r>
              </a:p>
            </p:txBody>
          </p:sp>
        </mc:Fallback>
      </mc:AlternateContent>
      <p:sp>
        <p:nvSpPr>
          <p:cNvPr id="22" name="Βέλος: Δεξιό 21">
            <a:extLst>
              <a:ext uri="{FF2B5EF4-FFF2-40B4-BE49-F238E27FC236}">
                <a16:creationId xmlns:a16="http://schemas.microsoft.com/office/drawing/2014/main" id="{05416DB1-764B-D6BB-5CF1-F8C555D02305}"/>
              </a:ext>
            </a:extLst>
          </p:cNvPr>
          <p:cNvSpPr/>
          <p:nvPr/>
        </p:nvSpPr>
        <p:spPr>
          <a:xfrm>
            <a:off x="4853993" y="3108265"/>
            <a:ext cx="715224" cy="23749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dirty="0"/>
          </a:p>
        </p:txBody>
      </p:sp>
      <p:pic>
        <p:nvPicPr>
          <p:cNvPr id="26" name="Εικόνα 25">
            <a:extLst>
              <a:ext uri="{FF2B5EF4-FFF2-40B4-BE49-F238E27FC236}">
                <a16:creationId xmlns:a16="http://schemas.microsoft.com/office/drawing/2014/main" id="{66692D00-FAB9-8889-8D7B-E850F887A00E}"/>
              </a:ext>
            </a:extLst>
          </p:cNvPr>
          <p:cNvPicPr>
            <a:picLocks noChangeAspect="1"/>
          </p:cNvPicPr>
          <p:nvPr/>
        </p:nvPicPr>
        <p:blipFill>
          <a:blip r:embed="rId4"/>
          <a:stretch>
            <a:fillRect/>
          </a:stretch>
        </p:blipFill>
        <p:spPr>
          <a:xfrm>
            <a:off x="9172928" y="2580815"/>
            <a:ext cx="2877233" cy="2115126"/>
          </a:xfrm>
          <a:prstGeom prst="rect">
            <a:avLst/>
          </a:prstGeom>
        </p:spPr>
      </p:pic>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C259A4B8-8F6B-7D20-7800-714BC48CAA78}"/>
                  </a:ext>
                </a:extLst>
              </p:cNvPr>
              <p:cNvSpPr txBox="1"/>
              <p:nvPr/>
            </p:nvSpPr>
            <p:spPr>
              <a:xfrm>
                <a:off x="6270397" y="2142194"/>
                <a:ext cx="2522899" cy="338554"/>
              </a:xfrm>
              <a:prstGeom prst="rect">
                <a:avLst/>
              </a:prstGeom>
              <a:noFill/>
            </p:spPr>
            <p:txBody>
              <a:bodyPr wrap="square" rtlCol="0">
                <a:spAutoFit/>
              </a:bodyPr>
              <a:lstStyle/>
              <a:p>
                <a:pPr/>
                <a14:m>
                  <m:oMathPara xmlns:m="http://schemas.openxmlformats.org/officeDocument/2006/math">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𝑦</m:t>
                          </m:r>
                        </m:e>
                        <m:sub>
                          <m:r>
                            <a:rPr lang="en-US" sz="1600" b="0" i="1" smtClean="0">
                              <a:latin typeface="Cambria Math" panose="02040503050406030204" pitchFamily="18" charset="0"/>
                            </a:rPr>
                            <m:t>1</m:t>
                          </m:r>
                        </m:sub>
                      </m:sSub>
                      <m:r>
                        <a:rPr lang="en-US" sz="1600" b="0" i="1" smtClean="0">
                          <a:latin typeface="Cambria Math" panose="02040503050406030204" pitchFamily="18" charset="0"/>
                        </a:rPr>
                        <m:t>→</m:t>
                      </m:r>
                      <m:r>
                        <a:rPr lang="en-US" sz="1600" b="0" i="1" smtClean="0">
                          <a:latin typeface="Cambria Math" panose="02040503050406030204" pitchFamily="18" charset="0"/>
                        </a:rPr>
                        <m:t>𝐵𝑢𝑧𝑧𝑒𝑟</m:t>
                      </m:r>
                    </m:oMath>
                  </m:oMathPara>
                </a14:m>
                <a:endParaRPr lang="el-GR" sz="1600" dirty="0"/>
              </a:p>
            </p:txBody>
          </p:sp>
        </mc:Choice>
        <mc:Fallback xmlns="">
          <p:sp>
            <p:nvSpPr>
              <p:cNvPr id="30" name="TextBox 29">
                <a:extLst>
                  <a:ext uri="{FF2B5EF4-FFF2-40B4-BE49-F238E27FC236}">
                    <a16:creationId xmlns:a16="http://schemas.microsoft.com/office/drawing/2014/main" id="{C259A4B8-8F6B-7D20-7800-714BC48CAA78}"/>
                  </a:ext>
                </a:extLst>
              </p:cNvPr>
              <p:cNvSpPr txBox="1">
                <a:spLocks noRot="1" noChangeAspect="1" noMove="1" noResize="1" noEditPoints="1" noAdjustHandles="1" noChangeArrowheads="1" noChangeShapeType="1" noTextEdit="1"/>
              </p:cNvSpPr>
              <p:nvPr/>
            </p:nvSpPr>
            <p:spPr>
              <a:xfrm>
                <a:off x="6270397" y="2142194"/>
                <a:ext cx="2522899" cy="338554"/>
              </a:xfrm>
              <a:prstGeom prst="rect">
                <a:avLst/>
              </a:prstGeom>
              <a:blipFill>
                <a:blip r:embed="rId5"/>
                <a:stretch>
                  <a:fillRect b="-3571"/>
                </a:stretch>
              </a:blipFill>
            </p:spPr>
            <p:txBody>
              <a:bodyPr/>
              <a:lstStyle/>
              <a:p>
                <a:r>
                  <a:rPr lang="el-GR">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7F2F2810-8E35-83A9-23CF-CCDC37B8A942}"/>
                  </a:ext>
                </a:extLst>
              </p:cNvPr>
              <p:cNvSpPr txBox="1"/>
              <p:nvPr/>
            </p:nvSpPr>
            <p:spPr>
              <a:xfrm>
                <a:off x="9350094" y="2142194"/>
                <a:ext cx="2522899" cy="338554"/>
              </a:xfrm>
              <a:prstGeom prst="rect">
                <a:avLst/>
              </a:prstGeom>
              <a:noFill/>
            </p:spPr>
            <p:txBody>
              <a:bodyPr wrap="square" rtlCol="0">
                <a:spAutoFit/>
              </a:bodyPr>
              <a:lstStyle/>
              <a:p>
                <a:pPr/>
                <a14:m>
                  <m:oMathPara xmlns:m="http://schemas.openxmlformats.org/officeDocument/2006/math">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𝑦</m:t>
                          </m:r>
                        </m:e>
                        <m:sub>
                          <m:r>
                            <a:rPr lang="en-US" sz="1600" b="0" i="1" smtClean="0">
                              <a:latin typeface="Cambria Math" panose="02040503050406030204" pitchFamily="18" charset="0"/>
                            </a:rPr>
                            <m:t>4</m:t>
                          </m:r>
                        </m:sub>
                      </m:sSub>
                      <m:r>
                        <a:rPr lang="en-US" sz="1600" b="0" i="1" smtClean="0">
                          <a:latin typeface="Cambria Math" panose="02040503050406030204" pitchFamily="18" charset="0"/>
                        </a:rPr>
                        <m:t>→</m:t>
                      </m:r>
                      <m:r>
                        <a:rPr lang="en-US" sz="1600" b="0" i="1" smtClean="0">
                          <a:latin typeface="Cambria Math" panose="02040503050406030204" pitchFamily="18" charset="0"/>
                        </a:rPr>
                        <m:t>𝑇𝑦𝑝𝑖𝑛𝑔</m:t>
                      </m:r>
                    </m:oMath>
                  </m:oMathPara>
                </a14:m>
                <a:endParaRPr lang="el-GR" sz="1600" dirty="0"/>
              </a:p>
            </p:txBody>
          </p:sp>
        </mc:Choice>
        <mc:Fallback xmlns="">
          <p:sp>
            <p:nvSpPr>
              <p:cNvPr id="32" name="TextBox 31">
                <a:extLst>
                  <a:ext uri="{FF2B5EF4-FFF2-40B4-BE49-F238E27FC236}">
                    <a16:creationId xmlns:a16="http://schemas.microsoft.com/office/drawing/2014/main" id="{7F2F2810-8E35-83A9-23CF-CCDC37B8A942}"/>
                  </a:ext>
                </a:extLst>
              </p:cNvPr>
              <p:cNvSpPr txBox="1">
                <a:spLocks noRot="1" noChangeAspect="1" noMove="1" noResize="1" noEditPoints="1" noAdjustHandles="1" noChangeArrowheads="1" noChangeShapeType="1" noTextEdit="1"/>
              </p:cNvSpPr>
              <p:nvPr/>
            </p:nvSpPr>
            <p:spPr>
              <a:xfrm>
                <a:off x="9350094" y="2142194"/>
                <a:ext cx="2522899" cy="338554"/>
              </a:xfrm>
              <a:prstGeom prst="rect">
                <a:avLst/>
              </a:prstGeom>
              <a:blipFill>
                <a:blip r:embed="rId6"/>
                <a:stretch>
                  <a:fillRect b="-8929"/>
                </a:stretch>
              </a:blipFill>
            </p:spPr>
            <p:txBody>
              <a:bodyPr/>
              <a:lstStyle/>
              <a:p>
                <a:r>
                  <a:rPr lang="el-GR">
                    <a:noFill/>
                  </a:rPr>
                  <a:t> </a:t>
                </a:r>
              </a:p>
            </p:txBody>
          </p:sp>
        </mc:Fallback>
      </mc:AlternateContent>
      <p:sp>
        <p:nvSpPr>
          <p:cNvPr id="33" name="TextBox 32">
            <a:extLst>
              <a:ext uri="{FF2B5EF4-FFF2-40B4-BE49-F238E27FC236}">
                <a16:creationId xmlns:a16="http://schemas.microsoft.com/office/drawing/2014/main" id="{7B242C55-25EE-3C88-04C7-C86E0B74966F}"/>
              </a:ext>
            </a:extLst>
          </p:cNvPr>
          <p:cNvSpPr txBox="1"/>
          <p:nvPr/>
        </p:nvSpPr>
        <p:spPr>
          <a:xfrm>
            <a:off x="238546" y="1114006"/>
            <a:ext cx="11811615" cy="830997"/>
          </a:xfrm>
          <a:prstGeom prst="rect">
            <a:avLst/>
          </a:prstGeom>
          <a:noFill/>
        </p:spPr>
        <p:txBody>
          <a:bodyPr wrap="square" rtlCol="0">
            <a:spAutoFit/>
          </a:bodyPr>
          <a:lstStyle/>
          <a:p>
            <a:endParaRPr lang="en-US" sz="1600" b="1" dirty="0"/>
          </a:p>
          <a:p>
            <a:r>
              <a:rPr lang="en-US" sz="1600" b="1" dirty="0"/>
              <a:t>Reconstruction of each separated source in the spatial domain and analyze its source-specific covariance to determine how its energy is distributed across the spatial channels.</a:t>
            </a:r>
            <a:endParaRPr lang="el-GR" sz="1600" b="1" dirty="0"/>
          </a:p>
        </p:txBody>
      </p:sp>
    </p:spTree>
    <p:extLst>
      <p:ext uri="{BB962C8B-B14F-4D97-AF65-F5344CB8AC3E}">
        <p14:creationId xmlns:p14="http://schemas.microsoft.com/office/powerpoint/2010/main" val="14894239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73590A-3581-CEA8-E33D-81458B53D39D}"/>
            </a:ext>
          </a:extLst>
        </p:cNvPr>
        <p:cNvGrpSpPr/>
        <p:nvPr/>
      </p:nvGrpSpPr>
      <p:grpSpPr>
        <a:xfrm>
          <a:off x="0" y="0"/>
          <a:ext cx="0" cy="0"/>
          <a:chOff x="0" y="0"/>
          <a:chExt cx="0" cy="0"/>
        </a:xfrm>
      </p:grpSpPr>
      <p:sp>
        <p:nvSpPr>
          <p:cNvPr id="9" name="Ορθογώνιο: Στρογγύλεμα διαγώνιων γωνιών 8">
            <a:extLst>
              <a:ext uri="{FF2B5EF4-FFF2-40B4-BE49-F238E27FC236}">
                <a16:creationId xmlns:a16="http://schemas.microsoft.com/office/drawing/2014/main" id="{FB84550F-6179-A03A-4CE3-0B1F52AE372E}"/>
              </a:ext>
            </a:extLst>
          </p:cNvPr>
          <p:cNvSpPr/>
          <p:nvPr/>
        </p:nvSpPr>
        <p:spPr>
          <a:xfrm>
            <a:off x="317670" y="68424"/>
            <a:ext cx="11196786" cy="707886"/>
          </a:xfrm>
          <a:prstGeom prst="round2Diag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t>Acoustic Source Localization</a:t>
            </a:r>
            <a:endParaRPr lang="el-GR" sz="3200" b="1" dirty="0"/>
          </a:p>
        </p:txBody>
      </p:sp>
      <p:pic>
        <p:nvPicPr>
          <p:cNvPr id="8" name="Εικόνα 7">
            <a:extLst>
              <a:ext uri="{FF2B5EF4-FFF2-40B4-BE49-F238E27FC236}">
                <a16:creationId xmlns:a16="http://schemas.microsoft.com/office/drawing/2014/main" id="{0454A318-7E80-BBF5-A4BB-701FA7ED6597}"/>
              </a:ext>
            </a:extLst>
          </p:cNvPr>
          <p:cNvPicPr>
            <a:picLocks noChangeAspect="1"/>
          </p:cNvPicPr>
          <p:nvPr/>
        </p:nvPicPr>
        <p:blipFill>
          <a:blip r:embed="rId2"/>
          <a:stretch>
            <a:fillRect/>
          </a:stretch>
        </p:blipFill>
        <p:spPr>
          <a:xfrm>
            <a:off x="6716638" y="2827738"/>
            <a:ext cx="5277372" cy="3127993"/>
          </a:xfrm>
          <a:prstGeom prst="rect">
            <a:avLst/>
          </a:prstGeom>
        </p:spPr>
      </p:pic>
      <p:sp>
        <p:nvSpPr>
          <p:cNvPr id="29" name="TextBox 28">
            <a:extLst>
              <a:ext uri="{FF2B5EF4-FFF2-40B4-BE49-F238E27FC236}">
                <a16:creationId xmlns:a16="http://schemas.microsoft.com/office/drawing/2014/main" id="{47FA84F2-86D8-CECD-FA81-82E5271A4CCB}"/>
              </a:ext>
            </a:extLst>
          </p:cNvPr>
          <p:cNvSpPr txBox="1"/>
          <p:nvPr/>
        </p:nvSpPr>
        <p:spPr>
          <a:xfrm>
            <a:off x="3548582" y="932526"/>
            <a:ext cx="4734962" cy="923330"/>
          </a:xfrm>
          <a:prstGeom prst="rect">
            <a:avLst/>
          </a:prstGeom>
          <a:noFill/>
        </p:spPr>
        <p:txBody>
          <a:bodyPr wrap="square" rtlCol="0">
            <a:spAutoFit/>
          </a:bodyPr>
          <a:lstStyle/>
          <a:p>
            <a:pPr marL="285750" indent="-285750" algn="ctr">
              <a:buClr>
                <a:schemeClr val="accent1"/>
              </a:buClr>
              <a:buFont typeface="Wingdings" panose="05000000000000000000" pitchFamily="2" charset="2"/>
              <a:buChar char="Ø"/>
            </a:pPr>
            <a:r>
              <a:rPr lang="en-US" b="1" u="sng" dirty="0"/>
              <a:t>Direction-of-Arrival (DOA) Estimation</a:t>
            </a:r>
          </a:p>
          <a:p>
            <a:pPr algn="ctr">
              <a:buClr>
                <a:schemeClr val="accent1"/>
              </a:buClr>
            </a:pPr>
            <a:endParaRPr lang="en-US" b="1" u="sng" dirty="0"/>
          </a:p>
          <a:p>
            <a:pPr marL="342900" indent="-342900">
              <a:buClr>
                <a:schemeClr val="accent1"/>
              </a:buClr>
              <a:buAutoNum type="arabicPeriod"/>
            </a:pPr>
            <a:endParaRPr lang="pt-BR" dirty="0"/>
          </a:p>
        </p:txBody>
      </p:sp>
      <p:pic>
        <p:nvPicPr>
          <p:cNvPr id="35" name="Εικόνα 34">
            <a:extLst>
              <a:ext uri="{FF2B5EF4-FFF2-40B4-BE49-F238E27FC236}">
                <a16:creationId xmlns:a16="http://schemas.microsoft.com/office/drawing/2014/main" id="{8138BF7D-A891-F3B1-68A8-78360F7D0F88}"/>
              </a:ext>
            </a:extLst>
          </p:cNvPr>
          <p:cNvPicPr>
            <a:picLocks noChangeAspect="1"/>
          </p:cNvPicPr>
          <p:nvPr/>
        </p:nvPicPr>
        <p:blipFill>
          <a:blip r:embed="rId3"/>
          <a:stretch>
            <a:fillRect/>
          </a:stretch>
        </p:blipFill>
        <p:spPr>
          <a:xfrm>
            <a:off x="8611503" y="1425151"/>
            <a:ext cx="775384" cy="1212372"/>
          </a:xfrm>
          <a:prstGeom prst="rect">
            <a:avLst/>
          </a:prstGeom>
        </p:spPr>
      </p:pic>
      <p:sp>
        <p:nvSpPr>
          <p:cNvPr id="36" name="TextBox 35">
            <a:extLst>
              <a:ext uri="{FF2B5EF4-FFF2-40B4-BE49-F238E27FC236}">
                <a16:creationId xmlns:a16="http://schemas.microsoft.com/office/drawing/2014/main" id="{45044F72-A3CA-6974-EDF6-B3253B2707E2}"/>
              </a:ext>
            </a:extLst>
          </p:cNvPr>
          <p:cNvSpPr txBox="1"/>
          <p:nvPr/>
        </p:nvSpPr>
        <p:spPr>
          <a:xfrm>
            <a:off x="317670" y="1384015"/>
            <a:ext cx="11108602" cy="338554"/>
          </a:xfrm>
          <a:prstGeom prst="rect">
            <a:avLst/>
          </a:prstGeom>
          <a:noFill/>
        </p:spPr>
        <p:txBody>
          <a:bodyPr wrap="square" rtlCol="0">
            <a:spAutoFit/>
          </a:bodyPr>
          <a:lstStyle/>
          <a:p>
            <a:r>
              <a:rPr lang="en-US" sz="1600" b="1" dirty="0"/>
              <a:t>Estimate the DOA for each separated acoustic event in terms of azimuth and elevation.</a:t>
            </a:r>
            <a:endParaRPr lang="el-GR" sz="1600" b="1" dirty="0"/>
          </a:p>
        </p:txBody>
      </p:sp>
      <p:sp>
        <p:nvSpPr>
          <p:cNvPr id="37" name="TextBox 36">
            <a:extLst>
              <a:ext uri="{FF2B5EF4-FFF2-40B4-BE49-F238E27FC236}">
                <a16:creationId xmlns:a16="http://schemas.microsoft.com/office/drawing/2014/main" id="{2F9B1E20-425C-3F6C-12DE-9C18A5363D75}"/>
              </a:ext>
            </a:extLst>
          </p:cNvPr>
          <p:cNvSpPr txBox="1"/>
          <p:nvPr/>
        </p:nvSpPr>
        <p:spPr>
          <a:xfrm>
            <a:off x="112853" y="1731769"/>
            <a:ext cx="9560459" cy="338554"/>
          </a:xfrm>
          <a:prstGeom prst="rect">
            <a:avLst/>
          </a:prstGeom>
          <a:noFill/>
        </p:spPr>
        <p:txBody>
          <a:bodyPr wrap="square" rtlCol="0">
            <a:spAutoFit/>
          </a:bodyPr>
          <a:lstStyle/>
          <a:p>
            <a:pPr marL="285750" indent="-285750">
              <a:buClr>
                <a:schemeClr val="accent1"/>
              </a:buClr>
              <a:buFont typeface="Arial" panose="020B0604020202020204" pitchFamily="34" charset="0"/>
              <a:buChar char="•"/>
            </a:pPr>
            <a:r>
              <a:rPr lang="en-US" sz="1600" b="1" dirty="0"/>
              <a:t>First-order Ambisonics (FOA) representation. Works as a spherical array.</a:t>
            </a:r>
          </a:p>
        </p:txBody>
      </p:sp>
      <p:sp>
        <p:nvSpPr>
          <p:cNvPr id="38" name="Βέλος: Δεξιό 37">
            <a:extLst>
              <a:ext uri="{FF2B5EF4-FFF2-40B4-BE49-F238E27FC236}">
                <a16:creationId xmlns:a16="http://schemas.microsoft.com/office/drawing/2014/main" id="{BAB443EF-EBC7-913A-BB4C-EA7D947F5FE7}"/>
              </a:ext>
            </a:extLst>
          </p:cNvPr>
          <p:cNvSpPr/>
          <p:nvPr/>
        </p:nvSpPr>
        <p:spPr>
          <a:xfrm>
            <a:off x="7638683" y="1860565"/>
            <a:ext cx="644861" cy="14560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a:p>
        </p:txBody>
      </p: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CC750F11-C102-B454-38D8-7828720D5C56}"/>
                  </a:ext>
                </a:extLst>
              </p:cNvPr>
              <p:cNvSpPr txBox="1"/>
              <p:nvPr/>
            </p:nvSpPr>
            <p:spPr>
              <a:xfrm>
                <a:off x="112853" y="2169911"/>
                <a:ext cx="6826313" cy="1107996"/>
              </a:xfrm>
              <a:prstGeom prst="rect">
                <a:avLst/>
              </a:prstGeom>
              <a:noFill/>
            </p:spPr>
            <p:txBody>
              <a:bodyPr wrap="square" rtlCol="0">
                <a:spAutoFit/>
              </a:bodyPr>
              <a:lstStyle/>
              <a:p>
                <a:pPr marL="285750" indent="-285750">
                  <a:buClr>
                    <a:schemeClr val="accent1"/>
                  </a:buClr>
                  <a:buFont typeface="Arial" panose="020B0604020202020204" pitchFamily="34" charset="0"/>
                  <a:buChar char="•"/>
                </a:pPr>
                <a:r>
                  <a:rPr lang="en-US" sz="1600" b="1" dirty="0"/>
                  <a:t>AmbiX ordering: </a:t>
                </a:r>
                <a14:m>
                  <m:oMath xmlns:m="http://schemas.openxmlformats.org/officeDocument/2006/math">
                    <m:r>
                      <a:rPr lang="en-US" sz="1600" b="1" i="1">
                        <a:latin typeface="Cambria Math" panose="02040503050406030204" pitchFamily="18" charset="0"/>
                      </a:rPr>
                      <m:t>𝑾</m:t>
                    </m:r>
                    <m:r>
                      <a:rPr lang="en-US" sz="1600" b="1" i="1">
                        <a:latin typeface="Cambria Math" panose="02040503050406030204" pitchFamily="18" charset="0"/>
                      </a:rPr>
                      <m:t>−</m:t>
                    </m:r>
                    <m:r>
                      <a:rPr lang="en-US" sz="1600" b="1" i="1">
                        <a:latin typeface="Cambria Math" panose="02040503050406030204" pitchFamily="18" charset="0"/>
                      </a:rPr>
                      <m:t>𝒀</m:t>
                    </m:r>
                    <m:r>
                      <a:rPr lang="en-US" sz="1600" b="1" i="1">
                        <a:latin typeface="Cambria Math" panose="02040503050406030204" pitchFamily="18" charset="0"/>
                      </a:rPr>
                      <m:t>−</m:t>
                    </m:r>
                    <m:r>
                      <a:rPr lang="en-US" sz="1600" b="1" i="1">
                        <a:latin typeface="Cambria Math" panose="02040503050406030204" pitchFamily="18" charset="0"/>
                      </a:rPr>
                      <m:t>𝒁</m:t>
                    </m:r>
                    <m:r>
                      <a:rPr lang="en-US" sz="1600" b="1" i="1">
                        <a:latin typeface="Cambria Math" panose="02040503050406030204" pitchFamily="18" charset="0"/>
                      </a:rPr>
                      <m:t>−</m:t>
                    </m:r>
                    <m:r>
                      <a:rPr lang="en-US" sz="1600" b="1" i="1">
                        <a:latin typeface="Cambria Math" panose="02040503050406030204" pitchFamily="18" charset="0"/>
                      </a:rPr>
                      <m:t>𝑿</m:t>
                    </m:r>
                  </m:oMath>
                </a14:m>
                <a:r>
                  <a:rPr lang="en-US" sz="1600" b="1" dirty="0"/>
                  <a:t>.</a:t>
                </a:r>
              </a:p>
              <a:p>
                <a:pPr marL="285750" indent="-285750">
                  <a:buClr>
                    <a:schemeClr val="accent1"/>
                  </a:buClr>
                  <a:buFont typeface="Arial" panose="020B0604020202020204" pitchFamily="34" charset="0"/>
                  <a:buChar char="•"/>
                </a:pPr>
                <a14:m>
                  <m:oMath xmlns:m="http://schemas.openxmlformats.org/officeDocument/2006/math">
                    <m:r>
                      <a:rPr lang="en-US" sz="1600" b="1" i="1" smtClean="0">
                        <a:latin typeface="Cambria Math" panose="02040503050406030204" pitchFamily="18" charset="0"/>
                      </a:rPr>
                      <m:t>𝑾</m:t>
                    </m:r>
                  </m:oMath>
                </a14:m>
                <a:r>
                  <a:rPr lang="en-US" sz="1600" b="1" dirty="0"/>
                  <a:t>: omnidirectional component.</a:t>
                </a:r>
              </a:p>
              <a:p>
                <a:pPr marL="285750" indent="-285750">
                  <a:buClr>
                    <a:schemeClr val="accent1"/>
                  </a:buClr>
                  <a:buFont typeface="Arial" panose="020B0604020202020204" pitchFamily="34" charset="0"/>
                  <a:buChar char="•"/>
                </a:pPr>
                <a14:m>
                  <m:oMath xmlns:m="http://schemas.openxmlformats.org/officeDocument/2006/math">
                    <m:r>
                      <a:rPr lang="en-US" sz="1600" b="1" i="1" smtClean="0">
                        <a:latin typeface="Cambria Math" panose="02040503050406030204" pitchFamily="18" charset="0"/>
                      </a:rPr>
                      <m:t>𝑿</m:t>
                    </m:r>
                    <m:r>
                      <a:rPr lang="en-US" sz="1600" b="1" i="1" smtClean="0">
                        <a:latin typeface="Cambria Math" panose="02040503050406030204" pitchFamily="18" charset="0"/>
                      </a:rPr>
                      <m:t>,</m:t>
                    </m:r>
                    <m:r>
                      <a:rPr lang="en-US" sz="1600" b="1" i="1" smtClean="0">
                        <a:latin typeface="Cambria Math" panose="02040503050406030204" pitchFamily="18" charset="0"/>
                      </a:rPr>
                      <m:t>𝒀</m:t>
                    </m:r>
                    <m:r>
                      <a:rPr lang="en-US" sz="1600" b="1" i="1" smtClean="0">
                        <a:latin typeface="Cambria Math" panose="02040503050406030204" pitchFamily="18" charset="0"/>
                      </a:rPr>
                      <m:t>,</m:t>
                    </m:r>
                    <m:r>
                      <a:rPr lang="en-US" sz="1600" b="1" i="1" smtClean="0">
                        <a:latin typeface="Cambria Math" panose="02040503050406030204" pitchFamily="18" charset="0"/>
                      </a:rPr>
                      <m:t>𝒁</m:t>
                    </m:r>
                  </m:oMath>
                </a14:m>
                <a:r>
                  <a:rPr lang="en-US" sz="1600" b="1" dirty="0"/>
                  <a:t>: directional components.</a:t>
                </a:r>
              </a:p>
              <a:p>
                <a:pPr>
                  <a:buClr>
                    <a:schemeClr val="accent1"/>
                  </a:buClr>
                </a:pPr>
                <a:r>
                  <a:rPr lang="en-US" dirty="0"/>
                  <a:t>		</a:t>
                </a:r>
                <a:endParaRPr lang="el-GR" dirty="0"/>
              </a:p>
            </p:txBody>
          </p:sp>
        </mc:Choice>
        <mc:Fallback xmlns="">
          <p:sp>
            <p:nvSpPr>
              <p:cNvPr id="39" name="TextBox 38">
                <a:extLst>
                  <a:ext uri="{FF2B5EF4-FFF2-40B4-BE49-F238E27FC236}">
                    <a16:creationId xmlns:a16="http://schemas.microsoft.com/office/drawing/2014/main" id="{CC750F11-C102-B454-38D8-7828720D5C56}"/>
                  </a:ext>
                </a:extLst>
              </p:cNvPr>
              <p:cNvSpPr txBox="1">
                <a:spLocks noRot="1" noChangeAspect="1" noMove="1" noResize="1" noEditPoints="1" noAdjustHandles="1" noChangeArrowheads="1" noChangeShapeType="1" noTextEdit="1"/>
              </p:cNvSpPr>
              <p:nvPr/>
            </p:nvSpPr>
            <p:spPr>
              <a:xfrm>
                <a:off x="112853" y="2169911"/>
                <a:ext cx="6826313" cy="1107996"/>
              </a:xfrm>
              <a:prstGeom prst="rect">
                <a:avLst/>
              </a:prstGeom>
              <a:blipFill>
                <a:blip r:embed="rId4"/>
                <a:stretch>
                  <a:fillRect l="-357" t="-1648"/>
                </a:stretch>
              </a:blipFill>
            </p:spPr>
            <p:txBody>
              <a:bodyPr/>
              <a:lstStyle/>
              <a:p>
                <a:r>
                  <a:rPr lang="el-GR">
                    <a:noFill/>
                  </a:rPr>
                  <a:t> </a:t>
                </a:r>
              </a:p>
            </p:txBody>
          </p:sp>
        </mc:Fallback>
      </mc:AlternateContent>
      <p:pic>
        <p:nvPicPr>
          <p:cNvPr id="41" name="Εικόνα 40">
            <a:extLst>
              <a:ext uri="{FF2B5EF4-FFF2-40B4-BE49-F238E27FC236}">
                <a16:creationId xmlns:a16="http://schemas.microsoft.com/office/drawing/2014/main" id="{C5CB9D63-9E85-0BF5-C6CC-9233566D5DE0}"/>
              </a:ext>
            </a:extLst>
          </p:cNvPr>
          <p:cNvPicPr>
            <a:picLocks noChangeAspect="1"/>
          </p:cNvPicPr>
          <p:nvPr/>
        </p:nvPicPr>
        <p:blipFill>
          <a:blip r:embed="rId5"/>
          <a:stretch>
            <a:fillRect/>
          </a:stretch>
        </p:blipFill>
        <p:spPr>
          <a:xfrm>
            <a:off x="267893" y="3147721"/>
            <a:ext cx="2569633" cy="1541495"/>
          </a:xfrm>
          <a:prstGeom prst="rect">
            <a:avLst/>
          </a:prstGeom>
        </p:spPr>
      </p:pic>
      <p:sp>
        <p:nvSpPr>
          <p:cNvPr id="43" name="Βέλος: Δεξιό 42">
            <a:extLst>
              <a:ext uri="{FF2B5EF4-FFF2-40B4-BE49-F238E27FC236}">
                <a16:creationId xmlns:a16="http://schemas.microsoft.com/office/drawing/2014/main" id="{EB2362F1-A39A-4064-F19B-135AC2AF8FBA}"/>
              </a:ext>
            </a:extLst>
          </p:cNvPr>
          <p:cNvSpPr/>
          <p:nvPr/>
        </p:nvSpPr>
        <p:spPr>
          <a:xfrm>
            <a:off x="3022734" y="3840461"/>
            <a:ext cx="525101" cy="17201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a:p>
        </p:txBody>
      </p:sp>
      <p:pic>
        <p:nvPicPr>
          <p:cNvPr id="45" name="Εικόνα 44">
            <a:extLst>
              <a:ext uri="{FF2B5EF4-FFF2-40B4-BE49-F238E27FC236}">
                <a16:creationId xmlns:a16="http://schemas.microsoft.com/office/drawing/2014/main" id="{58951899-82FF-96FC-9301-32728F6C96A9}"/>
              </a:ext>
            </a:extLst>
          </p:cNvPr>
          <p:cNvPicPr>
            <a:picLocks noChangeAspect="1"/>
          </p:cNvPicPr>
          <p:nvPr/>
        </p:nvPicPr>
        <p:blipFill>
          <a:blip r:embed="rId6"/>
          <a:stretch>
            <a:fillRect/>
          </a:stretch>
        </p:blipFill>
        <p:spPr>
          <a:xfrm>
            <a:off x="3547835" y="3342999"/>
            <a:ext cx="3066692" cy="1281124"/>
          </a:xfrm>
          <a:prstGeom prst="rect">
            <a:avLst/>
          </a:prstGeom>
        </p:spPr>
      </p:pic>
      <p:pic>
        <p:nvPicPr>
          <p:cNvPr id="47" name="Εικόνα 46">
            <a:extLst>
              <a:ext uri="{FF2B5EF4-FFF2-40B4-BE49-F238E27FC236}">
                <a16:creationId xmlns:a16="http://schemas.microsoft.com/office/drawing/2014/main" id="{02E96EEA-E370-13F8-0013-0FA81BE7C26A}"/>
              </a:ext>
            </a:extLst>
          </p:cNvPr>
          <p:cNvPicPr>
            <a:picLocks noChangeAspect="1"/>
          </p:cNvPicPr>
          <p:nvPr/>
        </p:nvPicPr>
        <p:blipFill>
          <a:blip r:embed="rId7"/>
          <a:stretch>
            <a:fillRect/>
          </a:stretch>
        </p:blipFill>
        <p:spPr>
          <a:xfrm>
            <a:off x="304337" y="4946233"/>
            <a:ext cx="2255193" cy="597623"/>
          </a:xfrm>
          <a:prstGeom prst="rect">
            <a:avLst/>
          </a:prstGeom>
        </p:spPr>
      </p:pic>
      <p:pic>
        <p:nvPicPr>
          <p:cNvPr id="49" name="Εικόνα 48">
            <a:extLst>
              <a:ext uri="{FF2B5EF4-FFF2-40B4-BE49-F238E27FC236}">
                <a16:creationId xmlns:a16="http://schemas.microsoft.com/office/drawing/2014/main" id="{E1901333-57F8-5AC0-36DA-08AC0D93D044}"/>
              </a:ext>
            </a:extLst>
          </p:cNvPr>
          <p:cNvPicPr>
            <a:picLocks noChangeAspect="1"/>
          </p:cNvPicPr>
          <p:nvPr/>
        </p:nvPicPr>
        <p:blipFill>
          <a:blip r:embed="rId8"/>
          <a:stretch>
            <a:fillRect/>
          </a:stretch>
        </p:blipFill>
        <p:spPr>
          <a:xfrm>
            <a:off x="3092172" y="4931385"/>
            <a:ext cx="3116263" cy="626165"/>
          </a:xfrm>
          <a:prstGeom prst="rect">
            <a:avLst/>
          </a:prstGeom>
        </p:spPr>
      </p:pic>
      <p:sp>
        <p:nvSpPr>
          <p:cNvPr id="50" name="TextBox 49">
            <a:extLst>
              <a:ext uri="{FF2B5EF4-FFF2-40B4-BE49-F238E27FC236}">
                <a16:creationId xmlns:a16="http://schemas.microsoft.com/office/drawing/2014/main" id="{084297BF-E556-7AF8-5736-28220B955228}"/>
              </a:ext>
            </a:extLst>
          </p:cNvPr>
          <p:cNvSpPr txBox="1"/>
          <p:nvPr/>
        </p:nvSpPr>
        <p:spPr>
          <a:xfrm>
            <a:off x="2583504" y="5059802"/>
            <a:ext cx="1140736" cy="369332"/>
          </a:xfrm>
          <a:prstGeom prst="rect">
            <a:avLst/>
          </a:prstGeom>
          <a:noFill/>
        </p:spPr>
        <p:txBody>
          <a:bodyPr wrap="square" rtlCol="0">
            <a:spAutoFit/>
          </a:bodyPr>
          <a:lstStyle/>
          <a:p>
            <a:r>
              <a:rPr lang="en-US" sz="1400" dirty="0"/>
              <a:t>and</a:t>
            </a:r>
            <a:r>
              <a:rPr lang="en-US" dirty="0"/>
              <a:t> </a:t>
            </a:r>
            <a:endParaRPr lang="el-GR" dirty="0"/>
          </a:p>
        </p:txBody>
      </p:sp>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A7AC6D03-2410-BDEC-45B0-966CB7940AA5}"/>
                  </a:ext>
                </a:extLst>
              </p:cNvPr>
              <p:cNvSpPr txBox="1"/>
              <p:nvPr/>
            </p:nvSpPr>
            <p:spPr>
              <a:xfrm>
                <a:off x="646598" y="5605558"/>
                <a:ext cx="5277372" cy="360676"/>
              </a:xfrm>
              <a:prstGeom prst="rect">
                <a:avLst/>
              </a:prstGeom>
              <a:noFill/>
            </p:spPr>
            <p:txBody>
              <a:bodyPr wrap="square" rtlCol="0">
                <a:spAutoFit/>
              </a:bodyPr>
              <a:lstStyle/>
              <a:p>
                <a:pPr/>
                <a14:m>
                  <m:oMathPara xmlns:m="http://schemas.openxmlformats.org/officeDocument/2006/math">
                    <m:oMath>
                      <m:r>
                        <a:rPr lang="en-US" sz="1600" b="1" i="1" smtClean="0">
                          <a:latin typeface="Cambria Math" panose="02040503050406030204" pitchFamily="18" charset="0"/>
                        </a:rPr>
                        <m:t>𝑫𝑶𝑨</m:t>
                      </m:r>
                      <m:r>
                        <a:rPr lang="en-US" sz="1600" b="1" i="1" smtClean="0">
                          <a:latin typeface="Cambria Math" panose="02040503050406030204" pitchFamily="18" charset="0"/>
                        </a:rPr>
                        <m:t>=</m:t>
                      </m:r>
                      <m:r>
                        <a:rPr lang="en-US" sz="1600" b="1" i="1" smtClean="0">
                          <a:latin typeface="Cambria Math" panose="02040503050406030204" pitchFamily="18" charset="0"/>
                        </a:rPr>
                        <m:t>𝒂𝒛𝒊𝒎𝒖𝒕𝒉</m:t>
                      </m:r>
                      <m:r>
                        <a:rPr lang="en-US" sz="1600" b="1" i="1" smtClean="0">
                          <a:latin typeface="Cambria Math" panose="02040503050406030204" pitchFamily="18" charset="0"/>
                        </a:rPr>
                        <m:t> </m:t>
                      </m:r>
                      <m:r>
                        <a:rPr lang="en-US" sz="1600" b="1" i="1" smtClean="0">
                          <a:latin typeface="Cambria Math" panose="02040503050406030204" pitchFamily="18" charset="0"/>
                        </a:rPr>
                        <m:t>𝜽</m:t>
                      </m:r>
                      <m:r>
                        <a:rPr lang="en-US" sz="1600" b="1" i="1" smtClean="0">
                          <a:latin typeface="Cambria Math" panose="02040503050406030204" pitchFamily="18" charset="0"/>
                        </a:rPr>
                        <m:t>+</m:t>
                      </m:r>
                      <m:r>
                        <a:rPr lang="en-US" sz="1600" b="1" i="1" smtClean="0">
                          <a:latin typeface="Cambria Math" panose="02040503050406030204" pitchFamily="18" charset="0"/>
                        </a:rPr>
                        <m:t>𝒆𝒍𝒆𝒗𝒂𝒕𝒊𝒐𝒏</m:t>
                      </m:r>
                      <m:r>
                        <a:rPr lang="en-US" sz="1600" b="1" i="1" smtClean="0">
                          <a:latin typeface="Cambria Math" panose="02040503050406030204" pitchFamily="18" charset="0"/>
                        </a:rPr>
                        <m:t> </m:t>
                      </m:r>
                      <m:r>
                        <a:rPr lang="en-US" sz="1600" b="1" i="1" smtClean="0">
                          <a:latin typeface="Cambria Math" panose="02040503050406030204" pitchFamily="18" charset="0"/>
                        </a:rPr>
                        <m:t>𝝓</m:t>
                      </m:r>
                      <m:r>
                        <a:rPr lang="en-US" sz="1600" b="1" i="1" smtClean="0">
                          <a:latin typeface="Cambria Math" panose="02040503050406030204" pitchFamily="18" charset="0"/>
                        </a:rPr>
                        <m:t>=(</m:t>
                      </m:r>
                      <m:sSub>
                        <m:sSubPr>
                          <m:ctrlPr>
                            <a:rPr lang="el-GR" sz="1600" b="1" i="1" smtClean="0">
                              <a:latin typeface="Cambria Math" panose="02040503050406030204" pitchFamily="18" charset="0"/>
                            </a:rPr>
                          </m:ctrlPr>
                        </m:sSubPr>
                        <m:e>
                          <m:r>
                            <a:rPr lang="el-GR" sz="1600" b="1" i="1" smtClean="0">
                              <a:latin typeface="Cambria Math" panose="02040503050406030204" pitchFamily="18" charset="0"/>
                            </a:rPr>
                            <m:t>𝜽</m:t>
                          </m:r>
                        </m:e>
                        <m:sub>
                          <m:r>
                            <a:rPr lang="en-US" sz="1600" b="1" i="1" smtClean="0">
                              <a:latin typeface="Cambria Math" panose="02040503050406030204" pitchFamily="18" charset="0"/>
                            </a:rPr>
                            <m:t>𝒒</m:t>
                          </m:r>
                        </m:sub>
                      </m:sSub>
                      <m:r>
                        <a:rPr lang="en-US" sz="1600" b="1" i="1" smtClean="0">
                          <a:latin typeface="Cambria Math" panose="02040503050406030204" pitchFamily="18" charset="0"/>
                        </a:rPr>
                        <m:t>, </m:t>
                      </m:r>
                      <m:sSub>
                        <m:sSubPr>
                          <m:ctrlPr>
                            <a:rPr lang="en-US" sz="1600" b="1" i="1" smtClean="0">
                              <a:latin typeface="Cambria Math" panose="02040503050406030204" pitchFamily="18" charset="0"/>
                            </a:rPr>
                          </m:ctrlPr>
                        </m:sSubPr>
                        <m:e>
                          <m:r>
                            <a:rPr lang="en-US" sz="1600" b="1" i="1" smtClean="0">
                              <a:latin typeface="Cambria Math" panose="02040503050406030204" pitchFamily="18" charset="0"/>
                            </a:rPr>
                            <m:t>𝝓</m:t>
                          </m:r>
                        </m:e>
                        <m:sub>
                          <m:r>
                            <a:rPr lang="en-US" sz="1600" b="1" i="1" smtClean="0">
                              <a:latin typeface="Cambria Math" panose="02040503050406030204" pitchFamily="18" charset="0"/>
                            </a:rPr>
                            <m:t>𝒒</m:t>
                          </m:r>
                        </m:sub>
                      </m:sSub>
                      <m:r>
                        <a:rPr lang="en-US" sz="1600" b="1" i="1" smtClean="0">
                          <a:latin typeface="Cambria Math" panose="02040503050406030204" pitchFamily="18" charset="0"/>
                        </a:rPr>
                        <m:t>)</m:t>
                      </m:r>
                    </m:oMath>
                  </m:oMathPara>
                </a14:m>
                <a:endParaRPr lang="el-GR" sz="1600" b="1" dirty="0"/>
              </a:p>
            </p:txBody>
          </p:sp>
        </mc:Choice>
        <mc:Fallback xmlns="">
          <p:sp>
            <p:nvSpPr>
              <p:cNvPr id="51" name="TextBox 50">
                <a:extLst>
                  <a:ext uri="{FF2B5EF4-FFF2-40B4-BE49-F238E27FC236}">
                    <a16:creationId xmlns:a16="http://schemas.microsoft.com/office/drawing/2014/main" id="{A7AC6D03-2410-BDEC-45B0-966CB7940AA5}"/>
                  </a:ext>
                </a:extLst>
              </p:cNvPr>
              <p:cNvSpPr txBox="1">
                <a:spLocks noRot="1" noChangeAspect="1" noMove="1" noResize="1" noEditPoints="1" noAdjustHandles="1" noChangeArrowheads="1" noChangeShapeType="1" noTextEdit="1"/>
              </p:cNvSpPr>
              <p:nvPr/>
            </p:nvSpPr>
            <p:spPr>
              <a:xfrm>
                <a:off x="646598" y="5605558"/>
                <a:ext cx="5277372" cy="360676"/>
              </a:xfrm>
              <a:prstGeom prst="rect">
                <a:avLst/>
              </a:prstGeom>
              <a:blipFill>
                <a:blip r:embed="rId9"/>
                <a:stretch>
                  <a:fillRect b="-5085"/>
                </a:stretch>
              </a:blipFill>
            </p:spPr>
            <p:txBody>
              <a:bodyPr/>
              <a:lstStyle/>
              <a:p>
                <a:r>
                  <a:rPr lang="el-GR">
                    <a:noFill/>
                  </a:rPr>
                  <a:t> </a:t>
                </a:r>
              </a:p>
            </p:txBody>
          </p:sp>
        </mc:Fallback>
      </mc:AlternateContent>
      <p:sp>
        <p:nvSpPr>
          <p:cNvPr id="52" name="Βέλος: Καμπύλο προς τα δεξιά 51">
            <a:extLst>
              <a:ext uri="{FF2B5EF4-FFF2-40B4-BE49-F238E27FC236}">
                <a16:creationId xmlns:a16="http://schemas.microsoft.com/office/drawing/2014/main" id="{D07B5C63-6673-35B0-47C5-E1EAF6B7E81B}"/>
              </a:ext>
            </a:extLst>
          </p:cNvPr>
          <p:cNvSpPr/>
          <p:nvPr/>
        </p:nvSpPr>
        <p:spPr>
          <a:xfrm>
            <a:off x="557060" y="5439947"/>
            <a:ext cx="483545" cy="371739"/>
          </a:xfrm>
          <a:prstGeom prst="curv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a:solidFill>
                <a:schemeClr val="tx1"/>
              </a:solidFill>
            </a:endParaRPr>
          </a:p>
        </p:txBody>
      </p:sp>
      <p:sp>
        <p:nvSpPr>
          <p:cNvPr id="53" name="TextBox 52">
            <a:extLst>
              <a:ext uri="{FF2B5EF4-FFF2-40B4-BE49-F238E27FC236}">
                <a16:creationId xmlns:a16="http://schemas.microsoft.com/office/drawing/2014/main" id="{274E5B8A-B8F2-02C5-6DA8-119959299705}"/>
              </a:ext>
            </a:extLst>
          </p:cNvPr>
          <p:cNvSpPr txBox="1"/>
          <p:nvPr/>
        </p:nvSpPr>
        <p:spPr>
          <a:xfrm>
            <a:off x="198840" y="6065822"/>
            <a:ext cx="6740326" cy="584775"/>
          </a:xfrm>
          <a:prstGeom prst="rect">
            <a:avLst/>
          </a:prstGeom>
          <a:noFill/>
        </p:spPr>
        <p:txBody>
          <a:bodyPr wrap="square" rtlCol="0">
            <a:spAutoFit/>
          </a:bodyPr>
          <a:lstStyle/>
          <a:p>
            <a:pPr marL="285750" indent="-285750">
              <a:buClr>
                <a:schemeClr val="accent1"/>
              </a:buClr>
              <a:buFont typeface="Arial" panose="020B0604020202020204" pitchFamily="34" charset="0"/>
              <a:buChar char="•"/>
            </a:pPr>
            <a:r>
              <a:rPr lang="en-US" sz="1600" b="1" dirty="0"/>
              <a:t>Azimuth: horizontal direction around the array (left or right)</a:t>
            </a:r>
          </a:p>
          <a:p>
            <a:pPr marL="285750" indent="-285750">
              <a:buClr>
                <a:schemeClr val="accent1"/>
              </a:buClr>
              <a:buFont typeface="Arial" panose="020B0604020202020204" pitchFamily="34" charset="0"/>
              <a:buChar char="•"/>
            </a:pPr>
            <a:r>
              <a:rPr lang="en-US" sz="1600" b="1" dirty="0"/>
              <a:t>Elevation: vertical direction above or below the horizontal plane.</a:t>
            </a:r>
            <a:endParaRPr lang="el-GR" sz="1600" b="1" dirty="0"/>
          </a:p>
        </p:txBody>
      </p:sp>
    </p:spTree>
    <p:extLst>
      <p:ext uri="{BB962C8B-B14F-4D97-AF65-F5344CB8AC3E}">
        <p14:creationId xmlns:p14="http://schemas.microsoft.com/office/powerpoint/2010/main" val="30444763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Ορθογώνιο: Στρογγύλεμα διαγώνιων γωνιών 8">
            <a:extLst>
              <a:ext uri="{FF2B5EF4-FFF2-40B4-BE49-F238E27FC236}">
                <a16:creationId xmlns:a16="http://schemas.microsoft.com/office/drawing/2014/main" id="{B7D713B6-331A-36CD-0417-72286F82EC53}"/>
              </a:ext>
            </a:extLst>
          </p:cNvPr>
          <p:cNvSpPr/>
          <p:nvPr/>
        </p:nvSpPr>
        <p:spPr>
          <a:xfrm>
            <a:off x="235390" y="102525"/>
            <a:ext cx="11419520" cy="707886"/>
          </a:xfrm>
          <a:prstGeom prst="round2Diag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t>Acoustic Event Classification - C</a:t>
            </a:r>
            <a:r>
              <a:rPr lang="el-GR" sz="3200" b="1" dirty="0"/>
              <a:t>ΝΝ</a:t>
            </a:r>
            <a:r>
              <a:rPr lang="en-US" sz="3200" b="1" dirty="0"/>
              <a:t> Architecture</a:t>
            </a:r>
            <a:endParaRPr lang="el-GR" sz="3200" b="1" dirty="0"/>
          </a:p>
        </p:txBody>
      </p:sp>
      <p:pic>
        <p:nvPicPr>
          <p:cNvPr id="3" name="Εικόνα 2">
            <a:extLst>
              <a:ext uri="{FF2B5EF4-FFF2-40B4-BE49-F238E27FC236}">
                <a16:creationId xmlns:a16="http://schemas.microsoft.com/office/drawing/2014/main" id="{98B9B1EE-9FB1-F39A-9AC1-8D4A71069D45}"/>
              </a:ext>
            </a:extLst>
          </p:cNvPr>
          <p:cNvPicPr>
            <a:picLocks noChangeAspect="1"/>
          </p:cNvPicPr>
          <p:nvPr/>
        </p:nvPicPr>
        <p:blipFill>
          <a:blip r:embed="rId2"/>
          <a:stretch>
            <a:fillRect/>
          </a:stretch>
        </p:blipFill>
        <p:spPr>
          <a:xfrm>
            <a:off x="665986" y="2104431"/>
            <a:ext cx="3545201" cy="1701807"/>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44A12DF3-D674-D6DC-8897-F1869ECA066A}"/>
                  </a:ext>
                </a:extLst>
              </p:cNvPr>
              <p:cNvSpPr txBox="1"/>
              <p:nvPr/>
            </p:nvSpPr>
            <p:spPr>
              <a:xfrm>
                <a:off x="0" y="844512"/>
                <a:ext cx="5531665" cy="1477328"/>
              </a:xfrm>
              <a:prstGeom prst="rect">
                <a:avLst/>
              </a:prstGeom>
              <a:noFill/>
            </p:spPr>
            <p:txBody>
              <a:bodyPr wrap="square" rtlCol="0">
                <a:spAutoFit/>
              </a:bodyPr>
              <a:lstStyle/>
              <a:p>
                <a:pPr algn="ctr"/>
                <a:r>
                  <a:rPr lang="en-US" b="1" u="sng" dirty="0"/>
                  <a:t>Input</a:t>
                </a:r>
                <a:endParaRPr lang="el-GR" b="1" u="sng" dirty="0"/>
              </a:p>
              <a:p>
                <a:pPr marL="285750" indent="-285750">
                  <a:buClr>
                    <a:schemeClr val="accent1"/>
                  </a:buClr>
                  <a:buFont typeface="Wingdings" panose="05000000000000000000" pitchFamily="2" charset="2"/>
                  <a:buChar char="§"/>
                </a:pPr>
                <a:r>
                  <a:rPr lang="el-GR" dirty="0"/>
                  <a:t>10</a:t>
                </a:r>
                <a:r>
                  <a:rPr lang="en-US" dirty="0"/>
                  <a:t>s audio signal,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𝑠</m:t>
                        </m:r>
                      </m:sub>
                    </m:sSub>
                  </m:oMath>
                </a14:m>
                <a:r>
                  <a:rPr lang="en-US" dirty="0"/>
                  <a:t>=32 kHz.</a:t>
                </a:r>
              </a:p>
              <a:p>
                <a:pPr marL="285750" indent="-285750">
                  <a:buClr>
                    <a:schemeClr val="accent1"/>
                  </a:buClr>
                  <a:buFont typeface="Wingdings" panose="05000000000000000000" pitchFamily="2" charset="2"/>
                  <a:buChar char="§"/>
                </a:pPr>
                <a:r>
                  <a:rPr lang="en-US" dirty="0"/>
                  <a:t>128-bin log-Mel spectrogram.</a:t>
                </a:r>
              </a:p>
              <a:p>
                <a:pPr marL="285750" indent="-285750">
                  <a:buClr>
                    <a:schemeClr val="accent1"/>
                  </a:buClr>
                  <a:buFont typeface="Wingdings" panose="05000000000000000000" pitchFamily="2" charset="2"/>
                  <a:buChar char="§"/>
                </a:pPr>
                <a:r>
                  <a:rPr lang="en-US" dirty="0"/>
                  <a:t>Input size: </a:t>
                </a:r>
                <a14:m>
                  <m:oMath xmlns:m="http://schemas.openxmlformats.org/officeDocument/2006/math">
                    <m:r>
                      <a:rPr lang="en-US" b="0" i="1" smtClean="0">
                        <a:latin typeface="Cambria Math" panose="02040503050406030204" pitchFamily="18" charset="0"/>
                      </a:rPr>
                      <m:t>128×626×1.</m:t>
                    </m:r>
                  </m:oMath>
                </a14:m>
                <a:endParaRPr lang="el-GR" dirty="0"/>
              </a:p>
              <a:p>
                <a:endParaRPr lang="el-GR" b="1" u="sng" dirty="0"/>
              </a:p>
            </p:txBody>
          </p:sp>
        </mc:Choice>
        <mc:Fallback xmlns="">
          <p:sp>
            <p:nvSpPr>
              <p:cNvPr id="6" name="TextBox 5">
                <a:extLst>
                  <a:ext uri="{FF2B5EF4-FFF2-40B4-BE49-F238E27FC236}">
                    <a16:creationId xmlns:a16="http://schemas.microsoft.com/office/drawing/2014/main" id="{44A12DF3-D674-D6DC-8897-F1869ECA066A}"/>
                  </a:ext>
                </a:extLst>
              </p:cNvPr>
              <p:cNvSpPr txBox="1">
                <a:spLocks noRot="1" noChangeAspect="1" noMove="1" noResize="1" noEditPoints="1" noAdjustHandles="1" noChangeArrowheads="1" noChangeShapeType="1" noTextEdit="1"/>
              </p:cNvSpPr>
              <p:nvPr/>
            </p:nvSpPr>
            <p:spPr>
              <a:xfrm>
                <a:off x="0" y="844512"/>
                <a:ext cx="5531665" cy="1477328"/>
              </a:xfrm>
              <a:prstGeom prst="rect">
                <a:avLst/>
              </a:prstGeom>
              <a:blipFill>
                <a:blip r:embed="rId3"/>
                <a:stretch>
                  <a:fillRect l="-662" t="-2066"/>
                </a:stretch>
              </a:blipFill>
            </p:spPr>
            <p:txBody>
              <a:bodyPr/>
              <a:lstStyle/>
              <a:p>
                <a:r>
                  <a:rPr lang="el-GR">
                    <a:noFill/>
                  </a:rPr>
                  <a:t> </a:t>
                </a:r>
              </a:p>
            </p:txBody>
          </p:sp>
        </mc:Fallback>
      </mc:AlternateContent>
      <p:sp>
        <p:nvSpPr>
          <p:cNvPr id="11" name="TextBox 10">
            <a:extLst>
              <a:ext uri="{FF2B5EF4-FFF2-40B4-BE49-F238E27FC236}">
                <a16:creationId xmlns:a16="http://schemas.microsoft.com/office/drawing/2014/main" id="{04B50B3C-DDE7-9C4C-91CC-A2B3C78DEBF0}"/>
              </a:ext>
            </a:extLst>
          </p:cNvPr>
          <p:cNvSpPr txBox="1"/>
          <p:nvPr/>
        </p:nvSpPr>
        <p:spPr>
          <a:xfrm>
            <a:off x="5916063" y="844512"/>
            <a:ext cx="6255944" cy="369332"/>
          </a:xfrm>
          <a:prstGeom prst="rect">
            <a:avLst/>
          </a:prstGeom>
          <a:noFill/>
        </p:spPr>
        <p:txBody>
          <a:bodyPr wrap="square" rtlCol="0">
            <a:spAutoFit/>
          </a:bodyPr>
          <a:lstStyle/>
          <a:p>
            <a:pPr algn="ctr"/>
            <a:r>
              <a:rPr lang="en-US" b="1" u="sng" dirty="0"/>
              <a:t>Architecture</a:t>
            </a:r>
            <a:endParaRPr lang="el-GR" b="1" u="sng" dirty="0"/>
          </a:p>
        </p:txBody>
      </p:sp>
      <p:sp>
        <p:nvSpPr>
          <p:cNvPr id="23" name="TextBox 22">
            <a:extLst>
              <a:ext uri="{FF2B5EF4-FFF2-40B4-BE49-F238E27FC236}">
                <a16:creationId xmlns:a16="http://schemas.microsoft.com/office/drawing/2014/main" id="{A1C7C7E8-3CF0-B93F-B26B-51D52FD5B486}"/>
              </a:ext>
            </a:extLst>
          </p:cNvPr>
          <p:cNvSpPr txBox="1"/>
          <p:nvPr/>
        </p:nvSpPr>
        <p:spPr>
          <a:xfrm>
            <a:off x="63149" y="3882375"/>
            <a:ext cx="5531666" cy="2862322"/>
          </a:xfrm>
          <a:prstGeom prst="rect">
            <a:avLst/>
          </a:prstGeom>
          <a:noFill/>
        </p:spPr>
        <p:txBody>
          <a:bodyPr wrap="square" rtlCol="0">
            <a:spAutoFit/>
          </a:bodyPr>
          <a:lstStyle/>
          <a:p>
            <a:pPr algn="ctr"/>
            <a:r>
              <a:rPr lang="en-US" b="1" u="sng" dirty="0"/>
              <a:t>Training</a:t>
            </a:r>
          </a:p>
          <a:p>
            <a:pPr marL="285750" indent="-285750">
              <a:buClr>
                <a:schemeClr val="accent1"/>
              </a:buClr>
              <a:buFont typeface="Wingdings" panose="05000000000000000000" pitchFamily="2" charset="2"/>
              <a:buChar char="§"/>
            </a:pPr>
            <a:r>
              <a:rPr lang="en-US" dirty="0"/>
              <a:t>Adam optimizer.</a:t>
            </a:r>
          </a:p>
          <a:p>
            <a:pPr marL="285750" indent="-285750">
              <a:buClr>
                <a:schemeClr val="accent1"/>
              </a:buClr>
              <a:buFont typeface="Wingdings" panose="05000000000000000000" pitchFamily="2" charset="2"/>
              <a:buChar char="§"/>
            </a:pPr>
            <a:r>
              <a:rPr lang="en-US" dirty="0"/>
              <a:t>Sparse categorical cross-entropy.</a:t>
            </a:r>
          </a:p>
          <a:p>
            <a:pPr marL="285750" indent="-285750">
              <a:buClr>
                <a:schemeClr val="accent1"/>
              </a:buClr>
              <a:buFont typeface="Wingdings" panose="05000000000000000000" pitchFamily="2" charset="2"/>
              <a:buChar char="§"/>
            </a:pPr>
            <a:r>
              <a:rPr lang="en-US" dirty="0"/>
              <a:t>Class weighting duo to the imbalance of the classes.</a:t>
            </a:r>
          </a:p>
          <a:p>
            <a:pPr marL="285750" indent="-285750">
              <a:buClr>
                <a:schemeClr val="accent1"/>
              </a:buClr>
              <a:buFont typeface="Wingdings" panose="05000000000000000000" pitchFamily="2" charset="2"/>
              <a:buChar char="§"/>
            </a:pPr>
            <a:r>
              <a:rPr lang="en-US" dirty="0"/>
              <a:t>A maximum of 50 epochs.</a:t>
            </a:r>
          </a:p>
          <a:p>
            <a:pPr marL="285750" indent="-285750">
              <a:buClr>
                <a:schemeClr val="accent1"/>
              </a:buClr>
              <a:buFont typeface="Wingdings" panose="05000000000000000000" pitchFamily="2" charset="2"/>
              <a:buChar char="§"/>
            </a:pPr>
            <a:r>
              <a:rPr lang="en-US" dirty="0"/>
              <a:t>Learning rate at 0.001.</a:t>
            </a:r>
          </a:p>
          <a:p>
            <a:pPr marL="285750" indent="-285750">
              <a:buClr>
                <a:schemeClr val="accent1"/>
              </a:buClr>
              <a:buFont typeface="Wingdings" panose="05000000000000000000" pitchFamily="2" charset="2"/>
              <a:buChar char="§"/>
            </a:pPr>
            <a:r>
              <a:rPr lang="en-US" dirty="0"/>
              <a:t>Learning rate reduction: factor 0.5 after 3 epochs without validation loss improvement.</a:t>
            </a:r>
          </a:p>
          <a:p>
            <a:pPr marL="285750" indent="-285750">
              <a:buClr>
                <a:schemeClr val="accent1"/>
              </a:buClr>
              <a:buFont typeface="Wingdings" panose="05000000000000000000" pitchFamily="2" charset="2"/>
              <a:buChar char="§"/>
            </a:pPr>
            <a:r>
              <a:rPr lang="en-US" dirty="0"/>
              <a:t>Early stopping: based on validation loss.</a:t>
            </a:r>
            <a:endParaRPr lang="el-GR" dirty="0"/>
          </a:p>
        </p:txBody>
      </p:sp>
      <p:sp>
        <p:nvSpPr>
          <p:cNvPr id="25" name="TextBox 24">
            <a:extLst>
              <a:ext uri="{FF2B5EF4-FFF2-40B4-BE49-F238E27FC236}">
                <a16:creationId xmlns:a16="http://schemas.microsoft.com/office/drawing/2014/main" id="{27695D3F-6AAF-05AA-14C8-1F3E4FE7E0E7}"/>
              </a:ext>
            </a:extLst>
          </p:cNvPr>
          <p:cNvSpPr txBox="1"/>
          <p:nvPr/>
        </p:nvSpPr>
        <p:spPr>
          <a:xfrm>
            <a:off x="6095999" y="5377059"/>
            <a:ext cx="5999429" cy="923330"/>
          </a:xfrm>
          <a:prstGeom prst="rect">
            <a:avLst/>
          </a:prstGeom>
          <a:noFill/>
        </p:spPr>
        <p:txBody>
          <a:bodyPr wrap="square" rtlCol="0">
            <a:spAutoFit/>
          </a:bodyPr>
          <a:lstStyle/>
          <a:p>
            <a:pPr algn="ctr"/>
            <a:r>
              <a:rPr lang="en-US" b="1" u="sng" dirty="0"/>
              <a:t>Output</a:t>
            </a:r>
          </a:p>
          <a:p>
            <a:pPr marL="285750" indent="-285750">
              <a:buClr>
                <a:schemeClr val="accent1"/>
              </a:buClr>
              <a:buFont typeface="Wingdings" panose="05000000000000000000" pitchFamily="2" charset="2"/>
              <a:buChar char="§"/>
            </a:pPr>
            <a:r>
              <a:rPr lang="en-US" dirty="0"/>
              <a:t>Probability distribution over 18 acoustic-event classes.</a:t>
            </a:r>
          </a:p>
          <a:p>
            <a:pPr marL="285750" indent="-285750">
              <a:buClr>
                <a:schemeClr val="accent1"/>
              </a:buClr>
              <a:buFont typeface="Wingdings" panose="05000000000000000000" pitchFamily="2" charset="2"/>
              <a:buChar char="§"/>
            </a:pPr>
            <a:r>
              <a:rPr lang="en-US" dirty="0"/>
              <a:t>Predicted class = highest-probability class</a:t>
            </a:r>
            <a:endParaRPr lang="el-GR" dirty="0"/>
          </a:p>
        </p:txBody>
      </p:sp>
      <p:pic>
        <p:nvPicPr>
          <p:cNvPr id="4" name="Εικόνα 3">
            <a:extLst>
              <a:ext uri="{FF2B5EF4-FFF2-40B4-BE49-F238E27FC236}">
                <a16:creationId xmlns:a16="http://schemas.microsoft.com/office/drawing/2014/main" id="{E4A08C46-6D96-55C9-C37B-8173F9E0CAED}"/>
              </a:ext>
            </a:extLst>
          </p:cNvPr>
          <p:cNvPicPr>
            <a:picLocks noChangeAspect="1"/>
          </p:cNvPicPr>
          <p:nvPr/>
        </p:nvPicPr>
        <p:blipFill>
          <a:blip r:embed="rId4"/>
          <a:stretch>
            <a:fillRect/>
          </a:stretch>
        </p:blipFill>
        <p:spPr>
          <a:xfrm>
            <a:off x="6300630" y="2955335"/>
            <a:ext cx="5393762" cy="2071361"/>
          </a:xfrm>
          <a:prstGeom prst="rect">
            <a:avLst/>
          </a:prstGeom>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4410B83C-453D-EB6D-BC5B-B380536A0FEA}"/>
                  </a:ext>
                </a:extLst>
              </p:cNvPr>
              <p:cNvSpPr txBox="1"/>
              <p:nvPr/>
            </p:nvSpPr>
            <p:spPr>
              <a:xfrm>
                <a:off x="5727575" y="1205102"/>
                <a:ext cx="7269931" cy="1569660"/>
              </a:xfrm>
              <a:prstGeom prst="rect">
                <a:avLst/>
              </a:prstGeom>
              <a:noFill/>
            </p:spPr>
            <p:txBody>
              <a:bodyPr wrap="square" rtlCol="0">
                <a:spAutoFit/>
              </a:bodyPr>
              <a:lstStyle/>
              <a:p>
                <a:r>
                  <a:rPr lang="en-US" sz="1600" dirty="0">
                    <a:solidFill>
                      <a:schemeClr val="tx1"/>
                    </a:solidFill>
                  </a:rPr>
                  <a:t>log-Mel </a:t>
                </a:r>
                <a14:m>
                  <m:oMath xmlns:m="http://schemas.openxmlformats.org/officeDocument/2006/math">
                    <m:r>
                      <a:rPr lang="en-US" sz="1600" b="0" i="1" smtClean="0">
                        <a:solidFill>
                          <a:schemeClr val="tx1"/>
                        </a:solidFill>
                        <a:latin typeface="Cambria Math" panose="02040503050406030204" pitchFamily="18" charset="0"/>
                      </a:rPr>
                      <m:t>→ </m:t>
                    </m:r>
                  </m:oMath>
                </a14:m>
                <a:r>
                  <a:rPr lang="en-US" sz="1600" dirty="0">
                    <a:solidFill>
                      <a:schemeClr val="tx1"/>
                    </a:solidFill>
                  </a:rPr>
                  <a:t>Conv2D blocks </a:t>
                </a:r>
                <a14:m>
                  <m:oMath xmlns:m="http://schemas.openxmlformats.org/officeDocument/2006/math">
                    <m:r>
                      <a:rPr lang="en-US" sz="1600" b="0" i="1" smtClean="0">
                        <a:solidFill>
                          <a:schemeClr val="tx1"/>
                        </a:solidFill>
                        <a:latin typeface="Cambria Math" panose="02040503050406030204" pitchFamily="18" charset="0"/>
                      </a:rPr>
                      <m:t>→</m:t>
                    </m:r>
                  </m:oMath>
                </a14:m>
                <a:r>
                  <a:rPr lang="en-US" sz="1600" dirty="0">
                    <a:solidFill>
                      <a:schemeClr val="tx1"/>
                    </a:solidFill>
                  </a:rPr>
                  <a:t> Global Average Pooling </a:t>
                </a:r>
                <a14:m>
                  <m:oMath xmlns:m="http://schemas.openxmlformats.org/officeDocument/2006/math">
                    <m:r>
                      <a:rPr lang="en-US" sz="1600" b="0" i="1" smtClean="0">
                        <a:solidFill>
                          <a:schemeClr val="tx1"/>
                        </a:solidFill>
                        <a:latin typeface="Cambria Math" panose="02040503050406030204" pitchFamily="18" charset="0"/>
                      </a:rPr>
                      <m:t>→</m:t>
                    </m:r>
                  </m:oMath>
                </a14:m>
                <a:r>
                  <a:rPr lang="en-US" sz="1600" dirty="0">
                    <a:solidFill>
                      <a:schemeClr val="tx1"/>
                    </a:solidFill>
                  </a:rPr>
                  <a:t> Dense </a:t>
                </a:r>
                <a14:m>
                  <m:oMath xmlns:m="http://schemas.openxmlformats.org/officeDocument/2006/math">
                    <m:r>
                      <a:rPr lang="en-US" sz="1600" b="0" i="1" smtClean="0">
                        <a:solidFill>
                          <a:schemeClr val="tx1"/>
                        </a:solidFill>
                        <a:latin typeface="Cambria Math" panose="02040503050406030204" pitchFamily="18" charset="0"/>
                      </a:rPr>
                      <m:t>→</m:t>
                    </m:r>
                  </m:oMath>
                </a14:m>
                <a:r>
                  <a:rPr lang="en-US" sz="1600" dirty="0">
                    <a:solidFill>
                      <a:schemeClr val="tx1"/>
                    </a:solidFill>
                  </a:rPr>
                  <a:t> Softmax</a:t>
                </a:r>
              </a:p>
              <a:p>
                <a:endParaRPr lang="en-US" sz="1600" dirty="0"/>
              </a:p>
              <a:p>
                <a:r>
                  <a:rPr lang="en-US" sz="1600" dirty="0"/>
                  <a:t>Each block contains:</a:t>
                </a:r>
              </a:p>
              <a:p>
                <a:pPr marL="285750" indent="-285750">
                  <a:buClr>
                    <a:schemeClr val="accent1"/>
                  </a:buClr>
                  <a:buFont typeface="Wingdings" panose="05000000000000000000" pitchFamily="2" charset="2"/>
                  <a:buChar char="§"/>
                </a:pPr>
                <a:r>
                  <a:rPr lang="en-US" sz="1600" dirty="0"/>
                  <a:t> </a:t>
                </a:r>
                <a14:m>
                  <m:oMath xmlns:m="http://schemas.openxmlformats.org/officeDocument/2006/math">
                    <m:r>
                      <a:rPr lang="en-US" sz="1600" b="0" i="1" smtClean="0">
                        <a:latin typeface="Cambria Math" panose="02040503050406030204" pitchFamily="18" charset="0"/>
                      </a:rPr>
                      <m:t>3×3</m:t>
                    </m:r>
                  </m:oMath>
                </a14:m>
                <a:r>
                  <a:rPr lang="en-US" sz="1600" dirty="0"/>
                  <a:t> convolution.</a:t>
                </a:r>
              </a:p>
              <a:p>
                <a:pPr marL="285750" indent="-285750">
                  <a:buClr>
                    <a:schemeClr val="accent1"/>
                  </a:buClr>
                  <a:buFont typeface="Wingdings" panose="05000000000000000000" pitchFamily="2" charset="2"/>
                  <a:buChar char="§"/>
                </a:pPr>
                <a:r>
                  <a:rPr lang="en-US" sz="1600" dirty="0"/>
                  <a:t>Batch Normalization + ReLU.</a:t>
                </a:r>
              </a:p>
              <a:p>
                <a:pPr marL="285750" indent="-285750">
                  <a:buClr>
                    <a:schemeClr val="accent1"/>
                  </a:buClr>
                  <a:buFont typeface="Wingdings" panose="05000000000000000000" pitchFamily="2" charset="2"/>
                  <a:buChar char="§"/>
                </a:pPr>
                <a14:m>
                  <m:oMath xmlns:m="http://schemas.openxmlformats.org/officeDocument/2006/math">
                    <m:r>
                      <a:rPr lang="en-US" sz="1600" b="0" i="1" smtClean="0">
                        <a:latin typeface="Cambria Math" panose="02040503050406030204" pitchFamily="18" charset="0"/>
                      </a:rPr>
                      <m:t>2×2</m:t>
                    </m:r>
                  </m:oMath>
                </a14:m>
                <a:r>
                  <a:rPr lang="en-US" sz="1600" dirty="0"/>
                  <a:t> Max Pooling in Blocks 1-3.</a:t>
                </a:r>
                <a:endParaRPr lang="el-GR" sz="1600" dirty="0"/>
              </a:p>
            </p:txBody>
          </p:sp>
        </mc:Choice>
        <mc:Fallback xmlns="">
          <p:sp>
            <p:nvSpPr>
              <p:cNvPr id="10" name="TextBox 9">
                <a:extLst>
                  <a:ext uri="{FF2B5EF4-FFF2-40B4-BE49-F238E27FC236}">
                    <a16:creationId xmlns:a16="http://schemas.microsoft.com/office/drawing/2014/main" id="{4410B83C-453D-EB6D-BC5B-B380536A0FEA}"/>
                  </a:ext>
                </a:extLst>
              </p:cNvPr>
              <p:cNvSpPr txBox="1">
                <a:spLocks noRot="1" noChangeAspect="1" noMove="1" noResize="1" noEditPoints="1" noAdjustHandles="1" noChangeArrowheads="1" noChangeShapeType="1" noTextEdit="1"/>
              </p:cNvSpPr>
              <p:nvPr/>
            </p:nvSpPr>
            <p:spPr>
              <a:xfrm>
                <a:off x="5727575" y="1205102"/>
                <a:ext cx="7269931" cy="1569660"/>
              </a:xfrm>
              <a:prstGeom prst="rect">
                <a:avLst/>
              </a:prstGeom>
              <a:blipFill>
                <a:blip r:embed="rId5"/>
                <a:stretch>
                  <a:fillRect l="-503" t="-1167" b="-4280"/>
                </a:stretch>
              </a:blipFill>
            </p:spPr>
            <p:txBody>
              <a:bodyPr/>
              <a:lstStyle/>
              <a:p>
                <a:r>
                  <a:rPr lang="el-GR">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751673DB-8849-DFB5-37F7-AEAA96575B25}"/>
                  </a:ext>
                </a:extLst>
              </p:cNvPr>
              <p:cNvSpPr txBox="1"/>
              <p:nvPr/>
            </p:nvSpPr>
            <p:spPr>
              <a:xfrm>
                <a:off x="9119856" y="1955814"/>
                <a:ext cx="3215990" cy="307777"/>
              </a:xfrm>
              <a:prstGeom prst="rect">
                <a:avLst/>
              </a:prstGeom>
              <a:noFill/>
            </p:spPr>
            <p:txBody>
              <a:bodyPr wrap="square" rtlCol="0">
                <a:spAutoFit/>
              </a:bodyPr>
              <a:lstStyle/>
              <a:p>
                <a:r>
                  <a:rPr lang="en-US" sz="1400" dirty="0"/>
                  <a:t>Feature maps: </a:t>
                </a:r>
                <a14:m>
                  <m:oMath xmlns:m="http://schemas.openxmlformats.org/officeDocument/2006/math">
                    <m:r>
                      <a:rPr lang="en-US" sz="1400" b="0" i="1" smtClean="0">
                        <a:latin typeface="Cambria Math" panose="02040503050406030204" pitchFamily="18" charset="0"/>
                      </a:rPr>
                      <m:t>32</m:t>
                    </m:r>
                    <m:r>
                      <a:rPr lang="el-GR" sz="1400" b="0" i="1" smtClean="0">
                        <a:latin typeface="Cambria Math" panose="02040503050406030204" pitchFamily="18" charset="0"/>
                      </a:rPr>
                      <m:t>→</m:t>
                    </m:r>
                    <m:r>
                      <a:rPr lang="en-US" sz="1400" b="0" i="1" smtClean="0">
                        <a:latin typeface="Cambria Math" panose="02040503050406030204" pitchFamily="18" charset="0"/>
                      </a:rPr>
                      <m:t>64</m:t>
                    </m:r>
                    <m:r>
                      <a:rPr lang="el-GR" sz="1400" b="0" i="1" smtClean="0">
                        <a:latin typeface="Cambria Math" panose="02040503050406030204" pitchFamily="18" charset="0"/>
                      </a:rPr>
                      <m:t>→</m:t>
                    </m:r>
                    <m:r>
                      <a:rPr lang="en-US" sz="1400" b="0" i="1" smtClean="0">
                        <a:latin typeface="Cambria Math" panose="02040503050406030204" pitchFamily="18" charset="0"/>
                      </a:rPr>
                      <m:t>128</m:t>
                    </m:r>
                    <m:r>
                      <a:rPr lang="el-GR" sz="1400" b="0" i="1" smtClean="0">
                        <a:latin typeface="Cambria Math" panose="02040503050406030204" pitchFamily="18" charset="0"/>
                      </a:rPr>
                      <m:t>→</m:t>
                    </m:r>
                    <m:r>
                      <a:rPr lang="en-US" sz="1400" b="0" i="1" smtClean="0">
                        <a:latin typeface="Cambria Math" panose="02040503050406030204" pitchFamily="18" charset="0"/>
                      </a:rPr>
                      <m:t>256 </m:t>
                    </m:r>
                  </m:oMath>
                </a14:m>
                <a:r>
                  <a:rPr lang="en-US" sz="1400" dirty="0"/>
                  <a:t> </a:t>
                </a:r>
                <a:endParaRPr lang="el-GR" sz="1400" dirty="0"/>
              </a:p>
            </p:txBody>
          </p:sp>
        </mc:Choice>
        <mc:Fallback xmlns="">
          <p:sp>
            <p:nvSpPr>
              <p:cNvPr id="15" name="TextBox 14">
                <a:extLst>
                  <a:ext uri="{FF2B5EF4-FFF2-40B4-BE49-F238E27FC236}">
                    <a16:creationId xmlns:a16="http://schemas.microsoft.com/office/drawing/2014/main" id="{751673DB-8849-DFB5-37F7-AEAA96575B25}"/>
                  </a:ext>
                </a:extLst>
              </p:cNvPr>
              <p:cNvSpPr txBox="1">
                <a:spLocks noRot="1" noChangeAspect="1" noMove="1" noResize="1" noEditPoints="1" noAdjustHandles="1" noChangeArrowheads="1" noChangeShapeType="1" noTextEdit="1"/>
              </p:cNvSpPr>
              <p:nvPr/>
            </p:nvSpPr>
            <p:spPr>
              <a:xfrm>
                <a:off x="9119856" y="1955814"/>
                <a:ext cx="3215990" cy="307777"/>
              </a:xfrm>
              <a:prstGeom prst="rect">
                <a:avLst/>
              </a:prstGeom>
              <a:blipFill>
                <a:blip r:embed="rId6"/>
                <a:stretch>
                  <a:fillRect l="-568" t="-4000" b="-20000"/>
                </a:stretch>
              </a:blipFill>
            </p:spPr>
            <p:txBody>
              <a:bodyPr/>
              <a:lstStyle/>
              <a:p>
                <a:r>
                  <a:rPr lang="el-GR">
                    <a:noFill/>
                  </a:rPr>
                  <a:t> </a:t>
                </a:r>
              </a:p>
            </p:txBody>
          </p:sp>
        </mc:Fallback>
      </mc:AlternateContent>
      <p:sp>
        <p:nvSpPr>
          <p:cNvPr id="16" name="Βέλος: Δεξιό 15">
            <a:extLst>
              <a:ext uri="{FF2B5EF4-FFF2-40B4-BE49-F238E27FC236}">
                <a16:creationId xmlns:a16="http://schemas.microsoft.com/office/drawing/2014/main" id="{7F2579A5-DEB7-9FC4-8AF1-E32560060D25}"/>
              </a:ext>
            </a:extLst>
          </p:cNvPr>
          <p:cNvSpPr/>
          <p:nvPr/>
        </p:nvSpPr>
        <p:spPr>
          <a:xfrm>
            <a:off x="8509880" y="1989932"/>
            <a:ext cx="534155" cy="239543"/>
          </a:xfrm>
          <a:prstGeom prst="rightArrow">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l-GR"/>
          </a:p>
        </p:txBody>
      </p:sp>
    </p:spTree>
    <p:extLst>
      <p:ext uri="{BB962C8B-B14F-4D97-AF65-F5344CB8AC3E}">
        <p14:creationId xmlns:p14="http://schemas.microsoft.com/office/powerpoint/2010/main" val="36065142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DBC335E5-3D6B-B007-4D9A-87F7A82A43C4}"/>
              </a:ext>
            </a:extLst>
          </p:cNvPr>
          <p:cNvSpPr txBox="1"/>
          <p:nvPr/>
        </p:nvSpPr>
        <p:spPr>
          <a:xfrm>
            <a:off x="198879" y="934003"/>
            <a:ext cx="5410417" cy="400110"/>
          </a:xfrm>
          <a:prstGeom prst="rect">
            <a:avLst/>
          </a:prstGeom>
          <a:noFill/>
        </p:spPr>
        <p:txBody>
          <a:bodyPr wrap="square" rtlCol="0">
            <a:spAutoFit/>
          </a:bodyPr>
          <a:lstStyle/>
          <a:p>
            <a:pPr algn="ctr">
              <a:buClr>
                <a:schemeClr val="accent1">
                  <a:lumMod val="75000"/>
                </a:schemeClr>
              </a:buClr>
            </a:pPr>
            <a:r>
              <a:rPr lang="en-US" sz="2000" b="1" u="sng" dirty="0"/>
              <a:t>Separation Performance Metrics</a:t>
            </a:r>
            <a:endParaRPr lang="el-GR" sz="2000" b="1" u="sng" dirty="0"/>
          </a:p>
        </p:txBody>
      </p:sp>
      <p:sp>
        <p:nvSpPr>
          <p:cNvPr id="15" name="Ορθογώνιο: Στρογγύλεμα διαγώνιων γωνιών 14">
            <a:extLst>
              <a:ext uri="{FF2B5EF4-FFF2-40B4-BE49-F238E27FC236}">
                <a16:creationId xmlns:a16="http://schemas.microsoft.com/office/drawing/2014/main" id="{6A2D55E2-9F4C-8A89-9A75-E6BA94D71CCF}"/>
              </a:ext>
            </a:extLst>
          </p:cNvPr>
          <p:cNvSpPr/>
          <p:nvPr/>
        </p:nvSpPr>
        <p:spPr>
          <a:xfrm>
            <a:off x="497607" y="125778"/>
            <a:ext cx="11196786" cy="707886"/>
          </a:xfrm>
          <a:prstGeom prst="round2Diag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t>Evaluation Metrics</a:t>
            </a:r>
            <a:endParaRPr lang="el-GR" sz="3200" b="1" dirty="0"/>
          </a:p>
        </p:txBody>
      </p:sp>
      <p:cxnSp>
        <p:nvCxnSpPr>
          <p:cNvPr id="2" name="Ευθεία γραμμή σύνδεσης 1">
            <a:extLst>
              <a:ext uri="{FF2B5EF4-FFF2-40B4-BE49-F238E27FC236}">
                <a16:creationId xmlns:a16="http://schemas.microsoft.com/office/drawing/2014/main" id="{B5B66112-E9EF-A7E6-26B4-D0E493446FC3}"/>
              </a:ext>
            </a:extLst>
          </p:cNvPr>
          <p:cNvCxnSpPr>
            <a:cxnSpLocks/>
          </p:cNvCxnSpPr>
          <p:nvPr/>
        </p:nvCxnSpPr>
        <p:spPr>
          <a:xfrm>
            <a:off x="5751968" y="934003"/>
            <a:ext cx="0" cy="5837358"/>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CED5C3E-5177-AD59-D1EE-B60C174CDBFB}"/>
              </a:ext>
            </a:extLst>
          </p:cNvPr>
          <p:cNvSpPr txBox="1"/>
          <p:nvPr/>
        </p:nvSpPr>
        <p:spPr>
          <a:xfrm>
            <a:off x="5751968" y="934003"/>
            <a:ext cx="5410417" cy="400110"/>
          </a:xfrm>
          <a:prstGeom prst="rect">
            <a:avLst/>
          </a:prstGeom>
          <a:noFill/>
        </p:spPr>
        <p:txBody>
          <a:bodyPr wrap="square" rtlCol="0">
            <a:spAutoFit/>
          </a:bodyPr>
          <a:lstStyle/>
          <a:p>
            <a:pPr algn="ctr">
              <a:buClr>
                <a:schemeClr val="accent1">
                  <a:lumMod val="75000"/>
                </a:schemeClr>
              </a:buClr>
            </a:pPr>
            <a:r>
              <a:rPr lang="en-US" sz="2000" b="1" u="sng" dirty="0"/>
              <a:t>Classification Metrics</a:t>
            </a:r>
            <a:endParaRPr lang="el-GR" sz="2000" b="1" u="sng" dirty="0"/>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1920BA14-80D0-7EB7-4238-433EA8641649}"/>
                  </a:ext>
                </a:extLst>
              </p:cNvPr>
              <p:cNvSpPr txBox="1"/>
              <p:nvPr/>
            </p:nvSpPr>
            <p:spPr>
              <a:xfrm>
                <a:off x="134562" y="2248660"/>
                <a:ext cx="5611775" cy="4489049"/>
              </a:xfrm>
              <a:prstGeom prst="rect">
                <a:avLst/>
              </a:prstGeom>
              <a:noFill/>
            </p:spPr>
            <p:txBody>
              <a:bodyPr wrap="square">
                <a:spAutoFit/>
              </a:bodyPr>
              <a:lstStyle/>
              <a:p>
                <a:pPr marL="342900" indent="-342900">
                  <a:buClr>
                    <a:schemeClr val="accent1">
                      <a:lumMod val="75000"/>
                    </a:schemeClr>
                  </a:buClr>
                  <a:buFont typeface="Arial" panose="020B0604020202020204" pitchFamily="34" charset="0"/>
                  <a:buChar char="•"/>
                </a:pPr>
                <a:r>
                  <a:rPr lang="en-US" sz="2000" b="1" dirty="0"/>
                  <a:t>SDR</a:t>
                </a:r>
                <a:r>
                  <a:rPr lang="en-US" b="1" dirty="0"/>
                  <a:t>: </a:t>
                </a:r>
                <a:r>
                  <a:rPr lang="en-US" dirty="0"/>
                  <a:t>Serves as a global performance measure for the overall separation quality.</a:t>
                </a:r>
              </a:p>
              <a:p>
                <a:pPr>
                  <a:buClr>
                    <a:schemeClr val="accent1">
                      <a:lumMod val="75000"/>
                    </a:schemeClr>
                  </a:buClr>
                </a:pPr>
                <a:endParaRPr lang="el-GR" dirty="0"/>
              </a:p>
              <a:p>
                <a:pPr>
                  <a:buClr>
                    <a:schemeClr val="accent1">
                      <a:lumMod val="75000"/>
                    </a:schemeClr>
                  </a:buClr>
                </a:pPr>
                <a14:m>
                  <m:oMathPara xmlns:m="http://schemas.openxmlformats.org/officeDocument/2006/math">
                    <m:oMathParaPr>
                      <m:jc m:val="center"/>
                    </m:oMathParaPr>
                    <m:oMath>
                      <m:r>
                        <a:rPr lang="pt-BR" sz="1200" b="1" i="1" smtClean="0">
                          <a:latin typeface="Cambria Math" panose="02040503050406030204" pitchFamily="18" charset="0"/>
                        </a:rPr>
                        <m:t>𝑺𝑫𝑹</m:t>
                      </m:r>
                      <m:r>
                        <a:rPr lang="pt-BR" sz="1200" b="1" i="1" smtClean="0">
                          <a:latin typeface="Cambria Math" panose="02040503050406030204" pitchFamily="18" charset="0"/>
                        </a:rPr>
                        <m:t>=10</m:t>
                      </m:r>
                      <m:r>
                        <a:rPr lang="pt-BR" sz="1200" b="0" i="1" smtClean="0">
                          <a:latin typeface="Cambria Math" panose="02040503050406030204" pitchFamily="18" charset="0"/>
                        </a:rPr>
                        <m:t>𝑙𝑜</m:t>
                      </m:r>
                      <m:sSub>
                        <m:sSubPr>
                          <m:ctrlPr>
                            <a:rPr lang="pt-BR" sz="1200" b="0" i="1" smtClean="0">
                              <a:latin typeface="Cambria Math" panose="02040503050406030204" pitchFamily="18" charset="0"/>
                            </a:rPr>
                          </m:ctrlPr>
                        </m:sSubPr>
                        <m:e>
                          <m:r>
                            <a:rPr lang="pt-BR" sz="1200" b="0" i="1" smtClean="0">
                              <a:latin typeface="Cambria Math" panose="02040503050406030204" pitchFamily="18" charset="0"/>
                            </a:rPr>
                            <m:t>𝑔</m:t>
                          </m:r>
                        </m:e>
                        <m:sub>
                          <m:r>
                            <a:rPr lang="pt-BR" sz="1200" b="0" i="1" smtClean="0">
                              <a:latin typeface="Cambria Math" panose="02040503050406030204" pitchFamily="18" charset="0"/>
                            </a:rPr>
                            <m:t>10</m:t>
                          </m:r>
                        </m:sub>
                      </m:sSub>
                      <m:f>
                        <m:fPr>
                          <m:ctrlPr>
                            <a:rPr lang="pt-BR" sz="1200" b="0" i="1" smtClean="0">
                              <a:latin typeface="Cambria Math" panose="02040503050406030204" pitchFamily="18" charset="0"/>
                            </a:rPr>
                          </m:ctrlPr>
                        </m:fPr>
                        <m:num>
                          <m:sSup>
                            <m:sSupPr>
                              <m:ctrlPr>
                                <a:rPr lang="pt-BR" sz="1200" b="0" i="1" smtClean="0">
                                  <a:latin typeface="Cambria Math" panose="02040503050406030204" pitchFamily="18" charset="0"/>
                                </a:rPr>
                              </m:ctrlPr>
                            </m:sSupPr>
                            <m:e>
                              <m:d>
                                <m:dPr>
                                  <m:begChr m:val="‖"/>
                                  <m:endChr m:val="‖"/>
                                  <m:ctrlPr>
                                    <a:rPr lang="pt-BR" sz="1200" b="0" i="1" smtClean="0">
                                      <a:latin typeface="Cambria Math" panose="02040503050406030204" pitchFamily="18" charset="0"/>
                                    </a:rPr>
                                  </m:ctrlPr>
                                </m:dPr>
                                <m:e>
                                  <m:sSub>
                                    <m:sSubPr>
                                      <m:ctrlPr>
                                        <a:rPr lang="pt-BR" sz="1200" b="0" i="1" smtClean="0">
                                          <a:latin typeface="Cambria Math" panose="02040503050406030204" pitchFamily="18" charset="0"/>
                                        </a:rPr>
                                      </m:ctrlPr>
                                    </m:sSubPr>
                                    <m:e>
                                      <m:r>
                                        <a:rPr lang="pt-BR" sz="1200" b="0" i="1" smtClean="0">
                                          <a:latin typeface="Cambria Math" panose="02040503050406030204" pitchFamily="18" charset="0"/>
                                        </a:rPr>
                                        <m:t>𝑠</m:t>
                                      </m:r>
                                    </m:e>
                                    <m:sub>
                                      <m:r>
                                        <a:rPr lang="pt-BR" sz="1200" b="0" i="1" smtClean="0">
                                          <a:latin typeface="Cambria Math" panose="02040503050406030204" pitchFamily="18" charset="0"/>
                                        </a:rPr>
                                        <m:t>𝑡𝑎𝑟𝑔𝑒𝑡</m:t>
                                      </m:r>
                                    </m:sub>
                                  </m:sSub>
                                </m:e>
                              </m:d>
                            </m:e>
                            <m:sup>
                              <m:r>
                                <a:rPr lang="pt-BR" sz="1200" b="0" i="1" smtClean="0">
                                  <a:latin typeface="Cambria Math" panose="02040503050406030204" pitchFamily="18" charset="0"/>
                                </a:rPr>
                                <m:t>2</m:t>
                              </m:r>
                            </m:sup>
                          </m:sSup>
                        </m:num>
                        <m:den>
                          <m:sSup>
                            <m:sSupPr>
                              <m:ctrlPr>
                                <a:rPr lang="pt-BR" sz="1200" b="0" i="1" smtClean="0">
                                  <a:latin typeface="Cambria Math" panose="02040503050406030204" pitchFamily="18" charset="0"/>
                                </a:rPr>
                              </m:ctrlPr>
                            </m:sSupPr>
                            <m:e>
                              <m:d>
                                <m:dPr>
                                  <m:begChr m:val="‖"/>
                                  <m:endChr m:val="‖"/>
                                  <m:ctrlPr>
                                    <a:rPr lang="pt-BR" sz="1200" b="0" i="1" smtClean="0">
                                      <a:latin typeface="Cambria Math" panose="02040503050406030204" pitchFamily="18" charset="0"/>
                                    </a:rPr>
                                  </m:ctrlPr>
                                </m:dPr>
                                <m:e>
                                  <m:sSub>
                                    <m:sSubPr>
                                      <m:ctrlPr>
                                        <a:rPr lang="pt-BR" sz="1200" b="0" i="1" smtClean="0">
                                          <a:latin typeface="Cambria Math" panose="02040503050406030204" pitchFamily="18" charset="0"/>
                                        </a:rPr>
                                      </m:ctrlPr>
                                    </m:sSubPr>
                                    <m:e>
                                      <m:r>
                                        <a:rPr lang="pt-BR" sz="1200" b="0" i="1" smtClean="0">
                                          <a:latin typeface="Cambria Math" panose="02040503050406030204" pitchFamily="18" charset="0"/>
                                        </a:rPr>
                                        <m:t>𝑒</m:t>
                                      </m:r>
                                    </m:e>
                                    <m:sub>
                                      <m:r>
                                        <a:rPr lang="pt-BR" sz="1200" b="0" i="1" smtClean="0">
                                          <a:latin typeface="Cambria Math" panose="02040503050406030204" pitchFamily="18" charset="0"/>
                                        </a:rPr>
                                        <m:t>𝑖𝑛𝑡𝑒𝑟𝑓</m:t>
                                      </m:r>
                                    </m:sub>
                                  </m:sSub>
                                  <m:r>
                                    <a:rPr lang="pt-BR" sz="1200" b="0" i="1" smtClean="0">
                                      <a:latin typeface="Cambria Math" panose="02040503050406030204" pitchFamily="18" charset="0"/>
                                    </a:rPr>
                                    <m:t>+</m:t>
                                  </m:r>
                                  <m:sSub>
                                    <m:sSubPr>
                                      <m:ctrlPr>
                                        <a:rPr lang="pt-BR" sz="1200" b="0" i="1" smtClean="0">
                                          <a:latin typeface="Cambria Math" panose="02040503050406030204" pitchFamily="18" charset="0"/>
                                        </a:rPr>
                                      </m:ctrlPr>
                                    </m:sSubPr>
                                    <m:e>
                                      <m:r>
                                        <a:rPr lang="pt-BR" sz="1200" b="0" i="1" smtClean="0">
                                          <a:latin typeface="Cambria Math" panose="02040503050406030204" pitchFamily="18" charset="0"/>
                                        </a:rPr>
                                        <m:t>𝑒</m:t>
                                      </m:r>
                                    </m:e>
                                    <m:sub>
                                      <m:r>
                                        <a:rPr lang="pt-BR" sz="1200" b="0" i="1" smtClean="0">
                                          <a:latin typeface="Cambria Math" panose="02040503050406030204" pitchFamily="18" charset="0"/>
                                        </a:rPr>
                                        <m:t>𝑛𝑜𝑖𝑠𝑒</m:t>
                                      </m:r>
                                    </m:sub>
                                  </m:sSub>
                                  <m:r>
                                    <a:rPr lang="pt-BR" sz="1200" b="0" i="1" smtClean="0">
                                      <a:latin typeface="Cambria Math" panose="02040503050406030204" pitchFamily="18" charset="0"/>
                                    </a:rPr>
                                    <m:t>+</m:t>
                                  </m:r>
                                  <m:sSub>
                                    <m:sSubPr>
                                      <m:ctrlPr>
                                        <a:rPr lang="pt-BR" sz="1200" b="0" i="1" smtClean="0">
                                          <a:latin typeface="Cambria Math" panose="02040503050406030204" pitchFamily="18" charset="0"/>
                                        </a:rPr>
                                      </m:ctrlPr>
                                    </m:sSubPr>
                                    <m:e>
                                      <m:r>
                                        <a:rPr lang="pt-BR" sz="1200" b="0" i="1" smtClean="0">
                                          <a:latin typeface="Cambria Math" panose="02040503050406030204" pitchFamily="18" charset="0"/>
                                        </a:rPr>
                                        <m:t>𝑒</m:t>
                                      </m:r>
                                    </m:e>
                                    <m:sub>
                                      <m:r>
                                        <a:rPr lang="pt-BR" sz="1200" b="0" i="1" smtClean="0">
                                          <a:latin typeface="Cambria Math" panose="02040503050406030204" pitchFamily="18" charset="0"/>
                                        </a:rPr>
                                        <m:t>𝑎𝑟𝑡𝑖𝑓</m:t>
                                      </m:r>
                                    </m:sub>
                                  </m:sSub>
                                </m:e>
                              </m:d>
                            </m:e>
                            <m:sup>
                              <m:r>
                                <a:rPr lang="pt-BR" sz="1200" b="0" i="1" smtClean="0">
                                  <a:latin typeface="Cambria Math" panose="02040503050406030204" pitchFamily="18" charset="0"/>
                                </a:rPr>
                                <m:t>2</m:t>
                              </m:r>
                            </m:sup>
                          </m:sSup>
                        </m:den>
                      </m:f>
                    </m:oMath>
                  </m:oMathPara>
                </a14:m>
                <a:endParaRPr lang="el-GR" sz="1200" b="1" dirty="0"/>
              </a:p>
              <a:p>
                <a:pPr>
                  <a:buClr>
                    <a:schemeClr val="accent1">
                      <a:lumMod val="75000"/>
                    </a:schemeClr>
                  </a:buClr>
                </a:pPr>
                <a:endParaRPr lang="en-US" sz="1200" b="1" dirty="0"/>
              </a:p>
              <a:p>
                <a:pPr marL="342900" indent="-342900">
                  <a:buClr>
                    <a:schemeClr val="accent1">
                      <a:lumMod val="75000"/>
                    </a:schemeClr>
                  </a:buClr>
                  <a:buFont typeface="Arial" panose="020B0604020202020204" pitchFamily="34" charset="0"/>
                  <a:buChar char="•"/>
                </a:pPr>
                <a:r>
                  <a:rPr lang="en-US" b="1" dirty="0"/>
                  <a:t>S</a:t>
                </a:r>
                <a:r>
                  <a:rPr lang="el-GR" b="1" dirty="0"/>
                  <a:t>Ν</a:t>
                </a:r>
                <a:r>
                  <a:rPr lang="en-US" b="1" dirty="0"/>
                  <a:t>R:</a:t>
                </a:r>
                <a:r>
                  <a:rPr lang="el-GR" b="1" dirty="0"/>
                  <a:t> </a:t>
                </a:r>
                <a:r>
                  <a:rPr lang="en-US" dirty="0"/>
                  <a:t>Quantifies the amount of noise in the estimated signal.</a:t>
                </a:r>
              </a:p>
              <a:p>
                <a:pPr>
                  <a:buClr>
                    <a:schemeClr val="accent1">
                      <a:lumMod val="75000"/>
                    </a:schemeClr>
                  </a:buClr>
                </a:pPr>
                <a:endParaRPr lang="en-US" dirty="0"/>
              </a:p>
              <a:p>
                <a:pPr>
                  <a:buClr>
                    <a:schemeClr val="accent1">
                      <a:lumMod val="75000"/>
                    </a:schemeClr>
                  </a:buClr>
                </a:pPr>
                <a14:m>
                  <m:oMathPara xmlns:m="http://schemas.openxmlformats.org/officeDocument/2006/math">
                    <m:oMathParaPr>
                      <m:jc m:val="center"/>
                    </m:oMathParaPr>
                    <m:oMath>
                      <m:r>
                        <a:rPr lang="pt-BR" sz="1200" b="1" i="1" smtClean="0">
                          <a:latin typeface="Cambria Math" panose="02040503050406030204" pitchFamily="18" charset="0"/>
                        </a:rPr>
                        <m:t>𝑺</m:t>
                      </m:r>
                      <m:r>
                        <a:rPr lang="en-US" sz="1200" b="1" i="1" smtClean="0">
                          <a:latin typeface="Cambria Math" panose="02040503050406030204" pitchFamily="18" charset="0"/>
                        </a:rPr>
                        <m:t>𝑵</m:t>
                      </m:r>
                      <m:r>
                        <a:rPr lang="pt-BR" sz="1200" b="1" i="1" smtClean="0">
                          <a:latin typeface="Cambria Math" panose="02040503050406030204" pitchFamily="18" charset="0"/>
                        </a:rPr>
                        <m:t>𝑹</m:t>
                      </m:r>
                      <m:r>
                        <a:rPr lang="pt-BR" sz="1200" b="1" i="1" smtClean="0">
                          <a:latin typeface="Cambria Math" panose="02040503050406030204" pitchFamily="18" charset="0"/>
                        </a:rPr>
                        <m:t>=10</m:t>
                      </m:r>
                      <m:r>
                        <a:rPr lang="pt-BR" sz="1200" b="0" i="1" smtClean="0">
                          <a:latin typeface="Cambria Math" panose="02040503050406030204" pitchFamily="18" charset="0"/>
                        </a:rPr>
                        <m:t>𝑙𝑜</m:t>
                      </m:r>
                      <m:sSub>
                        <m:sSubPr>
                          <m:ctrlPr>
                            <a:rPr lang="pt-BR" sz="1200" b="0" i="1" smtClean="0">
                              <a:latin typeface="Cambria Math" panose="02040503050406030204" pitchFamily="18" charset="0"/>
                            </a:rPr>
                          </m:ctrlPr>
                        </m:sSubPr>
                        <m:e>
                          <m:r>
                            <a:rPr lang="pt-BR" sz="1200" b="0" i="1" smtClean="0">
                              <a:latin typeface="Cambria Math" panose="02040503050406030204" pitchFamily="18" charset="0"/>
                            </a:rPr>
                            <m:t>𝑔</m:t>
                          </m:r>
                        </m:e>
                        <m:sub>
                          <m:r>
                            <a:rPr lang="pt-BR" sz="1200" b="0" i="1" smtClean="0">
                              <a:latin typeface="Cambria Math" panose="02040503050406030204" pitchFamily="18" charset="0"/>
                            </a:rPr>
                            <m:t>10</m:t>
                          </m:r>
                        </m:sub>
                      </m:sSub>
                      <m:f>
                        <m:fPr>
                          <m:ctrlPr>
                            <a:rPr lang="pt-BR" sz="1200" b="0" i="1" smtClean="0">
                              <a:latin typeface="Cambria Math" panose="02040503050406030204" pitchFamily="18" charset="0"/>
                            </a:rPr>
                          </m:ctrlPr>
                        </m:fPr>
                        <m:num>
                          <m:sSup>
                            <m:sSupPr>
                              <m:ctrlPr>
                                <a:rPr lang="pt-BR" sz="1200" b="0" i="1" smtClean="0">
                                  <a:latin typeface="Cambria Math" panose="02040503050406030204" pitchFamily="18" charset="0"/>
                                </a:rPr>
                              </m:ctrlPr>
                            </m:sSupPr>
                            <m:e>
                              <m:d>
                                <m:dPr>
                                  <m:begChr m:val="‖"/>
                                  <m:endChr m:val="‖"/>
                                  <m:ctrlPr>
                                    <a:rPr lang="pt-BR" sz="1200" b="0" i="1" smtClean="0">
                                      <a:latin typeface="Cambria Math" panose="02040503050406030204" pitchFamily="18" charset="0"/>
                                    </a:rPr>
                                  </m:ctrlPr>
                                </m:dPr>
                                <m:e>
                                  <m:sSub>
                                    <m:sSubPr>
                                      <m:ctrlPr>
                                        <a:rPr lang="pt-BR" sz="1200" b="0" i="1" smtClean="0">
                                          <a:latin typeface="Cambria Math" panose="02040503050406030204" pitchFamily="18" charset="0"/>
                                        </a:rPr>
                                      </m:ctrlPr>
                                    </m:sSubPr>
                                    <m:e>
                                      <m:r>
                                        <a:rPr lang="pt-BR" sz="1200" b="0" i="1" smtClean="0">
                                          <a:latin typeface="Cambria Math" panose="02040503050406030204" pitchFamily="18" charset="0"/>
                                        </a:rPr>
                                        <m:t>𝑠</m:t>
                                      </m:r>
                                    </m:e>
                                    <m:sub>
                                      <m:r>
                                        <a:rPr lang="pt-BR" sz="1200" b="0" i="1" smtClean="0">
                                          <a:latin typeface="Cambria Math" panose="02040503050406030204" pitchFamily="18" charset="0"/>
                                        </a:rPr>
                                        <m:t>𝑡𝑎𝑟𝑔𝑒𝑡</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𝑒</m:t>
                                      </m:r>
                                    </m:e>
                                    <m:sub>
                                      <m:r>
                                        <a:rPr lang="en-US" sz="1200" b="0" i="1" smtClean="0">
                                          <a:latin typeface="Cambria Math" panose="02040503050406030204" pitchFamily="18" charset="0"/>
                                        </a:rPr>
                                        <m:t>𝑖𝑛𝑡𝑒𝑟𝑓</m:t>
                                      </m:r>
                                    </m:sub>
                                  </m:sSub>
                                </m:e>
                              </m:d>
                            </m:e>
                            <m:sup>
                              <m:r>
                                <a:rPr lang="pt-BR" sz="1200" b="0" i="1" smtClean="0">
                                  <a:latin typeface="Cambria Math" panose="02040503050406030204" pitchFamily="18" charset="0"/>
                                </a:rPr>
                                <m:t>2</m:t>
                              </m:r>
                            </m:sup>
                          </m:sSup>
                        </m:num>
                        <m:den>
                          <m:sSup>
                            <m:sSupPr>
                              <m:ctrlPr>
                                <a:rPr lang="pt-BR" sz="1200" b="0" i="1" smtClean="0">
                                  <a:latin typeface="Cambria Math" panose="02040503050406030204" pitchFamily="18" charset="0"/>
                                </a:rPr>
                              </m:ctrlPr>
                            </m:sSupPr>
                            <m:e>
                              <m:d>
                                <m:dPr>
                                  <m:begChr m:val="‖"/>
                                  <m:endChr m:val="‖"/>
                                  <m:ctrlPr>
                                    <a:rPr lang="pt-BR" sz="1200" b="0" i="1" smtClean="0">
                                      <a:latin typeface="Cambria Math" panose="02040503050406030204" pitchFamily="18" charset="0"/>
                                    </a:rPr>
                                  </m:ctrlPr>
                                </m:dPr>
                                <m:e>
                                  <m:sSub>
                                    <m:sSubPr>
                                      <m:ctrlPr>
                                        <a:rPr lang="pt-BR" sz="1200" b="0" i="1" smtClean="0">
                                          <a:latin typeface="Cambria Math" panose="02040503050406030204" pitchFamily="18" charset="0"/>
                                        </a:rPr>
                                      </m:ctrlPr>
                                    </m:sSubPr>
                                    <m:e>
                                      <m:r>
                                        <a:rPr lang="pt-BR" sz="1200" b="0" i="1" smtClean="0">
                                          <a:latin typeface="Cambria Math" panose="02040503050406030204" pitchFamily="18" charset="0"/>
                                        </a:rPr>
                                        <m:t>𝑒</m:t>
                                      </m:r>
                                    </m:e>
                                    <m:sub>
                                      <m:r>
                                        <a:rPr lang="pt-BR" sz="1200" b="0" i="1" smtClean="0">
                                          <a:latin typeface="Cambria Math" panose="02040503050406030204" pitchFamily="18" charset="0"/>
                                        </a:rPr>
                                        <m:t>𝑛𝑜𝑖𝑠𝑒</m:t>
                                      </m:r>
                                    </m:sub>
                                  </m:sSub>
                                </m:e>
                              </m:d>
                            </m:e>
                            <m:sup>
                              <m:r>
                                <a:rPr lang="pt-BR" sz="1200" b="0" i="1" smtClean="0">
                                  <a:latin typeface="Cambria Math" panose="02040503050406030204" pitchFamily="18" charset="0"/>
                                </a:rPr>
                                <m:t>2</m:t>
                              </m:r>
                            </m:sup>
                          </m:sSup>
                        </m:den>
                      </m:f>
                    </m:oMath>
                  </m:oMathPara>
                </a14:m>
                <a:endParaRPr lang="en-US" sz="1200" dirty="0"/>
              </a:p>
              <a:p>
                <a:pPr>
                  <a:buClr>
                    <a:schemeClr val="accent1">
                      <a:lumMod val="75000"/>
                    </a:schemeClr>
                  </a:buClr>
                </a:pPr>
                <a:endParaRPr lang="en-US" sz="1200" dirty="0"/>
              </a:p>
              <a:p>
                <a:pPr marL="285750" indent="-285750">
                  <a:buClr>
                    <a:schemeClr val="accent1">
                      <a:lumMod val="75000"/>
                    </a:schemeClr>
                  </a:buClr>
                  <a:buFont typeface="Arial" panose="020B0604020202020204" pitchFamily="34" charset="0"/>
                  <a:buChar char="•"/>
                </a:pPr>
                <a:r>
                  <a:rPr lang="en-US" b="1" dirty="0"/>
                  <a:t>SAR: </a:t>
                </a:r>
                <a:r>
                  <a:rPr lang="en-US" dirty="0"/>
                  <a:t>Quantifies the absence of forbidden distortions and “bubbling” artifacts.</a:t>
                </a:r>
              </a:p>
              <a:p>
                <a:pPr>
                  <a:buClr>
                    <a:schemeClr val="accent1">
                      <a:lumMod val="75000"/>
                    </a:schemeClr>
                  </a:buClr>
                </a:pPr>
                <a:endParaRPr lang="en-US" b="1" dirty="0"/>
              </a:p>
              <a:p>
                <a:pPr>
                  <a:buClr>
                    <a:schemeClr val="accent1">
                      <a:lumMod val="75000"/>
                    </a:schemeClr>
                  </a:buClr>
                </a:pPr>
                <a14:m>
                  <m:oMathPara xmlns:m="http://schemas.openxmlformats.org/officeDocument/2006/math">
                    <m:oMathParaPr>
                      <m:jc m:val="center"/>
                    </m:oMathParaPr>
                    <m:oMath>
                      <m:r>
                        <a:rPr lang="pt-BR" sz="1200" b="1" i="1">
                          <a:latin typeface="Cambria Math" panose="02040503050406030204" pitchFamily="18" charset="0"/>
                        </a:rPr>
                        <m:t>𝑺</m:t>
                      </m:r>
                      <m:r>
                        <a:rPr lang="en-US" sz="1200" b="1" i="1" smtClean="0">
                          <a:latin typeface="Cambria Math" panose="02040503050406030204" pitchFamily="18" charset="0"/>
                        </a:rPr>
                        <m:t>𝑨</m:t>
                      </m:r>
                      <m:r>
                        <a:rPr lang="pt-BR" sz="1200" b="1" i="1">
                          <a:latin typeface="Cambria Math" panose="02040503050406030204" pitchFamily="18" charset="0"/>
                        </a:rPr>
                        <m:t>𝑹</m:t>
                      </m:r>
                      <m:r>
                        <a:rPr lang="pt-BR" sz="1200" b="1" i="1">
                          <a:latin typeface="Cambria Math" panose="02040503050406030204" pitchFamily="18" charset="0"/>
                        </a:rPr>
                        <m:t>=10</m:t>
                      </m:r>
                      <m:r>
                        <a:rPr lang="pt-BR" sz="1200" i="1">
                          <a:latin typeface="Cambria Math" panose="02040503050406030204" pitchFamily="18" charset="0"/>
                        </a:rPr>
                        <m:t>𝑙𝑜</m:t>
                      </m:r>
                      <m:sSub>
                        <m:sSubPr>
                          <m:ctrlPr>
                            <a:rPr lang="pt-BR" sz="1200" i="1">
                              <a:latin typeface="Cambria Math" panose="02040503050406030204" pitchFamily="18" charset="0"/>
                            </a:rPr>
                          </m:ctrlPr>
                        </m:sSubPr>
                        <m:e>
                          <m:r>
                            <a:rPr lang="pt-BR" sz="1200" i="1">
                              <a:latin typeface="Cambria Math" panose="02040503050406030204" pitchFamily="18" charset="0"/>
                            </a:rPr>
                            <m:t>𝑔</m:t>
                          </m:r>
                        </m:e>
                        <m:sub>
                          <m:r>
                            <a:rPr lang="pt-BR" sz="1200" i="1">
                              <a:latin typeface="Cambria Math" panose="02040503050406030204" pitchFamily="18" charset="0"/>
                            </a:rPr>
                            <m:t>10</m:t>
                          </m:r>
                        </m:sub>
                      </m:sSub>
                      <m:f>
                        <m:fPr>
                          <m:ctrlPr>
                            <a:rPr lang="pt-BR" sz="1200" i="1">
                              <a:latin typeface="Cambria Math" panose="02040503050406030204" pitchFamily="18" charset="0"/>
                            </a:rPr>
                          </m:ctrlPr>
                        </m:fPr>
                        <m:num>
                          <m:sSup>
                            <m:sSupPr>
                              <m:ctrlPr>
                                <a:rPr lang="pt-BR" sz="1200" i="1">
                                  <a:latin typeface="Cambria Math" panose="02040503050406030204" pitchFamily="18" charset="0"/>
                                </a:rPr>
                              </m:ctrlPr>
                            </m:sSupPr>
                            <m:e>
                              <m:d>
                                <m:dPr>
                                  <m:begChr m:val="‖"/>
                                  <m:endChr m:val="‖"/>
                                  <m:ctrlPr>
                                    <a:rPr lang="pt-BR" sz="1200" i="1">
                                      <a:latin typeface="Cambria Math" panose="02040503050406030204" pitchFamily="18" charset="0"/>
                                    </a:rPr>
                                  </m:ctrlPr>
                                </m:dPr>
                                <m:e>
                                  <m:sSub>
                                    <m:sSubPr>
                                      <m:ctrlPr>
                                        <a:rPr lang="pt-BR" sz="1200" i="1">
                                          <a:latin typeface="Cambria Math" panose="02040503050406030204" pitchFamily="18" charset="0"/>
                                        </a:rPr>
                                      </m:ctrlPr>
                                    </m:sSubPr>
                                    <m:e>
                                      <m:r>
                                        <a:rPr lang="pt-BR" sz="1200" i="1">
                                          <a:latin typeface="Cambria Math" panose="02040503050406030204" pitchFamily="18" charset="0"/>
                                        </a:rPr>
                                        <m:t>𝑠</m:t>
                                      </m:r>
                                    </m:e>
                                    <m:sub>
                                      <m:r>
                                        <a:rPr lang="pt-BR" sz="1200" i="1">
                                          <a:latin typeface="Cambria Math" panose="02040503050406030204" pitchFamily="18" charset="0"/>
                                        </a:rPr>
                                        <m:t>𝑡𝑎𝑟𝑔𝑒𝑡</m:t>
                                      </m:r>
                                    </m:sub>
                                  </m:sSub>
                                  <m:r>
                                    <a:rPr lang="en-US" sz="1200" i="1">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𝑒</m:t>
                                      </m:r>
                                    </m:e>
                                    <m:sub>
                                      <m:r>
                                        <a:rPr lang="en-US" sz="1200" i="1">
                                          <a:latin typeface="Cambria Math" panose="02040503050406030204" pitchFamily="18" charset="0"/>
                                        </a:rPr>
                                        <m:t>𝑖𝑛𝑡𝑒𝑟𝑓</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𝑒</m:t>
                                      </m:r>
                                    </m:e>
                                    <m:sub>
                                      <m:r>
                                        <a:rPr lang="en-US" sz="1200" b="0" i="1" smtClean="0">
                                          <a:latin typeface="Cambria Math" panose="02040503050406030204" pitchFamily="18" charset="0"/>
                                        </a:rPr>
                                        <m:t>𝑛𝑜𝑖𝑠𝑒</m:t>
                                      </m:r>
                                    </m:sub>
                                  </m:sSub>
                                </m:e>
                              </m:d>
                            </m:e>
                            <m:sup>
                              <m:r>
                                <a:rPr lang="pt-BR" sz="1200" i="1">
                                  <a:latin typeface="Cambria Math" panose="02040503050406030204" pitchFamily="18" charset="0"/>
                                </a:rPr>
                                <m:t>2</m:t>
                              </m:r>
                            </m:sup>
                          </m:sSup>
                        </m:num>
                        <m:den>
                          <m:sSup>
                            <m:sSupPr>
                              <m:ctrlPr>
                                <a:rPr lang="pt-BR" sz="1200" i="1">
                                  <a:latin typeface="Cambria Math" panose="02040503050406030204" pitchFamily="18" charset="0"/>
                                </a:rPr>
                              </m:ctrlPr>
                            </m:sSupPr>
                            <m:e>
                              <m:d>
                                <m:dPr>
                                  <m:begChr m:val="‖"/>
                                  <m:endChr m:val="‖"/>
                                  <m:ctrlPr>
                                    <a:rPr lang="pt-BR" sz="1200" i="1">
                                      <a:latin typeface="Cambria Math" panose="02040503050406030204" pitchFamily="18" charset="0"/>
                                    </a:rPr>
                                  </m:ctrlPr>
                                </m:dPr>
                                <m:e>
                                  <m:sSub>
                                    <m:sSubPr>
                                      <m:ctrlPr>
                                        <a:rPr lang="pt-BR" sz="1200" i="1">
                                          <a:latin typeface="Cambria Math" panose="02040503050406030204" pitchFamily="18" charset="0"/>
                                        </a:rPr>
                                      </m:ctrlPr>
                                    </m:sSubPr>
                                    <m:e>
                                      <m:r>
                                        <a:rPr lang="pt-BR" sz="1200" i="1">
                                          <a:latin typeface="Cambria Math" panose="02040503050406030204" pitchFamily="18" charset="0"/>
                                        </a:rPr>
                                        <m:t>𝑒</m:t>
                                      </m:r>
                                    </m:e>
                                    <m:sub>
                                      <m:r>
                                        <a:rPr lang="en-US" sz="1200" b="0" i="1" smtClean="0">
                                          <a:latin typeface="Cambria Math" panose="02040503050406030204" pitchFamily="18" charset="0"/>
                                        </a:rPr>
                                        <m:t>𝑎𝑟𝑡𝑖𝑓</m:t>
                                      </m:r>
                                      <m:r>
                                        <a:rPr lang="en-US" sz="1200" b="0" i="1" smtClean="0">
                                          <a:latin typeface="Cambria Math" panose="02040503050406030204" pitchFamily="18" charset="0"/>
                                        </a:rPr>
                                        <m:t> </m:t>
                                      </m:r>
                                    </m:sub>
                                  </m:sSub>
                                </m:e>
                              </m:d>
                            </m:e>
                            <m:sup>
                              <m:r>
                                <a:rPr lang="pt-BR" sz="1200" i="1">
                                  <a:latin typeface="Cambria Math" panose="02040503050406030204" pitchFamily="18" charset="0"/>
                                </a:rPr>
                                <m:t>2</m:t>
                              </m:r>
                            </m:sup>
                          </m:sSup>
                        </m:den>
                      </m:f>
                    </m:oMath>
                  </m:oMathPara>
                </a14:m>
                <a:endParaRPr lang="el-GR" sz="1200" b="1" dirty="0"/>
              </a:p>
            </p:txBody>
          </p:sp>
        </mc:Choice>
        <mc:Fallback xmlns="">
          <p:sp>
            <p:nvSpPr>
              <p:cNvPr id="24" name="TextBox 23">
                <a:extLst>
                  <a:ext uri="{FF2B5EF4-FFF2-40B4-BE49-F238E27FC236}">
                    <a16:creationId xmlns:a16="http://schemas.microsoft.com/office/drawing/2014/main" id="{1920BA14-80D0-7EB7-4238-433EA8641649}"/>
                  </a:ext>
                </a:extLst>
              </p:cNvPr>
              <p:cNvSpPr txBox="1">
                <a:spLocks noRot="1" noChangeAspect="1" noMove="1" noResize="1" noEditPoints="1" noAdjustHandles="1" noChangeArrowheads="1" noChangeShapeType="1" noTextEdit="1"/>
              </p:cNvSpPr>
              <p:nvPr/>
            </p:nvSpPr>
            <p:spPr>
              <a:xfrm>
                <a:off x="134562" y="2248660"/>
                <a:ext cx="5611775" cy="4489049"/>
              </a:xfrm>
              <a:prstGeom prst="rect">
                <a:avLst/>
              </a:prstGeom>
              <a:blipFill>
                <a:blip r:embed="rId5"/>
                <a:stretch>
                  <a:fillRect l="-977" t="-815"/>
                </a:stretch>
              </a:blipFill>
            </p:spPr>
            <p:txBody>
              <a:bodyPr/>
              <a:lstStyle/>
              <a:p>
                <a:r>
                  <a:rPr lang="el-GR">
                    <a:noFill/>
                  </a:rPr>
                  <a:t> </a:t>
                </a:r>
              </a:p>
            </p:txBody>
          </p:sp>
        </mc:Fallback>
      </mc:AlternateContent>
      <p:sp>
        <p:nvSpPr>
          <p:cNvPr id="25" name="TextBox 24">
            <a:extLst>
              <a:ext uri="{FF2B5EF4-FFF2-40B4-BE49-F238E27FC236}">
                <a16:creationId xmlns:a16="http://schemas.microsoft.com/office/drawing/2014/main" id="{8ED32E9E-E7E0-F841-763D-789BB4A7C6C5}"/>
              </a:ext>
            </a:extLst>
          </p:cNvPr>
          <p:cNvSpPr txBox="1"/>
          <p:nvPr/>
        </p:nvSpPr>
        <p:spPr>
          <a:xfrm>
            <a:off x="289712" y="1434452"/>
            <a:ext cx="5319584" cy="646331"/>
          </a:xfrm>
          <a:prstGeom prst="rect">
            <a:avLst/>
          </a:prstGeom>
          <a:noFill/>
        </p:spPr>
        <p:txBody>
          <a:bodyPr wrap="square" rtlCol="0">
            <a:spAutoFit/>
          </a:bodyPr>
          <a:lstStyle/>
          <a:p>
            <a:pPr marL="285750" indent="-285750">
              <a:buFont typeface="Wingdings" panose="05000000000000000000" pitchFamily="2" charset="2"/>
              <a:buChar char="Ø"/>
            </a:pPr>
            <a:r>
              <a:rPr lang="en-US" dirty="0"/>
              <a:t>Metrics used to evaluate the quality of separated signals with respect to the true source signals.</a:t>
            </a:r>
            <a:endParaRPr lang="el-GR" dirty="0"/>
          </a:p>
        </p:txBody>
      </p:sp>
      <p:sp>
        <p:nvSpPr>
          <p:cNvPr id="4" name="TextBox 3">
            <a:extLst>
              <a:ext uri="{FF2B5EF4-FFF2-40B4-BE49-F238E27FC236}">
                <a16:creationId xmlns:a16="http://schemas.microsoft.com/office/drawing/2014/main" id="{55B37418-2993-AEF3-D82E-C9B1F6998CC3}"/>
              </a:ext>
            </a:extLst>
          </p:cNvPr>
          <p:cNvSpPr txBox="1"/>
          <p:nvPr/>
        </p:nvSpPr>
        <p:spPr>
          <a:xfrm>
            <a:off x="5996986" y="1434452"/>
            <a:ext cx="5319584" cy="923330"/>
          </a:xfrm>
          <a:prstGeom prst="rect">
            <a:avLst/>
          </a:prstGeom>
          <a:noFill/>
        </p:spPr>
        <p:txBody>
          <a:bodyPr wrap="square" rtlCol="0">
            <a:spAutoFit/>
          </a:bodyPr>
          <a:lstStyle/>
          <a:p>
            <a:pPr marL="285750" indent="-285750">
              <a:buFont typeface="Wingdings" panose="05000000000000000000" pitchFamily="2" charset="2"/>
              <a:buChar char="Ø"/>
            </a:pPr>
            <a:r>
              <a:rPr lang="en-US" dirty="0"/>
              <a:t>Metrics used to evaluate how well a classification model assigns data points to correct categories or classes.</a:t>
            </a:r>
            <a:endParaRPr lang="el-GR" dirty="0"/>
          </a:p>
        </p:txBody>
      </p:sp>
      <p:pic>
        <p:nvPicPr>
          <p:cNvPr id="6" name="Εικόνα 5">
            <a:extLst>
              <a:ext uri="{FF2B5EF4-FFF2-40B4-BE49-F238E27FC236}">
                <a16:creationId xmlns:a16="http://schemas.microsoft.com/office/drawing/2014/main" id="{729C2EDF-236A-896F-6A2D-B546478A2094}"/>
              </a:ext>
            </a:extLst>
          </p:cNvPr>
          <p:cNvPicPr>
            <a:picLocks noChangeAspect="1"/>
          </p:cNvPicPr>
          <p:nvPr/>
        </p:nvPicPr>
        <p:blipFill>
          <a:blip r:embed="rId6"/>
          <a:stretch>
            <a:fillRect/>
          </a:stretch>
        </p:blipFill>
        <p:spPr>
          <a:xfrm>
            <a:off x="6016332" y="2761197"/>
            <a:ext cx="5396713" cy="1039829"/>
          </a:xfrm>
          <a:prstGeom prst="rect">
            <a:avLst/>
          </a:prstGeom>
        </p:spPr>
      </p:pic>
      <p:sp>
        <p:nvSpPr>
          <p:cNvPr id="8" name="TextBox 7">
            <a:extLst>
              <a:ext uri="{FF2B5EF4-FFF2-40B4-BE49-F238E27FC236}">
                <a16:creationId xmlns:a16="http://schemas.microsoft.com/office/drawing/2014/main" id="{364AB38F-AE04-D1B7-C010-5A57429E6330}"/>
              </a:ext>
            </a:extLst>
          </p:cNvPr>
          <p:cNvSpPr txBox="1"/>
          <p:nvPr/>
        </p:nvSpPr>
        <p:spPr>
          <a:xfrm>
            <a:off x="5959930" y="2357782"/>
            <a:ext cx="6097508" cy="369332"/>
          </a:xfrm>
          <a:prstGeom prst="rect">
            <a:avLst/>
          </a:prstGeom>
          <a:noFill/>
        </p:spPr>
        <p:txBody>
          <a:bodyPr wrap="square">
            <a:spAutoFit/>
          </a:bodyPr>
          <a:lstStyle/>
          <a:p>
            <a:pPr marL="342900" indent="-342900">
              <a:buClr>
                <a:schemeClr val="accent1">
                  <a:lumMod val="75000"/>
                </a:schemeClr>
              </a:buClr>
              <a:buFont typeface="Arial" panose="020B0604020202020204" pitchFamily="34" charset="0"/>
              <a:buChar char="•"/>
            </a:pPr>
            <a:r>
              <a:rPr lang="en-US" b="1" dirty="0"/>
              <a:t>Confusion Matrix</a:t>
            </a:r>
            <a:endParaRPr lang="el-GR"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0834C9D1-E17D-374A-429D-BD8755635BD9}"/>
                  </a:ext>
                </a:extLst>
              </p:cNvPr>
              <p:cNvSpPr txBox="1"/>
              <p:nvPr/>
            </p:nvSpPr>
            <p:spPr>
              <a:xfrm>
                <a:off x="6013648" y="4229031"/>
                <a:ext cx="5520171" cy="1593578"/>
              </a:xfrm>
              <a:prstGeom prst="rect">
                <a:avLst/>
              </a:prstGeom>
              <a:noFill/>
            </p:spPr>
            <p:txBody>
              <a:bodyPr wrap="square">
                <a:spAutoFit/>
              </a:bodyPr>
              <a:lstStyle/>
              <a:p>
                <a:pPr marL="342900" indent="-342900">
                  <a:buClr>
                    <a:schemeClr val="accent1">
                      <a:lumMod val="75000"/>
                    </a:schemeClr>
                  </a:buClr>
                  <a:buFont typeface="Arial" panose="020B0604020202020204" pitchFamily="34" charset="0"/>
                  <a:buChar char="•"/>
                </a:pPr>
                <a:r>
                  <a:rPr lang="en-US" b="1" dirty="0"/>
                  <a:t>Accuracy: </a:t>
                </a:r>
                <a:r>
                  <a:rPr lang="en-US" dirty="0"/>
                  <a:t>Ratio of correctly classified samples to the total number of samples.</a:t>
                </a:r>
              </a:p>
              <a:p>
                <a:pPr algn="ctr">
                  <a:buClr>
                    <a:schemeClr val="accent1">
                      <a:lumMod val="75000"/>
                    </a:schemeClr>
                  </a:buClr>
                </a:pPr>
                <a:endParaRPr lang="en-US" i="1" dirty="0">
                  <a:latin typeface="Cambria" panose="02040503050406030204" pitchFamily="18" charset="0"/>
                  <a:ea typeface="Cambria" panose="02040503050406030204" pitchFamily="18" charset="0"/>
                </a:endParaRPr>
              </a:p>
              <a:p>
                <a:pPr algn="ctr">
                  <a:buClr>
                    <a:schemeClr val="accent1">
                      <a:lumMod val="75000"/>
                    </a:schemeClr>
                  </a:buClr>
                </a:pPr>
                <a:r>
                  <a:rPr lang="en-US" i="1" dirty="0">
                    <a:latin typeface="Cambria" panose="02040503050406030204" pitchFamily="18" charset="0"/>
                    <a:ea typeface="Cambria" panose="02040503050406030204" pitchFamily="18" charset="0"/>
                  </a:rPr>
                  <a:t>Accuracy</a:t>
                </a:r>
                <a:r>
                  <a:rPr lang="en-US" dirty="0"/>
                  <a:t> = </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𝑇𝑃</m:t>
                        </m:r>
                        <m:r>
                          <a:rPr lang="en-US" b="0" i="1" smtClean="0">
                            <a:latin typeface="Cambria Math" panose="02040503050406030204" pitchFamily="18" charset="0"/>
                          </a:rPr>
                          <m:t>+</m:t>
                        </m:r>
                        <m:r>
                          <a:rPr lang="en-US" b="0" i="1" smtClean="0">
                            <a:latin typeface="Cambria Math" panose="02040503050406030204" pitchFamily="18" charset="0"/>
                          </a:rPr>
                          <m:t>𝑇𝑁</m:t>
                        </m:r>
                      </m:num>
                      <m:den>
                        <m:r>
                          <a:rPr lang="en-US" b="0" i="1" smtClean="0">
                            <a:latin typeface="Cambria Math" panose="02040503050406030204" pitchFamily="18" charset="0"/>
                          </a:rPr>
                          <m:t>𝑇𝑃</m:t>
                        </m:r>
                        <m:r>
                          <a:rPr lang="en-US" b="0" i="1" smtClean="0">
                            <a:latin typeface="Cambria Math" panose="02040503050406030204" pitchFamily="18" charset="0"/>
                          </a:rPr>
                          <m:t>+</m:t>
                        </m:r>
                        <m:r>
                          <a:rPr lang="en-US" b="0" i="1" smtClean="0">
                            <a:latin typeface="Cambria Math" panose="02040503050406030204" pitchFamily="18" charset="0"/>
                          </a:rPr>
                          <m:t>𝑇𝑁</m:t>
                        </m:r>
                        <m:r>
                          <a:rPr lang="en-US" b="0" i="1" smtClean="0">
                            <a:latin typeface="Cambria Math" panose="02040503050406030204" pitchFamily="18" charset="0"/>
                          </a:rPr>
                          <m:t>+</m:t>
                        </m:r>
                        <m:r>
                          <a:rPr lang="en-US" b="0" i="1" smtClean="0">
                            <a:latin typeface="Cambria Math" panose="02040503050406030204" pitchFamily="18" charset="0"/>
                          </a:rPr>
                          <m:t>𝐹𝑃</m:t>
                        </m:r>
                        <m:r>
                          <a:rPr lang="en-US" b="0" i="1" smtClean="0">
                            <a:latin typeface="Cambria Math" panose="02040503050406030204" pitchFamily="18" charset="0"/>
                          </a:rPr>
                          <m:t>+</m:t>
                        </m:r>
                        <m:r>
                          <a:rPr lang="en-US" b="0" i="1" smtClean="0">
                            <a:latin typeface="Cambria Math" panose="02040503050406030204" pitchFamily="18" charset="0"/>
                          </a:rPr>
                          <m:t>𝐹𝑁</m:t>
                        </m:r>
                      </m:den>
                    </m:f>
                  </m:oMath>
                </a14:m>
                <a:r>
                  <a:rPr lang="en-US" dirty="0"/>
                  <a:t> </a:t>
                </a:r>
              </a:p>
              <a:p>
                <a:pPr algn="ctr">
                  <a:buClr>
                    <a:schemeClr val="accent1">
                      <a:lumMod val="75000"/>
                    </a:schemeClr>
                  </a:buClr>
                </a:pPr>
                <a:endParaRPr lang="el-GR" dirty="0"/>
              </a:p>
            </p:txBody>
          </p:sp>
        </mc:Choice>
        <mc:Fallback xmlns="">
          <p:sp>
            <p:nvSpPr>
              <p:cNvPr id="19" name="TextBox 18">
                <a:extLst>
                  <a:ext uri="{FF2B5EF4-FFF2-40B4-BE49-F238E27FC236}">
                    <a16:creationId xmlns:a16="http://schemas.microsoft.com/office/drawing/2014/main" id="{0834C9D1-E17D-374A-429D-BD8755635BD9}"/>
                  </a:ext>
                </a:extLst>
              </p:cNvPr>
              <p:cNvSpPr txBox="1">
                <a:spLocks noRot="1" noChangeAspect="1" noMove="1" noResize="1" noEditPoints="1" noAdjustHandles="1" noChangeArrowheads="1" noChangeShapeType="1" noTextEdit="1"/>
              </p:cNvSpPr>
              <p:nvPr/>
            </p:nvSpPr>
            <p:spPr>
              <a:xfrm>
                <a:off x="6013648" y="4229031"/>
                <a:ext cx="5520171" cy="1593578"/>
              </a:xfrm>
              <a:prstGeom prst="rect">
                <a:avLst/>
              </a:prstGeom>
              <a:blipFill>
                <a:blip r:embed="rId7"/>
                <a:stretch>
                  <a:fillRect l="-662" t="-1916"/>
                </a:stretch>
              </a:blipFill>
            </p:spPr>
            <p:txBody>
              <a:bodyPr/>
              <a:lstStyle/>
              <a:p>
                <a:r>
                  <a:rPr lang="el-GR">
                    <a:noFill/>
                  </a:rPr>
                  <a:t> </a:t>
                </a:r>
              </a:p>
            </p:txBody>
          </p:sp>
        </mc:Fallback>
      </mc:AlternateContent>
    </p:spTree>
    <p:extLst>
      <p:ext uri="{BB962C8B-B14F-4D97-AF65-F5344CB8AC3E}">
        <p14:creationId xmlns:p14="http://schemas.microsoft.com/office/powerpoint/2010/main" val="42713186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134F68-58A6-68A5-7C96-E673D8657411}"/>
            </a:ext>
          </a:extLst>
        </p:cNvPr>
        <p:cNvGrpSpPr/>
        <p:nvPr/>
      </p:nvGrpSpPr>
      <p:grpSpPr>
        <a:xfrm>
          <a:off x="0" y="0"/>
          <a:ext cx="0" cy="0"/>
          <a:chOff x="0" y="0"/>
          <a:chExt cx="0" cy="0"/>
        </a:xfrm>
      </p:grpSpPr>
      <p:sp>
        <p:nvSpPr>
          <p:cNvPr id="3" name="Ορθογώνιο: Στρογγύλεμα διαγώνιων γωνιών 2">
            <a:extLst>
              <a:ext uri="{FF2B5EF4-FFF2-40B4-BE49-F238E27FC236}">
                <a16:creationId xmlns:a16="http://schemas.microsoft.com/office/drawing/2014/main" id="{ED1C675A-AE0B-2DB5-9F5C-FB7868C1A035}"/>
              </a:ext>
            </a:extLst>
          </p:cNvPr>
          <p:cNvSpPr/>
          <p:nvPr/>
        </p:nvSpPr>
        <p:spPr>
          <a:xfrm>
            <a:off x="325591" y="75435"/>
            <a:ext cx="11196786" cy="707886"/>
          </a:xfrm>
          <a:prstGeom prst="round2Diag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l-GR" sz="3200" b="1" dirty="0"/>
              <a:t>AuxIVA </a:t>
            </a:r>
            <a:r>
              <a:rPr lang="en-US" sz="3200" b="1" dirty="0"/>
              <a:t>Separation Performance</a:t>
            </a:r>
            <a:endParaRPr lang="el-GR" sz="3200" b="1" dirty="0"/>
          </a:p>
        </p:txBody>
      </p:sp>
      <p:pic>
        <p:nvPicPr>
          <p:cNvPr id="7" name="Εικόνα 6">
            <a:extLst>
              <a:ext uri="{FF2B5EF4-FFF2-40B4-BE49-F238E27FC236}">
                <a16:creationId xmlns:a16="http://schemas.microsoft.com/office/drawing/2014/main" id="{381704AC-8DF1-D7E0-5E1D-CD6855697CF2}"/>
              </a:ext>
            </a:extLst>
          </p:cNvPr>
          <p:cNvPicPr>
            <a:picLocks noChangeAspect="1"/>
          </p:cNvPicPr>
          <p:nvPr/>
        </p:nvPicPr>
        <p:blipFill>
          <a:blip r:embed="rId2"/>
          <a:stretch>
            <a:fillRect/>
          </a:stretch>
        </p:blipFill>
        <p:spPr>
          <a:xfrm>
            <a:off x="6695079" y="4382918"/>
            <a:ext cx="5300763" cy="2198951"/>
          </a:xfrm>
          <a:prstGeom prst="rect">
            <a:avLst/>
          </a:prstGeom>
        </p:spPr>
      </p:pic>
      <p:pic>
        <p:nvPicPr>
          <p:cNvPr id="11" name="Εικόνα 10">
            <a:extLst>
              <a:ext uri="{FF2B5EF4-FFF2-40B4-BE49-F238E27FC236}">
                <a16:creationId xmlns:a16="http://schemas.microsoft.com/office/drawing/2014/main" id="{544C11AE-46D4-2CFB-275D-E9F96CDEA024}"/>
              </a:ext>
            </a:extLst>
          </p:cNvPr>
          <p:cNvPicPr>
            <a:picLocks noChangeAspect="1"/>
          </p:cNvPicPr>
          <p:nvPr/>
        </p:nvPicPr>
        <p:blipFill>
          <a:blip r:embed="rId3"/>
          <a:stretch>
            <a:fillRect/>
          </a:stretch>
        </p:blipFill>
        <p:spPr>
          <a:xfrm>
            <a:off x="484755" y="4382918"/>
            <a:ext cx="5731162" cy="2198951"/>
          </a:xfrm>
          <a:prstGeom prst="rect">
            <a:avLst/>
          </a:prstGeom>
        </p:spPr>
      </p:pic>
      <p:pic>
        <p:nvPicPr>
          <p:cNvPr id="18" name="Εικόνα 17">
            <a:extLst>
              <a:ext uri="{FF2B5EF4-FFF2-40B4-BE49-F238E27FC236}">
                <a16:creationId xmlns:a16="http://schemas.microsoft.com/office/drawing/2014/main" id="{CA48A6F4-F410-DE30-1670-A354BA1C9B75}"/>
              </a:ext>
            </a:extLst>
          </p:cNvPr>
          <p:cNvPicPr>
            <a:picLocks noChangeAspect="1"/>
          </p:cNvPicPr>
          <p:nvPr/>
        </p:nvPicPr>
        <p:blipFill>
          <a:blip r:embed="rId4"/>
          <a:stretch>
            <a:fillRect/>
          </a:stretch>
        </p:blipFill>
        <p:spPr>
          <a:xfrm>
            <a:off x="7409087" y="2893493"/>
            <a:ext cx="4321520" cy="1319633"/>
          </a:xfrm>
          <a:prstGeom prst="rect">
            <a:avLst/>
          </a:prstGeom>
        </p:spPr>
      </p:pic>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4748994E-0E11-884C-27C8-203F745BBC07}"/>
                  </a:ext>
                </a:extLst>
              </p:cNvPr>
              <p:cNvSpPr txBox="1"/>
              <p:nvPr/>
            </p:nvSpPr>
            <p:spPr>
              <a:xfrm>
                <a:off x="172016" y="783321"/>
                <a:ext cx="11823826" cy="2062103"/>
              </a:xfrm>
              <a:prstGeom prst="rect">
                <a:avLst/>
              </a:prstGeom>
              <a:noFill/>
            </p:spPr>
            <p:txBody>
              <a:bodyPr wrap="square" rtlCol="0">
                <a:spAutoFit/>
              </a:bodyPr>
              <a:lstStyle/>
              <a:p>
                <a:pPr marL="285750" indent="-285750">
                  <a:buClr>
                    <a:schemeClr val="accent1"/>
                  </a:buClr>
                  <a:buFont typeface="Wingdings" panose="05000000000000000000" pitchFamily="2" charset="2"/>
                  <a:buChar char="Ø"/>
                </a:pPr>
                <a:r>
                  <a:rPr lang="en-US" sz="1600" b="1" u="sng" dirty="0"/>
                  <a:t>AuxIVA Overall Separation Performance</a:t>
                </a:r>
              </a:p>
              <a:p>
                <a:pPr>
                  <a:buClr>
                    <a:schemeClr val="accent1"/>
                  </a:buClr>
                </a:pPr>
                <a:r>
                  <a:rPr lang="el-GR" sz="1600" b="1" dirty="0"/>
                  <a:t>       </a:t>
                </a:r>
                <a:r>
                  <a:rPr lang="en-US" sz="1600" b="1" dirty="0"/>
                  <a:t>Evaluation on 200 multichannel mixtures – 398 target sources.</a:t>
                </a:r>
                <a:endParaRPr lang="el-GR" sz="1600" b="1" dirty="0"/>
              </a:p>
              <a:p>
                <a:pPr>
                  <a:buClr>
                    <a:schemeClr val="accent1"/>
                  </a:buClr>
                </a:pPr>
                <a:endParaRPr lang="en-US" sz="1600" b="1" dirty="0"/>
              </a:p>
              <a:p>
                <a:pPr marL="285750" indent="-285750">
                  <a:buClr>
                    <a:schemeClr val="accent1"/>
                  </a:buClr>
                  <a:buFont typeface="Arial" panose="020B0604020202020204" pitchFamily="34" charset="0"/>
                  <a:buChar char="•"/>
                </a:pPr>
                <a:r>
                  <a:rPr lang="en-US" sz="1600" b="1" dirty="0"/>
                  <a:t>Mean SDR = -0.79 dB </a:t>
                </a:r>
                <a14:m>
                  <m:oMath xmlns:m="http://schemas.openxmlformats.org/officeDocument/2006/math">
                    <m:r>
                      <a:rPr lang="en-US" sz="1600" b="1" i="1" smtClean="0">
                        <a:latin typeface="Cambria Math" panose="02040503050406030204" pitchFamily="18" charset="0"/>
                      </a:rPr>
                      <m:t>→</m:t>
                    </m:r>
                  </m:oMath>
                </a14:m>
                <a:r>
                  <a:rPr lang="en-US" sz="1600" b="1" dirty="0"/>
                  <a:t> highly variable separation performance; does not achieve separation across the full set of mixtures.</a:t>
                </a:r>
              </a:p>
              <a:p>
                <a:pPr>
                  <a:buClr>
                    <a:schemeClr val="accent1"/>
                  </a:buClr>
                </a:pPr>
                <a:endParaRPr lang="en-US" sz="1600" b="1" dirty="0"/>
              </a:p>
              <a:p>
                <a:pPr marL="285750" indent="-285750">
                  <a:buClr>
                    <a:schemeClr val="accent1"/>
                  </a:buClr>
                  <a:buFont typeface="Arial" panose="020B0604020202020204" pitchFamily="34" charset="0"/>
                  <a:buChar char="•"/>
                </a:pPr>
                <a:r>
                  <a:rPr lang="en-US" sz="1600" b="1" dirty="0"/>
                  <a:t>Mean SNR = -7.08 dB </a:t>
                </a:r>
                <a14:m>
                  <m:oMath xmlns:m="http://schemas.openxmlformats.org/officeDocument/2006/math">
                    <m:r>
                      <a:rPr lang="en-US" sz="1600" b="1" i="1" smtClean="0">
                        <a:latin typeface="Cambria Math" panose="02040503050406030204" pitchFamily="18" charset="0"/>
                      </a:rPr>
                      <m:t>→ </m:t>
                    </m:r>
                  </m:oMath>
                </a14:m>
                <a:r>
                  <a:rPr lang="en-US" sz="1600" b="1" dirty="0"/>
                  <a:t>residual noise remains on the separated signals.</a:t>
                </a:r>
              </a:p>
              <a:p>
                <a:pPr>
                  <a:buClr>
                    <a:schemeClr val="accent1"/>
                  </a:buClr>
                </a:pPr>
                <a:endParaRPr lang="en-US" sz="1600" b="1" dirty="0"/>
              </a:p>
              <a:p>
                <a:pPr marL="285750" indent="-285750">
                  <a:buClr>
                    <a:schemeClr val="accent1"/>
                  </a:buClr>
                  <a:buFont typeface="Arial" panose="020B0604020202020204" pitchFamily="34" charset="0"/>
                  <a:buChar char="•"/>
                </a:pPr>
                <a:r>
                  <a:rPr lang="en-US" sz="1600" b="1" dirty="0"/>
                  <a:t>Mean SAR = 3.31 dB   </a:t>
                </a:r>
                <a14:m>
                  <m:oMath xmlns:m="http://schemas.openxmlformats.org/officeDocument/2006/math">
                    <m:r>
                      <a:rPr lang="en-US" sz="1600" b="1" i="1" smtClean="0">
                        <a:latin typeface="Cambria Math" panose="02040503050406030204" pitchFamily="18" charset="0"/>
                      </a:rPr>
                      <m:t>→</m:t>
                    </m:r>
                  </m:oMath>
                </a14:m>
                <a:r>
                  <a:rPr lang="en-US" sz="1600" b="1" dirty="0"/>
                  <a:t> separation artifacts do not dominate the reconstructed signals.</a:t>
                </a:r>
              </a:p>
            </p:txBody>
          </p:sp>
        </mc:Choice>
        <mc:Fallback>
          <p:sp>
            <p:nvSpPr>
              <p:cNvPr id="19" name="TextBox 18">
                <a:extLst>
                  <a:ext uri="{FF2B5EF4-FFF2-40B4-BE49-F238E27FC236}">
                    <a16:creationId xmlns:a16="http://schemas.microsoft.com/office/drawing/2014/main" id="{4748994E-0E11-884C-27C8-203F745BBC07}"/>
                  </a:ext>
                </a:extLst>
              </p:cNvPr>
              <p:cNvSpPr txBox="1">
                <a:spLocks noRot="1" noChangeAspect="1" noMove="1" noResize="1" noEditPoints="1" noAdjustHandles="1" noChangeArrowheads="1" noChangeShapeType="1" noTextEdit="1"/>
              </p:cNvSpPr>
              <p:nvPr/>
            </p:nvSpPr>
            <p:spPr>
              <a:xfrm>
                <a:off x="172016" y="783321"/>
                <a:ext cx="11823826" cy="2062103"/>
              </a:xfrm>
              <a:prstGeom prst="rect">
                <a:avLst/>
              </a:prstGeom>
              <a:blipFill>
                <a:blip r:embed="rId5"/>
                <a:stretch>
                  <a:fillRect l="-206" t="-885" b="-2655"/>
                </a:stretch>
              </a:blipFill>
            </p:spPr>
            <p:txBody>
              <a:bodyPr/>
              <a:lstStyle/>
              <a:p>
                <a:r>
                  <a:rPr lang="el-GR">
                    <a:noFill/>
                  </a:rPr>
                  <a:t> </a:t>
                </a:r>
              </a:p>
            </p:txBody>
          </p:sp>
        </mc:Fallback>
      </mc:AlternateContent>
      <p:sp>
        <p:nvSpPr>
          <p:cNvPr id="20" name="TextBox 19">
            <a:extLst>
              <a:ext uri="{FF2B5EF4-FFF2-40B4-BE49-F238E27FC236}">
                <a16:creationId xmlns:a16="http://schemas.microsoft.com/office/drawing/2014/main" id="{161D8B15-3EF8-C8DA-1BFF-B0C8C1AA47C0}"/>
              </a:ext>
            </a:extLst>
          </p:cNvPr>
          <p:cNvSpPr txBox="1"/>
          <p:nvPr/>
        </p:nvSpPr>
        <p:spPr>
          <a:xfrm>
            <a:off x="118029" y="3073659"/>
            <a:ext cx="7025823" cy="1077218"/>
          </a:xfrm>
          <a:prstGeom prst="rect">
            <a:avLst/>
          </a:prstGeom>
          <a:noFill/>
        </p:spPr>
        <p:txBody>
          <a:bodyPr wrap="square" rtlCol="0">
            <a:spAutoFit/>
          </a:bodyPr>
          <a:lstStyle/>
          <a:p>
            <a:pPr marL="285750" indent="-285750">
              <a:buClr>
                <a:schemeClr val="accent1"/>
              </a:buClr>
              <a:buFont typeface="Wingdings" panose="05000000000000000000" pitchFamily="2" charset="2"/>
              <a:buChar char="Ø"/>
            </a:pPr>
            <a:r>
              <a:rPr lang="en-US" sz="1600" b="1" u="sng" dirty="0"/>
              <a:t>SDR Distribution</a:t>
            </a:r>
          </a:p>
          <a:p>
            <a:pPr marL="285750" indent="-285750">
              <a:buClr>
                <a:schemeClr val="accent1"/>
              </a:buClr>
              <a:buFont typeface="Arial" panose="020B0604020202020204" pitchFamily="34" charset="0"/>
              <a:buChar char="•"/>
            </a:pPr>
            <a:r>
              <a:rPr lang="en-US" sz="1600" b="1" dirty="0"/>
              <a:t>Large variability in SDR across individual sources.</a:t>
            </a:r>
          </a:p>
          <a:p>
            <a:pPr marL="285750" indent="-285750">
              <a:buClr>
                <a:schemeClr val="accent1"/>
              </a:buClr>
              <a:buFont typeface="Arial" panose="020B0604020202020204" pitchFamily="34" charset="0"/>
              <a:buChar char="•"/>
            </a:pPr>
            <a:r>
              <a:rPr lang="en-US" sz="1600" b="1" dirty="0"/>
              <a:t>Both highly successful and unsuccessful separations are observed.</a:t>
            </a:r>
          </a:p>
          <a:p>
            <a:pPr marL="285750" indent="-285750">
              <a:buClr>
                <a:schemeClr val="accent1"/>
              </a:buClr>
              <a:buFont typeface="Arial" panose="020B0604020202020204" pitchFamily="34" charset="0"/>
              <a:buChar char="•"/>
            </a:pPr>
            <a:r>
              <a:rPr lang="en-US" sz="1600" b="1" dirty="0"/>
              <a:t>No consistent  dependence on the acoustic event class was identified. </a:t>
            </a:r>
            <a:endParaRPr lang="el-GR" sz="1600" b="1" dirty="0"/>
          </a:p>
        </p:txBody>
      </p:sp>
    </p:spTree>
    <p:extLst>
      <p:ext uri="{BB962C8B-B14F-4D97-AF65-F5344CB8AC3E}">
        <p14:creationId xmlns:p14="http://schemas.microsoft.com/office/powerpoint/2010/main" val="7786085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4D1DD-8C1E-6D19-87F6-0151B59ED678}"/>
            </a:ext>
          </a:extLst>
        </p:cNvPr>
        <p:cNvGrpSpPr/>
        <p:nvPr/>
      </p:nvGrpSpPr>
      <p:grpSpPr>
        <a:xfrm>
          <a:off x="0" y="0"/>
          <a:ext cx="0" cy="0"/>
          <a:chOff x="0" y="0"/>
          <a:chExt cx="0" cy="0"/>
        </a:xfrm>
      </p:grpSpPr>
      <p:sp>
        <p:nvSpPr>
          <p:cNvPr id="3" name="Ορθογώνιο: Στρογγύλεμα διαγώνιων γωνιών 2">
            <a:extLst>
              <a:ext uri="{FF2B5EF4-FFF2-40B4-BE49-F238E27FC236}">
                <a16:creationId xmlns:a16="http://schemas.microsoft.com/office/drawing/2014/main" id="{690AF0BE-EBD6-6868-5323-EF9638377294}"/>
              </a:ext>
            </a:extLst>
          </p:cNvPr>
          <p:cNvSpPr/>
          <p:nvPr/>
        </p:nvSpPr>
        <p:spPr>
          <a:xfrm>
            <a:off x="325591" y="75435"/>
            <a:ext cx="11196786" cy="707886"/>
          </a:xfrm>
          <a:prstGeom prst="round2Diag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l-GR" sz="3200" b="1" dirty="0"/>
              <a:t>AuxIVA </a:t>
            </a:r>
            <a:r>
              <a:rPr lang="en-US" sz="3200" b="1" dirty="0"/>
              <a:t>Separation Performance</a:t>
            </a:r>
            <a:endParaRPr lang="el-GR" sz="3200" b="1" dirty="0"/>
          </a:p>
        </p:txBody>
      </p:sp>
      <p:sp>
        <p:nvSpPr>
          <p:cNvPr id="19" name="TextBox 18">
            <a:extLst>
              <a:ext uri="{FF2B5EF4-FFF2-40B4-BE49-F238E27FC236}">
                <a16:creationId xmlns:a16="http://schemas.microsoft.com/office/drawing/2014/main" id="{86E7466F-10EE-0AE3-5E7F-E0A555C80D20}"/>
              </a:ext>
            </a:extLst>
          </p:cNvPr>
          <p:cNvSpPr txBox="1"/>
          <p:nvPr/>
        </p:nvSpPr>
        <p:spPr>
          <a:xfrm>
            <a:off x="325591" y="964390"/>
            <a:ext cx="11522377" cy="338554"/>
          </a:xfrm>
          <a:prstGeom prst="rect">
            <a:avLst/>
          </a:prstGeom>
          <a:noFill/>
        </p:spPr>
        <p:txBody>
          <a:bodyPr wrap="square" rtlCol="0">
            <a:spAutoFit/>
          </a:bodyPr>
          <a:lstStyle/>
          <a:p>
            <a:pPr marL="285750" indent="-285750">
              <a:buClr>
                <a:schemeClr val="accent1"/>
              </a:buClr>
              <a:buFont typeface="Wingdings" panose="05000000000000000000" pitchFamily="2" charset="2"/>
              <a:buChar char="Ø"/>
            </a:pPr>
            <a:r>
              <a:rPr lang="en-US" sz="1600" b="1" u="sng" dirty="0"/>
              <a:t>AuxIVA Best vs. Worst Cases</a:t>
            </a:r>
          </a:p>
        </p:txBody>
      </p:sp>
      <p:pic>
        <p:nvPicPr>
          <p:cNvPr id="4" name="Εικόνα 3">
            <a:extLst>
              <a:ext uri="{FF2B5EF4-FFF2-40B4-BE49-F238E27FC236}">
                <a16:creationId xmlns:a16="http://schemas.microsoft.com/office/drawing/2014/main" id="{7CE90C02-7A92-15D2-EFDC-7DFEDE478D15}"/>
              </a:ext>
            </a:extLst>
          </p:cNvPr>
          <p:cNvPicPr>
            <a:picLocks noChangeAspect="1"/>
          </p:cNvPicPr>
          <p:nvPr/>
        </p:nvPicPr>
        <p:blipFill>
          <a:blip r:embed="rId2"/>
          <a:stretch>
            <a:fillRect/>
          </a:stretch>
        </p:blipFill>
        <p:spPr>
          <a:xfrm>
            <a:off x="5039407" y="1533598"/>
            <a:ext cx="3633509" cy="5248967"/>
          </a:xfrm>
          <a:prstGeom prst="rect">
            <a:avLst/>
          </a:prstGeom>
        </p:spPr>
      </p:pic>
      <p:pic>
        <p:nvPicPr>
          <p:cNvPr id="6" name="Εικόνα 5">
            <a:extLst>
              <a:ext uri="{FF2B5EF4-FFF2-40B4-BE49-F238E27FC236}">
                <a16:creationId xmlns:a16="http://schemas.microsoft.com/office/drawing/2014/main" id="{3EE02312-79EA-0FF4-CAB3-236342C60658}"/>
              </a:ext>
            </a:extLst>
          </p:cNvPr>
          <p:cNvPicPr>
            <a:picLocks noChangeAspect="1"/>
          </p:cNvPicPr>
          <p:nvPr/>
        </p:nvPicPr>
        <p:blipFill>
          <a:blip r:embed="rId3"/>
          <a:stretch>
            <a:fillRect/>
          </a:stretch>
        </p:blipFill>
        <p:spPr>
          <a:xfrm>
            <a:off x="9168142" y="1533598"/>
            <a:ext cx="2679826" cy="5248967"/>
          </a:xfrm>
          <a:prstGeom prst="rect">
            <a:avLst/>
          </a:prstGeom>
        </p:spPr>
      </p:pic>
      <p:sp>
        <p:nvSpPr>
          <p:cNvPr id="8" name="TextBox 7">
            <a:extLst>
              <a:ext uri="{FF2B5EF4-FFF2-40B4-BE49-F238E27FC236}">
                <a16:creationId xmlns:a16="http://schemas.microsoft.com/office/drawing/2014/main" id="{590C27FF-17DE-C63B-5C78-DCE8A22FE09E}"/>
              </a:ext>
            </a:extLst>
          </p:cNvPr>
          <p:cNvSpPr txBox="1"/>
          <p:nvPr/>
        </p:nvSpPr>
        <p:spPr>
          <a:xfrm>
            <a:off x="5799499" y="1195044"/>
            <a:ext cx="1810693" cy="338554"/>
          </a:xfrm>
          <a:prstGeom prst="rect">
            <a:avLst/>
          </a:prstGeom>
          <a:noFill/>
        </p:spPr>
        <p:txBody>
          <a:bodyPr wrap="square" rtlCol="0">
            <a:spAutoFit/>
          </a:bodyPr>
          <a:lstStyle/>
          <a:p>
            <a:pPr algn="ctr"/>
            <a:r>
              <a:rPr lang="en-US" sz="1600" b="1" dirty="0"/>
              <a:t>Best Cases</a:t>
            </a:r>
            <a:endParaRPr lang="el-GR" sz="1600" b="1" dirty="0"/>
          </a:p>
        </p:txBody>
      </p:sp>
      <p:sp>
        <p:nvSpPr>
          <p:cNvPr id="10" name="TextBox 9">
            <a:extLst>
              <a:ext uri="{FF2B5EF4-FFF2-40B4-BE49-F238E27FC236}">
                <a16:creationId xmlns:a16="http://schemas.microsoft.com/office/drawing/2014/main" id="{69C69AB0-2040-40AC-2E91-FB4712A0B4CF}"/>
              </a:ext>
            </a:extLst>
          </p:cNvPr>
          <p:cNvSpPr txBox="1"/>
          <p:nvPr/>
        </p:nvSpPr>
        <p:spPr>
          <a:xfrm>
            <a:off x="7432141" y="1195044"/>
            <a:ext cx="6097508" cy="338554"/>
          </a:xfrm>
          <a:prstGeom prst="rect">
            <a:avLst/>
          </a:prstGeom>
          <a:noFill/>
        </p:spPr>
        <p:txBody>
          <a:bodyPr wrap="square">
            <a:spAutoFit/>
          </a:bodyPr>
          <a:lstStyle/>
          <a:p>
            <a:pPr algn="ctr"/>
            <a:r>
              <a:rPr lang="en-US" sz="1600" b="1" dirty="0"/>
              <a:t>Worst Cases</a:t>
            </a:r>
            <a:endParaRPr lang="el-GR" sz="1600" b="1" dirty="0"/>
          </a:p>
        </p:txBody>
      </p:sp>
      <p:pic>
        <p:nvPicPr>
          <p:cNvPr id="13" name="Εικόνα 12">
            <a:extLst>
              <a:ext uri="{FF2B5EF4-FFF2-40B4-BE49-F238E27FC236}">
                <a16:creationId xmlns:a16="http://schemas.microsoft.com/office/drawing/2014/main" id="{5E4E12CF-EBB5-990F-778A-FD2CBE39FD3D}"/>
              </a:ext>
            </a:extLst>
          </p:cNvPr>
          <p:cNvPicPr>
            <a:picLocks noChangeAspect="1"/>
          </p:cNvPicPr>
          <p:nvPr/>
        </p:nvPicPr>
        <p:blipFill>
          <a:blip r:embed="rId4"/>
          <a:stretch>
            <a:fillRect/>
          </a:stretch>
        </p:blipFill>
        <p:spPr>
          <a:xfrm>
            <a:off x="512553" y="4841254"/>
            <a:ext cx="3970846" cy="1182097"/>
          </a:xfrm>
          <a:prstGeom prst="rect">
            <a:avLst/>
          </a:prstGeom>
        </p:spPr>
      </p:pic>
      <p:sp>
        <p:nvSpPr>
          <p:cNvPr id="14" name="TextBox 13">
            <a:extLst>
              <a:ext uri="{FF2B5EF4-FFF2-40B4-BE49-F238E27FC236}">
                <a16:creationId xmlns:a16="http://schemas.microsoft.com/office/drawing/2014/main" id="{0A2154FD-33E3-3A39-6450-20C53A0AB747}"/>
              </a:ext>
            </a:extLst>
          </p:cNvPr>
          <p:cNvSpPr txBox="1"/>
          <p:nvPr/>
        </p:nvSpPr>
        <p:spPr>
          <a:xfrm>
            <a:off x="44487" y="1425697"/>
            <a:ext cx="4906978" cy="3046988"/>
          </a:xfrm>
          <a:prstGeom prst="rect">
            <a:avLst/>
          </a:prstGeom>
          <a:noFill/>
        </p:spPr>
        <p:txBody>
          <a:bodyPr wrap="square" rtlCol="0">
            <a:spAutoFit/>
          </a:bodyPr>
          <a:lstStyle/>
          <a:p>
            <a:pPr marL="285750" indent="-285750">
              <a:buClr>
                <a:schemeClr val="accent1"/>
              </a:buClr>
              <a:buFont typeface="Arial" panose="020B0604020202020204" pitchFamily="34" charset="0"/>
              <a:buChar char="•"/>
            </a:pPr>
            <a:r>
              <a:rPr lang="el-GR" sz="1600" b="1" dirty="0"/>
              <a:t>Best-performing mixtures mostly contain fewer active sources</a:t>
            </a:r>
            <a:r>
              <a:rPr lang="el-GR" sz="1600" dirty="0"/>
              <a:t>, </a:t>
            </a:r>
            <a:r>
              <a:rPr lang="el-GR" sz="1600" b="1" dirty="0"/>
              <a:t>while three-source mixtures are significantly more challenging.</a:t>
            </a:r>
            <a:endParaRPr lang="en-US" sz="1600" b="1" dirty="0"/>
          </a:p>
          <a:p>
            <a:pPr marL="285750" indent="-285750">
              <a:buClr>
                <a:schemeClr val="accent1"/>
              </a:buClr>
              <a:buFont typeface="Arial" panose="020B0604020202020204" pitchFamily="34" charset="0"/>
              <a:buChar char="•"/>
            </a:pPr>
            <a:r>
              <a:rPr lang="en-US" sz="1600" b="1" dirty="0"/>
              <a:t>Average SDR decreases as the number of active sources increases.</a:t>
            </a:r>
          </a:p>
          <a:p>
            <a:pPr marL="285750" indent="-285750">
              <a:buClr>
                <a:schemeClr val="accent1"/>
              </a:buClr>
              <a:buFont typeface="Arial" panose="020B0604020202020204" pitchFamily="34" charset="0"/>
              <a:buChar char="•"/>
            </a:pPr>
            <a:r>
              <a:rPr lang="en-US" sz="1600" b="1" dirty="0"/>
              <a:t>Spatial diversity appears beneficial</a:t>
            </a:r>
            <a:r>
              <a:rPr lang="en-US" sz="1600" dirty="0"/>
              <a:t>, as best-performing mixtures often show different dominant microphone channels for the separated sources. </a:t>
            </a:r>
          </a:p>
          <a:p>
            <a:pPr marL="285750" indent="-285750">
              <a:buClr>
                <a:schemeClr val="accent1"/>
              </a:buClr>
              <a:buFont typeface="Arial" panose="020B0604020202020204" pitchFamily="34" charset="0"/>
              <a:buChar char="•"/>
            </a:pPr>
            <a:r>
              <a:rPr lang="en-US" sz="1600" b="1" dirty="0"/>
              <a:t>No clear dependence on acoustic event class was observed</a:t>
            </a:r>
            <a:r>
              <a:rPr lang="en-US" sz="1600" dirty="0"/>
              <a:t>, suggesting that IVA is influenced by the mixture composition and spatial configuration.</a:t>
            </a:r>
            <a:endParaRPr lang="el-GR" sz="1600" b="1" dirty="0"/>
          </a:p>
        </p:txBody>
      </p:sp>
    </p:spTree>
    <p:extLst>
      <p:ext uri="{BB962C8B-B14F-4D97-AF65-F5344CB8AC3E}">
        <p14:creationId xmlns:p14="http://schemas.microsoft.com/office/powerpoint/2010/main" val="32424791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Ορθογώνιο: Στρογγύλεμα διαγώνιων γωνιών 2">
            <a:extLst>
              <a:ext uri="{FF2B5EF4-FFF2-40B4-BE49-F238E27FC236}">
                <a16:creationId xmlns:a16="http://schemas.microsoft.com/office/drawing/2014/main" id="{0EB0D4B5-AC42-3A7D-AE81-8DBBBDE6C7C4}"/>
              </a:ext>
            </a:extLst>
          </p:cNvPr>
          <p:cNvSpPr/>
          <p:nvPr/>
        </p:nvSpPr>
        <p:spPr>
          <a:xfrm>
            <a:off x="497607" y="123059"/>
            <a:ext cx="11196786" cy="707886"/>
          </a:xfrm>
          <a:prstGeom prst="round2Diag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t>Classification Performance</a:t>
            </a:r>
            <a:endParaRPr lang="el-GR" sz="3200" b="1" dirty="0"/>
          </a:p>
        </p:txBody>
      </p:sp>
      <p:sp>
        <p:nvSpPr>
          <p:cNvPr id="4" name="TextBox 3">
            <a:extLst>
              <a:ext uri="{FF2B5EF4-FFF2-40B4-BE49-F238E27FC236}">
                <a16:creationId xmlns:a16="http://schemas.microsoft.com/office/drawing/2014/main" id="{EB7363A2-7480-A545-AF4D-D5E3317C2151}"/>
              </a:ext>
            </a:extLst>
          </p:cNvPr>
          <p:cNvSpPr txBox="1"/>
          <p:nvPr/>
        </p:nvSpPr>
        <p:spPr>
          <a:xfrm>
            <a:off x="497606" y="1004935"/>
            <a:ext cx="4961633" cy="1477328"/>
          </a:xfrm>
          <a:prstGeom prst="rect">
            <a:avLst/>
          </a:prstGeom>
          <a:noFill/>
        </p:spPr>
        <p:txBody>
          <a:bodyPr wrap="square" rtlCol="0">
            <a:spAutoFit/>
          </a:bodyPr>
          <a:lstStyle/>
          <a:p>
            <a:pPr algn="ctr"/>
            <a:r>
              <a:rPr lang="en-US" b="1" u="sng" dirty="0"/>
              <a:t>Clean target sources</a:t>
            </a:r>
          </a:p>
          <a:p>
            <a:pPr algn="ctr"/>
            <a:endParaRPr lang="en-US" b="1" u="sng" dirty="0"/>
          </a:p>
          <a:p>
            <a:pPr marL="285750" indent="-285750">
              <a:buClr>
                <a:schemeClr val="accent1"/>
              </a:buClr>
              <a:buFont typeface="Arial" panose="020B0604020202020204" pitchFamily="34" charset="0"/>
              <a:buChar char="•"/>
            </a:pPr>
            <a:r>
              <a:rPr lang="en-US" b="1" dirty="0"/>
              <a:t>2136 / 3000 correctly classified</a:t>
            </a:r>
          </a:p>
          <a:p>
            <a:pPr marL="285750" indent="-285750">
              <a:buClr>
                <a:schemeClr val="accent1"/>
              </a:buClr>
              <a:buFont typeface="Arial" panose="020B0604020202020204" pitchFamily="34" charset="0"/>
              <a:buChar char="•"/>
            </a:pPr>
            <a:r>
              <a:rPr lang="en-US" b="1" dirty="0"/>
              <a:t>Accuracy:</a:t>
            </a:r>
            <a:r>
              <a:rPr lang="en-US" dirty="0"/>
              <a:t> </a:t>
            </a:r>
            <a:r>
              <a:rPr lang="en-US" b="1" dirty="0"/>
              <a:t>71.2%</a:t>
            </a:r>
          </a:p>
          <a:p>
            <a:pPr marL="285750" indent="-285750">
              <a:buClr>
                <a:schemeClr val="accent1"/>
              </a:buClr>
              <a:buFont typeface="Arial" panose="020B0604020202020204" pitchFamily="34" charset="0"/>
              <a:buChar char="•"/>
            </a:pPr>
            <a:endParaRPr lang="el-GR" dirty="0"/>
          </a:p>
        </p:txBody>
      </p:sp>
      <p:sp>
        <p:nvSpPr>
          <p:cNvPr id="8" name="TextBox 7">
            <a:extLst>
              <a:ext uri="{FF2B5EF4-FFF2-40B4-BE49-F238E27FC236}">
                <a16:creationId xmlns:a16="http://schemas.microsoft.com/office/drawing/2014/main" id="{DC3DACBC-A97D-4ED4-006B-89449CEB28C1}"/>
              </a:ext>
            </a:extLst>
          </p:cNvPr>
          <p:cNvSpPr txBox="1"/>
          <p:nvPr/>
        </p:nvSpPr>
        <p:spPr>
          <a:xfrm>
            <a:off x="6732760" y="1004935"/>
            <a:ext cx="4961633" cy="1477328"/>
          </a:xfrm>
          <a:prstGeom prst="rect">
            <a:avLst/>
          </a:prstGeom>
          <a:noFill/>
        </p:spPr>
        <p:txBody>
          <a:bodyPr wrap="square" rtlCol="0">
            <a:spAutoFit/>
          </a:bodyPr>
          <a:lstStyle/>
          <a:p>
            <a:pPr algn="ctr"/>
            <a:r>
              <a:rPr lang="en-US" b="1" u="sng" dirty="0"/>
              <a:t>Estimated separated sources (AuxIVA)</a:t>
            </a:r>
          </a:p>
          <a:p>
            <a:pPr algn="ctr"/>
            <a:endParaRPr lang="en-US" b="1" u="sng" dirty="0"/>
          </a:p>
          <a:p>
            <a:pPr marL="285750" indent="-285750">
              <a:buClr>
                <a:schemeClr val="accent1"/>
              </a:buClr>
              <a:buFont typeface="Arial" panose="020B0604020202020204" pitchFamily="34" charset="0"/>
              <a:buChar char="•"/>
            </a:pPr>
            <a:r>
              <a:rPr lang="en-US" b="1" dirty="0"/>
              <a:t>135 / 397 correctly classified</a:t>
            </a:r>
          </a:p>
          <a:p>
            <a:pPr marL="285750" indent="-285750">
              <a:buClr>
                <a:schemeClr val="accent1"/>
              </a:buClr>
              <a:buFont typeface="Arial" panose="020B0604020202020204" pitchFamily="34" charset="0"/>
              <a:buChar char="•"/>
            </a:pPr>
            <a:r>
              <a:rPr lang="en-US" b="1" dirty="0"/>
              <a:t>Accuracy:</a:t>
            </a:r>
            <a:r>
              <a:rPr lang="en-US" dirty="0"/>
              <a:t> </a:t>
            </a:r>
            <a:r>
              <a:rPr lang="en-US" b="1" dirty="0"/>
              <a:t>34.0%</a:t>
            </a:r>
          </a:p>
          <a:p>
            <a:pPr marL="285750" indent="-285750">
              <a:buClr>
                <a:schemeClr val="accent1"/>
              </a:buClr>
              <a:buFont typeface="Arial" panose="020B0604020202020204" pitchFamily="34" charset="0"/>
              <a:buChar char="•"/>
            </a:pPr>
            <a:endParaRPr lang="el-GR" dirty="0"/>
          </a:p>
        </p:txBody>
      </p:sp>
      <p:sp>
        <p:nvSpPr>
          <p:cNvPr id="9" name="TextBox 8">
            <a:extLst>
              <a:ext uri="{FF2B5EF4-FFF2-40B4-BE49-F238E27FC236}">
                <a16:creationId xmlns:a16="http://schemas.microsoft.com/office/drawing/2014/main" id="{CF85D5A3-68EB-3CB2-C69C-EBAB5AB66CF1}"/>
              </a:ext>
            </a:extLst>
          </p:cNvPr>
          <p:cNvSpPr txBox="1"/>
          <p:nvPr/>
        </p:nvSpPr>
        <p:spPr>
          <a:xfrm>
            <a:off x="497606" y="2482263"/>
            <a:ext cx="11051597" cy="1200329"/>
          </a:xfrm>
          <a:prstGeom prst="rect">
            <a:avLst/>
          </a:prstGeom>
          <a:noFill/>
        </p:spPr>
        <p:txBody>
          <a:bodyPr wrap="square" rtlCol="0">
            <a:spAutoFit/>
          </a:bodyPr>
          <a:lstStyle/>
          <a:p>
            <a:pPr marL="285750" indent="-285750">
              <a:buClr>
                <a:schemeClr val="accent1"/>
              </a:buClr>
              <a:buFont typeface="Wingdings" panose="05000000000000000000" pitchFamily="2" charset="2"/>
              <a:buChar char="Ø"/>
            </a:pPr>
            <a:r>
              <a:rPr lang="en-US" b="1" u="sng" dirty="0"/>
              <a:t>Conclusion:</a:t>
            </a:r>
            <a:r>
              <a:rPr lang="en-US" dirty="0"/>
              <a:t> Classification performance strongly depends on the quality of the BSS stage. Although the model learns how to classify clean target sources, the CNN model is strongly affected by residual interference and separation artifacts indicating a huge degradation on the classification performance of the estimated separated signals.  </a:t>
            </a:r>
            <a:endParaRPr lang="el-GR" b="1" u="sng" dirty="0"/>
          </a:p>
        </p:txBody>
      </p:sp>
      <p:pic>
        <p:nvPicPr>
          <p:cNvPr id="12" name="Εικόνα 11">
            <a:extLst>
              <a:ext uri="{FF2B5EF4-FFF2-40B4-BE49-F238E27FC236}">
                <a16:creationId xmlns:a16="http://schemas.microsoft.com/office/drawing/2014/main" id="{B62B79EC-511F-79D9-C265-6A5BBE65F45A}"/>
              </a:ext>
            </a:extLst>
          </p:cNvPr>
          <p:cNvPicPr>
            <a:picLocks noChangeAspect="1"/>
          </p:cNvPicPr>
          <p:nvPr/>
        </p:nvPicPr>
        <p:blipFill>
          <a:blip r:embed="rId2"/>
          <a:stretch>
            <a:fillRect/>
          </a:stretch>
        </p:blipFill>
        <p:spPr>
          <a:xfrm>
            <a:off x="171681" y="4236590"/>
            <a:ext cx="2534969" cy="1648178"/>
          </a:xfrm>
          <a:prstGeom prst="rect">
            <a:avLst/>
          </a:prstGeom>
        </p:spPr>
      </p:pic>
      <p:sp>
        <p:nvSpPr>
          <p:cNvPr id="13" name="Βέλος: Δεξιό 12">
            <a:extLst>
              <a:ext uri="{FF2B5EF4-FFF2-40B4-BE49-F238E27FC236}">
                <a16:creationId xmlns:a16="http://schemas.microsoft.com/office/drawing/2014/main" id="{D0519A63-DE75-08A8-AE0D-52C47B1892CC}"/>
              </a:ext>
            </a:extLst>
          </p:cNvPr>
          <p:cNvSpPr/>
          <p:nvPr/>
        </p:nvSpPr>
        <p:spPr>
          <a:xfrm>
            <a:off x="2833567" y="4986434"/>
            <a:ext cx="416459" cy="13094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a:p>
        </p:txBody>
      </p:sp>
      <p:pic>
        <p:nvPicPr>
          <p:cNvPr id="15" name="Εικόνα 14">
            <a:extLst>
              <a:ext uri="{FF2B5EF4-FFF2-40B4-BE49-F238E27FC236}">
                <a16:creationId xmlns:a16="http://schemas.microsoft.com/office/drawing/2014/main" id="{BF893964-35A3-235A-4AFD-30AE7E4410FA}"/>
              </a:ext>
            </a:extLst>
          </p:cNvPr>
          <p:cNvPicPr>
            <a:picLocks noChangeAspect="1"/>
          </p:cNvPicPr>
          <p:nvPr/>
        </p:nvPicPr>
        <p:blipFill>
          <a:blip r:embed="rId3"/>
          <a:stretch>
            <a:fillRect/>
          </a:stretch>
        </p:blipFill>
        <p:spPr>
          <a:xfrm>
            <a:off x="3376943" y="4261891"/>
            <a:ext cx="2547042" cy="1710973"/>
          </a:xfrm>
          <a:prstGeom prst="rect">
            <a:avLst/>
          </a:prstGeom>
        </p:spPr>
      </p:pic>
      <p:sp>
        <p:nvSpPr>
          <p:cNvPr id="16" name="TextBox 15">
            <a:extLst>
              <a:ext uri="{FF2B5EF4-FFF2-40B4-BE49-F238E27FC236}">
                <a16:creationId xmlns:a16="http://schemas.microsoft.com/office/drawing/2014/main" id="{79D4AC56-4121-2F92-4120-54C247DE5FE0}"/>
              </a:ext>
            </a:extLst>
          </p:cNvPr>
          <p:cNvSpPr txBox="1"/>
          <p:nvPr/>
        </p:nvSpPr>
        <p:spPr>
          <a:xfrm>
            <a:off x="1086415" y="3793402"/>
            <a:ext cx="3902043" cy="369332"/>
          </a:xfrm>
          <a:prstGeom prst="rect">
            <a:avLst/>
          </a:prstGeom>
          <a:noFill/>
        </p:spPr>
        <p:txBody>
          <a:bodyPr wrap="square" rtlCol="0">
            <a:spAutoFit/>
          </a:bodyPr>
          <a:lstStyle/>
          <a:p>
            <a:pPr algn="ctr"/>
            <a:r>
              <a:rPr lang="en-US" b="1" u="sng" dirty="0"/>
              <a:t>Clean Target Source</a:t>
            </a:r>
            <a:endParaRPr lang="el-GR" b="1" u="sng" dirty="0"/>
          </a:p>
        </p:txBody>
      </p:sp>
      <p:cxnSp>
        <p:nvCxnSpPr>
          <p:cNvPr id="17" name="Ευθεία γραμμή σύνδεσης 16">
            <a:extLst>
              <a:ext uri="{FF2B5EF4-FFF2-40B4-BE49-F238E27FC236}">
                <a16:creationId xmlns:a16="http://schemas.microsoft.com/office/drawing/2014/main" id="{976A863C-D357-79B8-D61B-649077C449A9}"/>
              </a:ext>
            </a:extLst>
          </p:cNvPr>
          <p:cNvCxnSpPr>
            <a:cxnSpLocks/>
          </p:cNvCxnSpPr>
          <p:nvPr/>
        </p:nvCxnSpPr>
        <p:spPr>
          <a:xfrm>
            <a:off x="6174463" y="3833194"/>
            <a:ext cx="0" cy="2202176"/>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7DEE92CC-8CEF-67F4-1930-6858ED8E8C68}"/>
              </a:ext>
            </a:extLst>
          </p:cNvPr>
          <p:cNvSpPr txBox="1"/>
          <p:nvPr/>
        </p:nvSpPr>
        <p:spPr>
          <a:xfrm>
            <a:off x="6974185" y="3787575"/>
            <a:ext cx="3902043" cy="369332"/>
          </a:xfrm>
          <a:prstGeom prst="rect">
            <a:avLst/>
          </a:prstGeom>
          <a:noFill/>
        </p:spPr>
        <p:txBody>
          <a:bodyPr wrap="square" rtlCol="0">
            <a:spAutoFit/>
          </a:bodyPr>
          <a:lstStyle/>
          <a:p>
            <a:pPr algn="ctr"/>
            <a:r>
              <a:rPr lang="en-US" b="1" u="sng" dirty="0"/>
              <a:t>AuxIVA Estimated Source</a:t>
            </a:r>
            <a:endParaRPr lang="el-GR" b="1" u="sng" dirty="0"/>
          </a:p>
        </p:txBody>
      </p:sp>
      <p:pic>
        <p:nvPicPr>
          <p:cNvPr id="25" name="Εικόνα 24">
            <a:extLst>
              <a:ext uri="{FF2B5EF4-FFF2-40B4-BE49-F238E27FC236}">
                <a16:creationId xmlns:a16="http://schemas.microsoft.com/office/drawing/2014/main" id="{53DAEB98-A5EA-8256-E26D-D0B0F5091AE7}"/>
              </a:ext>
            </a:extLst>
          </p:cNvPr>
          <p:cNvPicPr>
            <a:picLocks noChangeAspect="1"/>
          </p:cNvPicPr>
          <p:nvPr/>
        </p:nvPicPr>
        <p:blipFill>
          <a:blip r:embed="rId4"/>
          <a:stretch>
            <a:fillRect/>
          </a:stretch>
        </p:blipFill>
        <p:spPr>
          <a:xfrm>
            <a:off x="6452272" y="4236590"/>
            <a:ext cx="2547039" cy="1648613"/>
          </a:xfrm>
          <a:prstGeom prst="rect">
            <a:avLst/>
          </a:prstGeom>
        </p:spPr>
      </p:pic>
      <p:sp>
        <p:nvSpPr>
          <p:cNvPr id="27" name="Βέλος: Δεξιό 26">
            <a:extLst>
              <a:ext uri="{FF2B5EF4-FFF2-40B4-BE49-F238E27FC236}">
                <a16:creationId xmlns:a16="http://schemas.microsoft.com/office/drawing/2014/main" id="{BB4C6FF0-F8B1-4279-7CD0-FF64C15163BA}"/>
              </a:ext>
            </a:extLst>
          </p:cNvPr>
          <p:cNvSpPr/>
          <p:nvPr/>
        </p:nvSpPr>
        <p:spPr>
          <a:xfrm>
            <a:off x="9150203" y="4934282"/>
            <a:ext cx="416459" cy="13094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a:p>
        </p:txBody>
      </p:sp>
      <p:pic>
        <p:nvPicPr>
          <p:cNvPr id="29" name="Εικόνα 28">
            <a:extLst>
              <a:ext uri="{FF2B5EF4-FFF2-40B4-BE49-F238E27FC236}">
                <a16:creationId xmlns:a16="http://schemas.microsoft.com/office/drawing/2014/main" id="{C664A27C-E673-9BE8-A7F1-52955DFD98C0}"/>
              </a:ext>
            </a:extLst>
          </p:cNvPr>
          <p:cNvPicPr>
            <a:picLocks noChangeAspect="1"/>
          </p:cNvPicPr>
          <p:nvPr/>
        </p:nvPicPr>
        <p:blipFill>
          <a:blip r:embed="rId5"/>
          <a:stretch>
            <a:fillRect/>
          </a:stretch>
        </p:blipFill>
        <p:spPr>
          <a:xfrm>
            <a:off x="9717554" y="4236321"/>
            <a:ext cx="2112307" cy="1736543"/>
          </a:xfrm>
          <a:prstGeom prst="rect">
            <a:avLst/>
          </a:prstGeom>
        </p:spPr>
      </p:pic>
      <p:sp>
        <p:nvSpPr>
          <p:cNvPr id="31" name="TextBox 30">
            <a:extLst>
              <a:ext uri="{FF2B5EF4-FFF2-40B4-BE49-F238E27FC236}">
                <a16:creationId xmlns:a16="http://schemas.microsoft.com/office/drawing/2014/main" id="{601BC3EB-0AC6-7772-1FC0-E2B7DC2E1EBA}"/>
              </a:ext>
            </a:extLst>
          </p:cNvPr>
          <p:cNvSpPr txBox="1"/>
          <p:nvPr/>
        </p:nvSpPr>
        <p:spPr>
          <a:xfrm>
            <a:off x="171681" y="6122311"/>
            <a:ext cx="11658170" cy="646331"/>
          </a:xfrm>
          <a:prstGeom prst="rect">
            <a:avLst/>
          </a:prstGeom>
          <a:noFill/>
        </p:spPr>
        <p:txBody>
          <a:bodyPr wrap="square" rtlCol="0">
            <a:spAutoFit/>
          </a:bodyPr>
          <a:lstStyle/>
          <a:p>
            <a:pPr marL="285750" indent="-285750">
              <a:buClr>
                <a:schemeClr val="accent1"/>
              </a:buClr>
              <a:buFont typeface="Wingdings" panose="05000000000000000000" pitchFamily="2" charset="2"/>
              <a:buChar char="Ø"/>
            </a:pPr>
            <a:r>
              <a:rPr lang="en-US" b="1" dirty="0"/>
              <a:t>Separation artifacts and residual interference substantially modify the log-Mel representation of the separated signal provided to the CNN.</a:t>
            </a:r>
            <a:endParaRPr lang="el-GR" b="1" dirty="0"/>
          </a:p>
        </p:txBody>
      </p:sp>
    </p:spTree>
    <p:extLst>
      <p:ext uri="{BB962C8B-B14F-4D97-AF65-F5344CB8AC3E}">
        <p14:creationId xmlns:p14="http://schemas.microsoft.com/office/powerpoint/2010/main" val="9675130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1DF243-EFC5-52D9-F35B-8C211442423B}"/>
            </a:ext>
          </a:extLst>
        </p:cNvPr>
        <p:cNvGrpSpPr/>
        <p:nvPr/>
      </p:nvGrpSpPr>
      <p:grpSpPr>
        <a:xfrm>
          <a:off x="0" y="0"/>
          <a:ext cx="0" cy="0"/>
          <a:chOff x="0" y="0"/>
          <a:chExt cx="0" cy="0"/>
        </a:xfrm>
      </p:grpSpPr>
      <p:sp>
        <p:nvSpPr>
          <p:cNvPr id="11" name="Ορθογώνιο: Στρογγύλεμα διαγώνιων γωνιών 10">
            <a:extLst>
              <a:ext uri="{FF2B5EF4-FFF2-40B4-BE49-F238E27FC236}">
                <a16:creationId xmlns:a16="http://schemas.microsoft.com/office/drawing/2014/main" id="{0025E3F6-90F5-17C0-93E1-098A0C27CFCA}"/>
              </a:ext>
            </a:extLst>
          </p:cNvPr>
          <p:cNvSpPr/>
          <p:nvPr/>
        </p:nvSpPr>
        <p:spPr>
          <a:xfrm>
            <a:off x="500719" y="134735"/>
            <a:ext cx="11196786" cy="707886"/>
          </a:xfrm>
          <a:prstGeom prst="round2Diag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t>Complete Processing Pipeline in Practice</a:t>
            </a:r>
            <a:endParaRPr lang="el-GR" sz="3200" b="1" dirty="0"/>
          </a:p>
        </p:txBody>
      </p:sp>
      <p:pic>
        <p:nvPicPr>
          <p:cNvPr id="31" name="Εικόνα 30">
            <a:extLst>
              <a:ext uri="{FF2B5EF4-FFF2-40B4-BE49-F238E27FC236}">
                <a16:creationId xmlns:a16="http://schemas.microsoft.com/office/drawing/2014/main" id="{2D4C5E11-6E86-D8A4-1F80-867E0FCB203F}"/>
              </a:ext>
            </a:extLst>
          </p:cNvPr>
          <p:cNvPicPr>
            <a:picLocks noChangeAspect="1"/>
          </p:cNvPicPr>
          <p:nvPr/>
        </p:nvPicPr>
        <p:blipFill>
          <a:blip r:embed="rId2"/>
          <a:stretch>
            <a:fillRect/>
          </a:stretch>
        </p:blipFill>
        <p:spPr>
          <a:xfrm>
            <a:off x="135802" y="1723653"/>
            <a:ext cx="11340974" cy="4392128"/>
          </a:xfrm>
          <a:prstGeom prst="rect">
            <a:avLst/>
          </a:prstGeom>
        </p:spPr>
      </p:pic>
    </p:spTree>
    <p:extLst>
      <p:ext uri="{BB962C8B-B14F-4D97-AF65-F5344CB8AC3E}">
        <p14:creationId xmlns:p14="http://schemas.microsoft.com/office/powerpoint/2010/main" val="41229098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54FB3B8-8C0C-AB70-0BFA-11965982C241}"/>
              </a:ext>
            </a:extLst>
          </p:cNvPr>
          <p:cNvSpPr txBox="1"/>
          <p:nvPr/>
        </p:nvSpPr>
        <p:spPr>
          <a:xfrm>
            <a:off x="500719" y="1561899"/>
            <a:ext cx="11385264" cy="3970318"/>
          </a:xfrm>
          <a:prstGeom prst="rect">
            <a:avLst/>
          </a:prstGeom>
          <a:noFill/>
        </p:spPr>
        <p:txBody>
          <a:bodyPr wrap="square">
            <a:spAutoFit/>
          </a:bodyPr>
          <a:lstStyle/>
          <a:p>
            <a:pPr marL="342900" indent="-342900">
              <a:buClr>
                <a:schemeClr val="accent1">
                  <a:lumMod val="75000"/>
                </a:schemeClr>
              </a:buClr>
              <a:buFont typeface="Arial" panose="020B0604020202020204" pitchFamily="34" charset="0"/>
              <a:buChar char="•"/>
            </a:pPr>
            <a:r>
              <a:rPr lang="en-US" b="1" dirty="0"/>
              <a:t>An integrated framework was developed for multichannel acoustic scene analysis</a:t>
            </a:r>
            <a:r>
              <a:rPr lang="en-US" dirty="0"/>
              <a:t>, combining source separation, acoustic event classification, and source localization.</a:t>
            </a:r>
          </a:p>
          <a:p>
            <a:pPr>
              <a:buClr>
                <a:schemeClr val="accent1">
                  <a:lumMod val="75000"/>
                </a:schemeClr>
              </a:buClr>
            </a:pPr>
            <a:endParaRPr lang="en-US" dirty="0"/>
          </a:p>
          <a:p>
            <a:pPr marL="342900" indent="-342900">
              <a:buClr>
                <a:schemeClr val="accent1">
                  <a:lumMod val="75000"/>
                </a:schemeClr>
              </a:buClr>
              <a:buFont typeface="Arial" panose="020B0604020202020204" pitchFamily="34" charset="0"/>
              <a:buChar char="•"/>
            </a:pPr>
            <a:r>
              <a:rPr lang="en-US" b="1" dirty="0"/>
              <a:t>AuxIVA achieved a mean SDR of -0.79 dB across the evaluated sources, while exhibiting substantial variability in separation performance, with both highly successful and unsuccessful cases observed.</a:t>
            </a:r>
          </a:p>
          <a:p>
            <a:pPr>
              <a:buClr>
                <a:schemeClr val="accent1">
                  <a:lumMod val="75000"/>
                </a:schemeClr>
              </a:buClr>
            </a:pPr>
            <a:endParaRPr lang="el-GR" b="1" dirty="0"/>
          </a:p>
          <a:p>
            <a:pPr marL="342900" indent="-342900">
              <a:buClr>
                <a:schemeClr val="accent1">
                  <a:lumMod val="75000"/>
                </a:schemeClr>
              </a:buClr>
              <a:buFont typeface="Arial" panose="020B0604020202020204" pitchFamily="34" charset="0"/>
              <a:buChar char="•"/>
            </a:pPr>
            <a:r>
              <a:rPr lang="en-US" b="1" dirty="0"/>
              <a:t>Better separation was associated with fewer simultaneously active sources and stronger spatial differentiation between them.</a:t>
            </a:r>
          </a:p>
          <a:p>
            <a:pPr>
              <a:buClr>
                <a:schemeClr val="accent1">
                  <a:lumMod val="75000"/>
                </a:schemeClr>
              </a:buClr>
            </a:pPr>
            <a:endParaRPr lang="en-US" b="1" dirty="0"/>
          </a:p>
          <a:p>
            <a:pPr marL="342900" indent="-342900">
              <a:buClr>
                <a:schemeClr val="accent1">
                  <a:lumMod val="75000"/>
                </a:schemeClr>
              </a:buClr>
              <a:buFont typeface="Arial" panose="020B0604020202020204" pitchFamily="34" charset="0"/>
              <a:buChar char="•"/>
            </a:pPr>
            <a:r>
              <a:rPr lang="en-US" sz="1800" b="1" dirty="0"/>
              <a:t>Separation quality strongly affected the </a:t>
            </a:r>
            <a:r>
              <a:rPr lang="en-US" b="1" dirty="0"/>
              <a:t>classification performance</a:t>
            </a:r>
            <a:r>
              <a:rPr lang="en-US" dirty="0"/>
              <a:t>, with the CNN achieving </a:t>
            </a:r>
            <a:r>
              <a:rPr lang="en-US" b="1" dirty="0"/>
              <a:t>71.2% accuracy on clean sources</a:t>
            </a:r>
            <a:r>
              <a:rPr lang="en-US" dirty="0"/>
              <a:t> but only </a:t>
            </a:r>
            <a:r>
              <a:rPr lang="en-US" b="1" dirty="0"/>
              <a:t>34.0% accuracy on estimated separated sources</a:t>
            </a:r>
            <a:r>
              <a:rPr lang="en-US" dirty="0"/>
              <a:t>.</a:t>
            </a:r>
          </a:p>
          <a:p>
            <a:pPr>
              <a:buClr>
                <a:schemeClr val="accent1">
                  <a:lumMod val="75000"/>
                </a:schemeClr>
              </a:buClr>
            </a:pPr>
            <a:endParaRPr lang="en-US" dirty="0"/>
          </a:p>
          <a:p>
            <a:pPr marL="342900" indent="-342900">
              <a:buClr>
                <a:schemeClr val="accent1">
                  <a:lumMod val="75000"/>
                </a:schemeClr>
              </a:buClr>
              <a:buFont typeface="Arial" panose="020B0604020202020204" pitchFamily="34" charset="0"/>
              <a:buChar char="•"/>
            </a:pPr>
            <a:r>
              <a:rPr lang="en-US" sz="1800" b="1" dirty="0"/>
              <a:t>The overall results highlight the strong interdependence of the three stages</a:t>
            </a:r>
            <a:r>
              <a:rPr lang="en-US" sz="1800" dirty="0"/>
              <a:t>, since BSS constitutes a critical preprocessing step for classification and localization.</a:t>
            </a:r>
            <a:endParaRPr lang="el-GR" sz="1800" dirty="0"/>
          </a:p>
        </p:txBody>
      </p:sp>
      <p:sp>
        <p:nvSpPr>
          <p:cNvPr id="11" name="Ορθογώνιο: Στρογγύλεμα διαγώνιων γωνιών 10">
            <a:extLst>
              <a:ext uri="{FF2B5EF4-FFF2-40B4-BE49-F238E27FC236}">
                <a16:creationId xmlns:a16="http://schemas.microsoft.com/office/drawing/2014/main" id="{864ECADC-9E6E-E1FD-E285-3A15175CBB62}"/>
              </a:ext>
            </a:extLst>
          </p:cNvPr>
          <p:cNvSpPr/>
          <p:nvPr/>
        </p:nvSpPr>
        <p:spPr>
          <a:xfrm>
            <a:off x="500719" y="134735"/>
            <a:ext cx="11196786" cy="707886"/>
          </a:xfrm>
          <a:prstGeom prst="round2Diag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t>Conclusions</a:t>
            </a:r>
            <a:endParaRPr lang="el-GR" sz="3200" b="1" dirty="0"/>
          </a:p>
        </p:txBody>
      </p:sp>
    </p:spTree>
    <p:extLst>
      <p:ext uri="{BB962C8B-B14F-4D97-AF65-F5344CB8AC3E}">
        <p14:creationId xmlns:p14="http://schemas.microsoft.com/office/powerpoint/2010/main" val="24377618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4A0CE1-2D43-F196-5538-B323A9ECD6F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E5ECA5D-F721-688B-A0B3-14F269B00C7A}"/>
              </a:ext>
            </a:extLst>
          </p:cNvPr>
          <p:cNvSpPr txBox="1"/>
          <p:nvPr/>
        </p:nvSpPr>
        <p:spPr>
          <a:xfrm>
            <a:off x="500719" y="1561899"/>
            <a:ext cx="11385264" cy="2585323"/>
          </a:xfrm>
          <a:prstGeom prst="rect">
            <a:avLst/>
          </a:prstGeom>
          <a:noFill/>
        </p:spPr>
        <p:txBody>
          <a:bodyPr wrap="square">
            <a:spAutoFit/>
          </a:bodyPr>
          <a:lstStyle/>
          <a:p>
            <a:pPr marL="342900" indent="-342900">
              <a:buClr>
                <a:schemeClr val="accent1">
                  <a:lumMod val="75000"/>
                </a:schemeClr>
              </a:buClr>
              <a:buFont typeface="Arial" panose="020B0604020202020204" pitchFamily="34" charset="0"/>
              <a:buChar char="•"/>
            </a:pPr>
            <a:r>
              <a:rPr lang="en-US" b="1" dirty="0"/>
              <a:t>Validation of AuxIVA on additional benchmark datasets</a:t>
            </a:r>
            <a:r>
              <a:rPr lang="en-US" dirty="0"/>
              <a:t>, to assess how strongly the complexity of the acoustic scene affects separation performance.</a:t>
            </a:r>
          </a:p>
          <a:p>
            <a:pPr>
              <a:buClr>
                <a:schemeClr val="accent1">
                  <a:lumMod val="75000"/>
                </a:schemeClr>
              </a:buClr>
            </a:pPr>
            <a:endParaRPr lang="en-US" dirty="0"/>
          </a:p>
          <a:p>
            <a:pPr marL="342900" indent="-342900">
              <a:buClr>
                <a:schemeClr val="accent1">
                  <a:lumMod val="75000"/>
                </a:schemeClr>
              </a:buClr>
              <a:buFont typeface="Arial" panose="020B0604020202020204" pitchFamily="34" charset="0"/>
              <a:buChar char="•"/>
            </a:pPr>
            <a:r>
              <a:rPr lang="en-US" b="1" dirty="0"/>
              <a:t>Integration of IVA with deep-learning approaches. </a:t>
            </a:r>
          </a:p>
          <a:p>
            <a:pPr>
              <a:buClr>
                <a:schemeClr val="accent1">
                  <a:lumMod val="75000"/>
                </a:schemeClr>
              </a:buClr>
            </a:pPr>
            <a:endParaRPr lang="el-GR" b="1" dirty="0"/>
          </a:p>
          <a:p>
            <a:pPr marL="342900" indent="-342900">
              <a:buClr>
                <a:schemeClr val="accent1">
                  <a:lumMod val="75000"/>
                </a:schemeClr>
              </a:buClr>
              <a:buFont typeface="Arial" panose="020B0604020202020204" pitchFamily="34" charset="0"/>
              <a:buChar char="•"/>
            </a:pPr>
            <a:r>
              <a:rPr lang="en-US" b="1" dirty="0"/>
              <a:t>Source localization evaluation </a:t>
            </a:r>
            <a:r>
              <a:rPr lang="en-US" dirty="0"/>
              <a:t>using datasets with known ground truth DOAs.</a:t>
            </a:r>
          </a:p>
          <a:p>
            <a:pPr>
              <a:buClr>
                <a:schemeClr val="accent1">
                  <a:lumMod val="75000"/>
                </a:schemeClr>
              </a:buClr>
            </a:pPr>
            <a:endParaRPr lang="en-US" dirty="0"/>
          </a:p>
          <a:p>
            <a:pPr marL="342900" indent="-342900">
              <a:buClr>
                <a:schemeClr val="accent1">
                  <a:lumMod val="75000"/>
                </a:schemeClr>
              </a:buClr>
              <a:buFont typeface="Arial" panose="020B0604020202020204" pitchFamily="34" charset="0"/>
              <a:buChar char="•"/>
            </a:pPr>
            <a:r>
              <a:rPr lang="en-US" b="1" dirty="0"/>
              <a:t>Improvement of the AEC stage </a:t>
            </a:r>
            <a:r>
              <a:rPr lang="en-US" dirty="0"/>
              <a:t>by training the classifier with separated/noisy signals that better match the actual test conditions.</a:t>
            </a:r>
            <a:endParaRPr lang="el-GR" sz="1800" dirty="0"/>
          </a:p>
        </p:txBody>
      </p:sp>
      <p:sp>
        <p:nvSpPr>
          <p:cNvPr id="11" name="Ορθογώνιο: Στρογγύλεμα διαγώνιων γωνιών 10">
            <a:extLst>
              <a:ext uri="{FF2B5EF4-FFF2-40B4-BE49-F238E27FC236}">
                <a16:creationId xmlns:a16="http://schemas.microsoft.com/office/drawing/2014/main" id="{78A60375-CB06-F4E1-FBD4-071B4682D48A}"/>
              </a:ext>
            </a:extLst>
          </p:cNvPr>
          <p:cNvSpPr/>
          <p:nvPr/>
        </p:nvSpPr>
        <p:spPr>
          <a:xfrm>
            <a:off x="500719" y="134735"/>
            <a:ext cx="11196786" cy="707886"/>
          </a:xfrm>
          <a:prstGeom prst="round2DiagRect">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b="1" dirty="0"/>
              <a:t>Future Work</a:t>
            </a:r>
            <a:endParaRPr lang="el-GR" sz="3200" b="1" dirty="0"/>
          </a:p>
        </p:txBody>
      </p:sp>
    </p:spTree>
    <p:extLst>
      <p:ext uri="{BB962C8B-B14F-4D97-AF65-F5344CB8AC3E}">
        <p14:creationId xmlns:p14="http://schemas.microsoft.com/office/powerpoint/2010/main" val="712548180"/>
      </p:ext>
    </p:extLst>
  </p:cSld>
  <p:clrMapOvr>
    <a:masterClrMapping/>
  </p:clrMapOvr>
</p:sld>
</file>

<file path=ppt/theme/theme1.xml><?xml version="1.0" encoding="utf-8"?>
<a:theme xmlns:a="http://schemas.openxmlformats.org/drawingml/2006/main" name="Θέμα του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1440</TotalTime>
  <Words>1912</Words>
  <Application>Microsoft Office PowerPoint</Application>
  <PresentationFormat>Ευρεία οθόνη</PresentationFormat>
  <Paragraphs>251</Paragraphs>
  <Slides>20</Slides>
  <Notes>0</Notes>
  <HiddenSlides>0</HiddenSlides>
  <MMClips>0</MMClips>
  <ScaleCrop>false</ScaleCrop>
  <HeadingPairs>
    <vt:vector size="6" baseType="variant">
      <vt:variant>
        <vt:lpstr>Γραμματοσειρές που χρησιμοποιούνται</vt:lpstr>
      </vt:variant>
      <vt:variant>
        <vt:i4>8</vt:i4>
      </vt:variant>
      <vt:variant>
        <vt:lpstr>Θέμα</vt:lpstr>
      </vt:variant>
      <vt:variant>
        <vt:i4>1</vt:i4>
      </vt:variant>
      <vt:variant>
        <vt:lpstr>Τίτλοι διαφανειών</vt:lpstr>
      </vt:variant>
      <vt:variant>
        <vt:i4>20</vt:i4>
      </vt:variant>
    </vt:vector>
  </HeadingPairs>
  <TitlesOfParts>
    <vt:vector size="29" baseType="lpstr">
      <vt:lpstr>Aptos</vt:lpstr>
      <vt:lpstr>Aptos Display</vt:lpstr>
      <vt:lpstr>Arial</vt:lpstr>
      <vt:lpstr>Calibri</vt:lpstr>
      <vt:lpstr>Cambria</vt:lpstr>
      <vt:lpstr>Cambria Math</vt:lpstr>
      <vt:lpstr>Times New Roman</vt:lpstr>
      <vt:lpstr>Wingdings</vt:lpstr>
      <vt:lpstr>Θέμα του Office</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MOIROTSOS GEORGIOS</dc:creator>
  <cp:lastModifiedBy>MOIROTSOS GEORGIOS</cp:lastModifiedBy>
  <cp:revision>4</cp:revision>
  <dcterms:created xsi:type="dcterms:W3CDTF">2026-09-23T10:03:58Z</dcterms:created>
  <dcterms:modified xsi:type="dcterms:W3CDTF">2026-09-24T20:15:21Z</dcterms:modified>
</cp:coreProperties>
</file>